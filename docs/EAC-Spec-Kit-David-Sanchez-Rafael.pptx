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 0:45]
Buenos días. Soy David Sánchez Rafael y les voy a presentar Enterprise Access Control, el proyecto que desarrollé para el curso AI Spec Driven Net10, y que hoy está cerrado.
Es una plataforma que decide quién puede entrar físicamente a qué área de una operación minera, en qué horario y con qué credencial. Pero lo interesante no es solo el sistema, sino cómo se construyó: con Spec-Driven Development y el Spec Kit de GitHub, es decir, escribiendo primero la especificación y después el código.
Las cifras lo resumen: diez historias de usuario, ochenta y tres requisitos funcionales, trescientas doce tareas trazadas y más de mil doscientas pruebas automatizadas en verde.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 1:15]
Empiezo por el problema. En minería conviven dos tipos de compañías: las Principales, que son las dueñas de la operación, y las Contratistas, que les prestan servicios.
Tomemos a Pedro García. Su empleador es Servicios ACME, una contratista, pero trabaja al mismo tiempo para Minera ABC y para Minera XYZ. Cada Principal controla su propio acceso: tiene sus unidades organizativas, sus áreas, sus permisos, la credencial que le entrega a Pedro e incluso su propia zona horaria. Nada de eso se puede mezclar entre Principales.
Sobre este modelo se aplican tres reglas que atraviesan todo el sistema. Primero, denegación por defecto: todo se valida en el servidor y, si no hay una respuesta clara, no se entra. Segundo, revocación en cascada: si Pedro deja de pertenecer a ACME, caen automáticamente sus contextos, unidades y credenciales. Y tercero, históricos íntegros: todas las vigencias se guardan en UTC, sin solapamientos y nunca se reescriben.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se trabajó: Spec Kit · 1:30]
¿Cómo se trabajó? Con los siete comandos de Spec Kit. Cada uno deja un artefacto versionado que alimenta al siguiente.
Con constitution fijé siete principios que no se negocian, como la seguridad en el servidor, el uso de UTC o las pruebas obligatorias. Con specify escribí el qué y el porqué: diez historias, ochenta y tres requisitos y cuarenta y siete criterios de éxito. Con clarify resolví las ambigüedades: hubo diecisiete sesiones, y cada respuesta quedó escrita en la propia especificación. Con plan definí el cómo: treinta y seis decisiones técnicas, un modelo de veintidós entidades y diez contratos OpenAPI. Con tasks lo descompuse todo en tareas, cada una con su archivo, su dependencia y el requisito que cubre.
Y aquí está la pieza que más valoro: analyze. Antes de escribir código, cruza la especificación, el plan y las tareas con la constitución y detecta contradicciones. Si encuentra algo, se corrige y se vuelve a analizar; en el cambio VF-004 hicieron falta tres pasadas. Solo entonces implement construye y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[Fases realizadas · 1:30]
Eso se tradujo en cuatro fases. Primero, la definición: constitución, especificación y las sesiones de clarificación, que cambiaron el modelo antes de programarlo. Segundo, el diseño técnico. Tercero, el Baseline de la Etapa 1, de la tarea T001 a la T242: la implementación de las historias, el cierre de nueve decisiones de negocio y la corrección de cinco desviaciones. Y cuarto, la validación funcional posterior al Baseline, de la T243 a la T312.
La barra está dibujada a escala. Y fíjense en algo: el Baseline no se reescribió. Cada corrección posterior entró como un bloque de tareas nuevo, a continuación del anterior.
Esa validación produjo once hallazgos, y los once están cerrados. Cada uno siguió su propio flujo: se analizó, se clasificó como defecto, como cambio de requisito o como comportamiento correcto, se corrigió cuando hacía falta, se validó y se cerró.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[Trabajo con IA · 1:15]
Como este es un curso de desarrollo guiado por IA, quiero mostrar cómo nos repartimos el trabajo el agente y yo. Hay dos carriles.
En el mío están las decisiones: defino el objetivo y el alcance, elijo entre las opciones que me presenta el agente, apruebo qué se corrige y, al final, valido manualmente la interfaz y autorizo la integración.
En el carril del agente, Claude Code, está la ejecución: analiza el código real, propone opciones con una recomendación, documenta, implementa, prueba y me reporta la evidencia. No toma decisiones de negocio por su cuenta y nunca hizo un commit ni un push sin mi autorización.
Por eso cada entrega termina igual: validación manual, commit, pull request, merge y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[Funcionalidades · 0:45]
¿Y qué hace el sistema? Son diez historias de usuario: el inicio de sesión con alcance por compañía; las compañías, sus relaciones y el árbol organizativo; los datos maestros; las personas y sus históricos con revocación automática; el árbol de áreas; los perfiles por área; los permisos con vigencia y bloques horarios; la credencial o fotocheck por Principal; y la auditoría automática. Las consultas transversales de auditoría y el dashboard quedaron deliberadamente fuera del alcance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[Motor de evaluación de acceso · 1:30]
La funcionalidad central responde una sola pregunta: ¿puede esta persona entrar a esta área en este momento?
El motor recorre estas puertas en orden. Comprueba que quien consulta tenga alcance; que la Principal esté activa; que la persona tenga un contexto operativo legítimo; que su credencial esté vigente; que el área esté activa y que su perfil esté autorizado; que exista un permiso aplicable, que esté vigente y que la hora caiga dentro de un bloque horario.
Cada puerta que falla devuelve un motivo explícito, como SIN_CREDENCIAL_VIGENTE o FUERA_DE_BLOQUE_HORARIO, y eso permite explicar y auditar cualquier denegación. Si aplican varios permisos, gana el más específico: persona, luego unidad y luego compañía.
El resultado por defecto es siempre DENEGADO. Y un detalle que costó trabajo: el horario se evalúa en la zona horaria de la Principal dueña del área, no en la del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[Arquitectura y calidad · 1:10]
Por dentro, la solución sigue una arquitectura en capas. Una SPA en React y TypeScript se comunica con una API en ASP.NET Core sobre .NET 10. Debajo están los casos de uso; un dominio puro, que es donde vive el motor de evaluación; y la infraestructura, con Entity Framework Core, SQL Server y NodaTime para las zonas horarias.
El séptimo principio de la constitución dice que las pruebas son obligatorias, y el gráfico lo muestra a escala: 593 pruebas de integración contra un SQL Server real, 252 de contrato, 203 de interfaz con Vitest, 155 unitarias y 9 de extremo a extremo con Playwright. En total, mil doscientas doce, todas en verde.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 GitHub: trazabilidad · 0:50]
También quise que el repositorio contara la historia del proyecto. Todo pasó por ramas y pull requests.
Primero se implementó el Baseline y entró en main con el PR número uno; después se cerró documentalmente con el PR dos; luego se completó el README y se corrigió la configuración del frontend, en los PR tres y cuatro.
Finalmente, la validación funcional post-Baseline se trabajó en una rama propia, con los once hallazgos, y se consolidó en el commit 244fa09. Ese commit se llevó al PR número cinco y se fusionó en main con el merge 6a72260. Por último, el registro del cierre entró con el PR número seis.
Cualquiera puede comprobar en GitHub cada uno de estos pasos.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proyecto · 1:00]
¿Dónde está hoy el proyecto? Cerrado.
El Baseline de la Etapa 1 está cerrado, y la validación funcional post-Baseline también. Los once hallazgos se implementaron o se confirmaron, se probaron y se validaron manualmente en la interfaz, así que el cierre no se apoya solo en las pruebas automatizadas.
El trabajo se integró en main mediante el PR número cinco, y el cierre quedó registrado en la documentación del repositorio con el PR número seis. Lo que no se construyó, como las consultas transversales o el dashboard, está declarado explícitamente como fuera del alcance. El proyecto queda cerrado, con su trazabilidad técnica y documental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[Conclusión: lo aprendido · 1:20]
Para cerrar, lo que aprendí.
La especificación es el contrato: con requisitos numerados, la IA implementa contra algo verificable y no contra una suposición. Clarificar ahorra código, porque corregir el modelo cuando todavía es texto es mucho más barato. La constitución protege: seguridad, UTC y pruebas se respetaron en cada fase. Analizar antes de implementar detecta contradicciones a tiempo. La trazabilidad permite ir de un requisito a sus tareas, a sus pruebas y a su commit. Y las pruebas negativas demuestran que cada prueba detecta de verdad el fallo que dice cubrir.
El recorrido completo es este: de los requisitos a la especificación, las decisiones y las tareas; de ahí a la implementación, las pruebas y la validación funcional y manual; y finalmente el commit, el pull request y el merge a main, hasta cerrar el proyecto.
Spec Kit convirtió el trabajo con IA en un proceso de ingeniería trazable: primero el acuerdo escrito, después el código, luego la evidencia y, finalmente, una integración controlada en Git. Muchas gracias; quedo atento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38912" cy="274320"/>
          </a:xfrm>
          <a:prstGeom prst="rect">
            <a:avLst/>
          </a:prstGeom>
          <a:solidFill>
            <a:srgbClr val="F2B233"/>
          </a:solidFill>
          <a:ln/>
        </p:spPr>
      </p:sp>
      <p:sp>
        <p:nvSpPr>
          <p:cNvPr id="3" name="Text 1"/>
          <p:cNvSpPr/>
          <p:nvPr/>
        </p:nvSpPr>
        <p:spPr>
          <a:xfrm>
            <a:off x="548640" y="329184"/>
            <a:ext cx="438912" cy="274320"/>
          </a:xfrm>
          <a:prstGeom prst="rect">
            <a:avLst/>
          </a:prstGeom>
          <a:noFill/>
          <a:ln/>
        </p:spPr>
        <p:txBody>
          <a:bodyPr wrap="square" lIns="0" tIns="0" rIns="0" bIns="0" rtlCol="0" anchor="ctr"/>
          <a:lstStyle/>
          <a:p>
            <a:pPr algn="ctr" indent="0" marL="0">
              <a:buNone/>
            </a:pPr>
            <a:r>
              <a:rPr lang="en-US" sz="1100" b="1" dirty="0">
                <a:solidFill>
                  <a:srgbClr val="13232B"/>
                </a:solidFill>
                <a:latin typeface="Consolas" pitchFamily="34" charset="0"/>
                <a:ea typeface="Consolas" pitchFamily="34" charset="-122"/>
                <a:cs typeface="Consolas" pitchFamily="34" charset="-120"/>
              </a:rPr>
              <a:t>01</a:t>
            </a:r>
            <a:endParaRPr lang="en-US" sz="1100" dirty="0"/>
          </a:p>
        </p:txBody>
      </p:sp>
      <p:sp>
        <p:nvSpPr>
          <p:cNvPr id="4" name="Text 2"/>
          <p:cNvSpPr/>
          <p:nvPr/>
        </p:nvSpPr>
        <p:spPr>
          <a:xfrm>
            <a:off x="1115568" y="329184"/>
            <a:ext cx="5486400" cy="274320"/>
          </a:xfrm>
          <a:prstGeom prst="rect">
            <a:avLst/>
          </a:prstGeom>
          <a:noFill/>
          <a:ln/>
        </p:spPr>
        <p:txBody>
          <a:bodyPr wrap="square" lIns="0" tIns="0" rIns="0" bIns="0" rtlCol="0" anchor="ctr"/>
          <a:lstStyle/>
          <a:p>
            <a:pPr indent="0" marL="0">
              <a:buNone/>
            </a:pPr>
            <a:r>
              <a:rPr lang="en-US" sz="1050" b="1" spc="150" kern="0" dirty="0">
                <a:solidFill>
                  <a:srgbClr val="13232B"/>
                </a:solidFill>
                <a:latin typeface="Consolas" pitchFamily="34" charset="0"/>
                <a:ea typeface="Consolas" pitchFamily="34" charset="-122"/>
                <a:cs typeface="Consolas" pitchFamily="34" charset="-120"/>
              </a:rPr>
              <a:t>PROYECTO FINAL</a:t>
            </a:r>
            <a:endParaRPr lang="en-US" sz="1050" dirty="0"/>
          </a:p>
        </p:txBody>
      </p:sp>
      <p:sp>
        <p:nvSpPr>
          <p:cNvPr id="5" name="Text 3"/>
          <p:cNvSpPr/>
          <p:nvPr/>
        </p:nvSpPr>
        <p:spPr>
          <a:xfrm>
            <a:off x="6156655" y="329184"/>
            <a:ext cx="5486400" cy="274320"/>
          </a:xfrm>
          <a:prstGeom prst="rect">
            <a:avLst/>
          </a:prstGeom>
          <a:noFill/>
          <a:ln/>
        </p:spPr>
        <p:txBody>
          <a:bodyPr wrap="square" lIns="0" tIns="0" rIns="0" bIns="0" rtlCol="0" anchor="ctr"/>
          <a:lstStyle/>
          <a:p>
            <a:pPr algn="r" indent="0" marL="0">
              <a:buNone/>
            </a:pPr>
            <a:r>
              <a:rPr lang="en-US" sz="950" spc="150" kern="0" dirty="0">
                <a:solidFill>
                  <a:srgbClr val="56676F"/>
                </a:solidFill>
                <a:latin typeface="Consolas" pitchFamily="34" charset="0"/>
                <a:ea typeface="Consolas" pitchFamily="34" charset="-122"/>
                <a:cs typeface="Consolas" pitchFamily="34" charset="-120"/>
              </a:rPr>
              <a:t>AI SPEC DRIVEN NET10</a:t>
            </a:r>
            <a:endParaRPr lang="en-US" sz="950" dirty="0"/>
          </a:p>
        </p:txBody>
      </p:sp>
      <p:sp>
        <p:nvSpPr>
          <p:cNvPr id="6" name="Text 4"/>
          <p:cNvSpPr/>
          <p:nvPr/>
        </p:nvSpPr>
        <p:spPr>
          <a:xfrm>
            <a:off x="548640" y="6446520"/>
            <a:ext cx="8229600" cy="22860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David Sánchez Rafael</a:t>
            </a:r>
            <a:endParaRPr lang="en-US" sz="850" dirty="0"/>
          </a:p>
        </p:txBody>
      </p:sp>
      <p:sp>
        <p:nvSpPr>
          <p:cNvPr id="7" name="Text 5"/>
          <p:cNvSpPr/>
          <p:nvPr/>
        </p:nvSpPr>
        <p:spPr>
          <a:xfrm>
            <a:off x="9814255" y="6446520"/>
            <a:ext cx="1828800" cy="228600"/>
          </a:xfrm>
          <a:prstGeom prst="rect">
            <a:avLst/>
          </a:prstGeom>
          <a:noFill/>
          <a:ln/>
        </p:spPr>
        <p:txBody>
          <a:bodyPr wrap="square" lIns="0" tIns="0" rIns="0" bIns="0" rtlCol="0" anchor="t"/>
          <a:lstStyle/>
          <a:p>
            <a:pPr algn="r" indent="0" marL="0">
              <a:buNone/>
            </a:pPr>
            <a:r>
              <a:rPr lang="en-US" sz="850" dirty="0">
                <a:solidFill>
                  <a:srgbClr val="56676F"/>
                </a:solidFill>
                <a:latin typeface="Consolas" pitchFamily="34" charset="0"/>
                <a:ea typeface="Consolas" pitchFamily="34" charset="-122"/>
                <a:cs typeface="Consolas" pitchFamily="34" charset="-120"/>
              </a:rPr>
              <a:t>01 / 11</a:t>
            </a:r>
            <a:endParaRPr lang="en-US" sz="850" dirty="0"/>
          </a:p>
        </p:txBody>
      </p:sp>
      <p:sp>
        <p:nvSpPr>
          <p:cNvPr id="9" name="Text 6"/>
          <p:cNvSpPr/>
          <p:nvPr/>
        </p:nvSpPr>
        <p:spPr>
          <a:xfrm>
            <a:off x="548640" y="1234440"/>
            <a:ext cx="640080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SPEC-DRIVEN DEVELOPMENT CON SPEC KIT DE GITHUB</a:t>
            </a:r>
            <a:endParaRPr lang="en-US" sz="900" dirty="0"/>
          </a:p>
        </p:txBody>
      </p:sp>
      <p:sp>
        <p:nvSpPr>
          <p:cNvPr id="10" name="Text 7"/>
          <p:cNvSpPr/>
          <p:nvPr/>
        </p:nvSpPr>
        <p:spPr>
          <a:xfrm>
            <a:off x="548640" y="1508760"/>
            <a:ext cx="6949440" cy="1783080"/>
          </a:xfrm>
          <a:prstGeom prst="rect">
            <a:avLst/>
          </a:prstGeom>
          <a:noFill/>
          <a:ln/>
        </p:spPr>
        <p:txBody>
          <a:bodyPr wrap="square" lIns="0" tIns="0" rIns="0" bIns="0" rtlCol="0" anchor="ctr"/>
          <a:lstStyle/>
          <a:p>
            <a:pPr indent="0" marL="0">
              <a:lnSpc>
                <a:spcPct val="85000"/>
              </a:lnSpc>
              <a:buNone/>
            </a:pPr>
            <a:r>
              <a:rPr lang="en-US" sz="6200" b="1" dirty="0">
                <a:solidFill>
                  <a:srgbClr val="13232B"/>
                </a:solidFill>
                <a:latin typeface="Bahnschrift" pitchFamily="34" charset="0"/>
                <a:ea typeface="Bahnschrift" pitchFamily="34" charset="-122"/>
                <a:cs typeface="Bahnschrift" pitchFamily="34" charset="-120"/>
              </a:rPr>
              <a:t>Enterprise</a:t>
            </a:r>
            <a:endParaRPr lang="en-US" sz="6200" dirty="0"/>
          </a:p>
          <a:p>
            <a:pPr indent="0" marL="0">
              <a:lnSpc>
                <a:spcPct val="85000"/>
              </a:lnSpc>
              <a:buNone/>
            </a:pPr>
            <a:r>
              <a:rPr lang="en-US" sz="6200" b="1" dirty="0">
                <a:solidFill>
                  <a:srgbClr val="1D6B73"/>
                </a:solidFill>
                <a:latin typeface="Bahnschrift" pitchFamily="34" charset="0"/>
                <a:ea typeface="Bahnschrift" pitchFamily="34" charset="-122"/>
                <a:cs typeface="Bahnschrift" pitchFamily="34" charset="-120"/>
              </a:rPr>
              <a:t>Access Control</a:t>
            </a:r>
            <a:endParaRPr lang="en-US" sz="6200" dirty="0"/>
          </a:p>
        </p:txBody>
      </p:sp>
      <p:sp>
        <p:nvSpPr>
          <p:cNvPr id="11" name="Text 8"/>
          <p:cNvSpPr/>
          <p:nvPr/>
        </p:nvSpPr>
        <p:spPr>
          <a:xfrm>
            <a:off x="548640" y="3429000"/>
            <a:ext cx="6766560" cy="914400"/>
          </a:xfrm>
          <a:prstGeom prst="rect">
            <a:avLst/>
          </a:prstGeom>
          <a:noFill/>
          <a:ln/>
        </p:spPr>
        <p:txBody>
          <a:bodyPr wrap="square" lIns="0" tIns="0" rIns="0" bIns="0" rtlCol="0" anchor="t"/>
          <a:lstStyle/>
          <a:p>
            <a:pPr indent="0" marL="0">
              <a:buNone/>
            </a:pPr>
            <a:r>
              <a:rPr lang="en-US" sz="1500" dirty="0">
                <a:solidFill>
                  <a:srgbClr val="56676F"/>
                </a:solidFill>
                <a:latin typeface="Segoe UI" pitchFamily="34" charset="0"/>
                <a:ea typeface="Segoe UI" pitchFamily="34" charset="-122"/>
                <a:cs typeface="Segoe UI" pitchFamily="34" charset="-120"/>
              </a:rPr>
              <a:t>Plataforma que decide quién puede entrar físicamente a qué área de una operación minera, en qué horario y con qué credencial, construida fase a fase a partir de una especificación.</a:t>
            </a:r>
            <a:endParaRPr lang="en-US" sz="1500" dirty="0"/>
          </a:p>
        </p:txBody>
      </p:sp>
      <p:sp>
        <p:nvSpPr>
          <p:cNvPr id="12" name="Shape 9"/>
          <p:cNvSpPr/>
          <p:nvPr/>
        </p:nvSpPr>
        <p:spPr>
          <a:xfrm>
            <a:off x="548640" y="4754880"/>
            <a:ext cx="1554480" cy="45720"/>
          </a:xfrm>
          <a:prstGeom prst="rect">
            <a:avLst/>
          </a:prstGeom>
          <a:solidFill>
            <a:srgbClr val="F2B233"/>
          </a:solidFill>
          <a:ln/>
        </p:spPr>
      </p:sp>
      <p:sp>
        <p:nvSpPr>
          <p:cNvPr id="13" name="Text 10"/>
          <p:cNvSpPr/>
          <p:nvPr/>
        </p:nvSpPr>
        <p:spPr>
          <a:xfrm>
            <a:off x="548640" y="4846320"/>
            <a:ext cx="1554480" cy="548640"/>
          </a:xfrm>
          <a:prstGeom prst="rect">
            <a:avLst/>
          </a:prstGeom>
          <a:noFill/>
          <a:ln/>
        </p:spPr>
        <p:txBody>
          <a:bodyPr wrap="square" lIns="0" tIns="0" rIns="0" bIns="0" rtlCol="0" anchor="ctr"/>
          <a:lstStyle/>
          <a:p>
            <a:pPr indent="0" marL="0">
              <a:buNone/>
            </a:pPr>
            <a:r>
              <a:rPr lang="en-US" sz="3000" b="1" dirty="0">
                <a:solidFill>
                  <a:srgbClr val="13232B"/>
                </a:solidFill>
                <a:latin typeface="Bahnschrift" pitchFamily="34" charset="0"/>
                <a:ea typeface="Bahnschrift" pitchFamily="34" charset="-122"/>
                <a:cs typeface="Bahnschrift" pitchFamily="34" charset="-120"/>
              </a:rPr>
              <a:t>10</a:t>
            </a:r>
            <a:endParaRPr lang="en-US" sz="3000" dirty="0"/>
          </a:p>
        </p:txBody>
      </p:sp>
      <p:sp>
        <p:nvSpPr>
          <p:cNvPr id="14" name="Text 11"/>
          <p:cNvSpPr/>
          <p:nvPr/>
        </p:nvSpPr>
        <p:spPr>
          <a:xfrm>
            <a:off x="548640" y="5394960"/>
            <a:ext cx="1554480" cy="457200"/>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historias de usuario</a:t>
            </a:r>
            <a:endParaRPr lang="en-US" sz="1050" dirty="0"/>
          </a:p>
        </p:txBody>
      </p:sp>
      <p:sp>
        <p:nvSpPr>
          <p:cNvPr id="15" name="Shape 12"/>
          <p:cNvSpPr/>
          <p:nvPr/>
        </p:nvSpPr>
        <p:spPr>
          <a:xfrm>
            <a:off x="2286000" y="4754880"/>
            <a:ext cx="1554480" cy="45720"/>
          </a:xfrm>
          <a:prstGeom prst="rect">
            <a:avLst/>
          </a:prstGeom>
          <a:solidFill>
            <a:srgbClr val="F2B233"/>
          </a:solidFill>
          <a:ln/>
        </p:spPr>
      </p:sp>
      <p:sp>
        <p:nvSpPr>
          <p:cNvPr id="16" name="Text 13"/>
          <p:cNvSpPr/>
          <p:nvPr/>
        </p:nvSpPr>
        <p:spPr>
          <a:xfrm>
            <a:off x="2286000" y="4846320"/>
            <a:ext cx="1554480" cy="548640"/>
          </a:xfrm>
          <a:prstGeom prst="rect">
            <a:avLst/>
          </a:prstGeom>
          <a:noFill/>
          <a:ln/>
        </p:spPr>
        <p:txBody>
          <a:bodyPr wrap="square" lIns="0" tIns="0" rIns="0" bIns="0" rtlCol="0" anchor="ctr"/>
          <a:lstStyle/>
          <a:p>
            <a:pPr indent="0" marL="0">
              <a:buNone/>
            </a:pPr>
            <a:r>
              <a:rPr lang="en-US" sz="3000" b="1" dirty="0">
                <a:solidFill>
                  <a:srgbClr val="13232B"/>
                </a:solidFill>
                <a:latin typeface="Bahnschrift" pitchFamily="34" charset="0"/>
                <a:ea typeface="Bahnschrift" pitchFamily="34" charset="-122"/>
                <a:cs typeface="Bahnschrift" pitchFamily="34" charset="-120"/>
              </a:rPr>
              <a:t>83</a:t>
            </a:r>
            <a:endParaRPr lang="en-US" sz="3000" dirty="0"/>
          </a:p>
        </p:txBody>
      </p:sp>
      <p:sp>
        <p:nvSpPr>
          <p:cNvPr id="17" name="Text 14"/>
          <p:cNvSpPr/>
          <p:nvPr/>
        </p:nvSpPr>
        <p:spPr>
          <a:xfrm>
            <a:off x="2286000" y="5394960"/>
            <a:ext cx="1554480" cy="457200"/>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requisitos funcionales</a:t>
            </a:r>
            <a:endParaRPr lang="en-US" sz="1050" dirty="0"/>
          </a:p>
        </p:txBody>
      </p:sp>
      <p:sp>
        <p:nvSpPr>
          <p:cNvPr id="18" name="Shape 15"/>
          <p:cNvSpPr/>
          <p:nvPr/>
        </p:nvSpPr>
        <p:spPr>
          <a:xfrm>
            <a:off x="4023360" y="4754880"/>
            <a:ext cx="1554480" cy="45720"/>
          </a:xfrm>
          <a:prstGeom prst="rect">
            <a:avLst/>
          </a:prstGeom>
          <a:solidFill>
            <a:srgbClr val="F2B233"/>
          </a:solidFill>
          <a:ln/>
        </p:spPr>
      </p:sp>
      <p:sp>
        <p:nvSpPr>
          <p:cNvPr id="19" name="Text 16"/>
          <p:cNvSpPr/>
          <p:nvPr/>
        </p:nvSpPr>
        <p:spPr>
          <a:xfrm>
            <a:off x="4023360" y="4846320"/>
            <a:ext cx="1554480" cy="548640"/>
          </a:xfrm>
          <a:prstGeom prst="rect">
            <a:avLst/>
          </a:prstGeom>
          <a:noFill/>
          <a:ln/>
        </p:spPr>
        <p:txBody>
          <a:bodyPr wrap="square" lIns="0" tIns="0" rIns="0" bIns="0" rtlCol="0" anchor="ctr"/>
          <a:lstStyle/>
          <a:p>
            <a:pPr indent="0" marL="0">
              <a:buNone/>
            </a:pPr>
            <a:r>
              <a:rPr lang="en-US" sz="3000" b="1" dirty="0">
                <a:solidFill>
                  <a:srgbClr val="13232B"/>
                </a:solidFill>
                <a:latin typeface="Bahnschrift" pitchFamily="34" charset="0"/>
                <a:ea typeface="Bahnschrift" pitchFamily="34" charset="-122"/>
                <a:cs typeface="Bahnschrift" pitchFamily="34" charset="-120"/>
              </a:rPr>
              <a:t>312</a:t>
            </a:r>
            <a:endParaRPr lang="en-US" sz="3000" dirty="0"/>
          </a:p>
        </p:txBody>
      </p:sp>
      <p:sp>
        <p:nvSpPr>
          <p:cNvPr id="20" name="Text 17"/>
          <p:cNvSpPr/>
          <p:nvPr/>
        </p:nvSpPr>
        <p:spPr>
          <a:xfrm>
            <a:off x="4023360" y="5394960"/>
            <a:ext cx="1554480" cy="457200"/>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tareas trazadas</a:t>
            </a:r>
            <a:endParaRPr lang="en-US" sz="1050" dirty="0"/>
          </a:p>
        </p:txBody>
      </p:sp>
      <p:sp>
        <p:nvSpPr>
          <p:cNvPr id="21" name="Shape 18"/>
          <p:cNvSpPr/>
          <p:nvPr/>
        </p:nvSpPr>
        <p:spPr>
          <a:xfrm>
            <a:off x="5760720" y="4754880"/>
            <a:ext cx="1554480" cy="45720"/>
          </a:xfrm>
          <a:prstGeom prst="rect">
            <a:avLst/>
          </a:prstGeom>
          <a:solidFill>
            <a:srgbClr val="F2B233"/>
          </a:solidFill>
          <a:ln/>
        </p:spPr>
      </p:sp>
      <p:sp>
        <p:nvSpPr>
          <p:cNvPr id="22" name="Text 19"/>
          <p:cNvSpPr/>
          <p:nvPr/>
        </p:nvSpPr>
        <p:spPr>
          <a:xfrm>
            <a:off x="5760720" y="4846320"/>
            <a:ext cx="1554480" cy="548640"/>
          </a:xfrm>
          <a:prstGeom prst="rect">
            <a:avLst/>
          </a:prstGeom>
          <a:noFill/>
          <a:ln/>
        </p:spPr>
        <p:txBody>
          <a:bodyPr wrap="square" lIns="0" tIns="0" rIns="0" bIns="0" rtlCol="0" anchor="ctr"/>
          <a:lstStyle/>
          <a:p>
            <a:pPr indent="0" marL="0">
              <a:buNone/>
            </a:pPr>
            <a:r>
              <a:rPr lang="en-US" sz="3000" b="1" dirty="0">
                <a:solidFill>
                  <a:srgbClr val="13232B"/>
                </a:solidFill>
                <a:latin typeface="Bahnschrift" pitchFamily="34" charset="0"/>
                <a:ea typeface="Bahnschrift" pitchFamily="34" charset="-122"/>
                <a:cs typeface="Bahnschrift" pitchFamily="34" charset="-120"/>
              </a:rPr>
              <a:t>1 212</a:t>
            </a:r>
            <a:endParaRPr lang="en-US" sz="3000" dirty="0"/>
          </a:p>
        </p:txBody>
      </p:sp>
      <p:sp>
        <p:nvSpPr>
          <p:cNvPr id="23" name="Text 20"/>
          <p:cNvSpPr/>
          <p:nvPr/>
        </p:nvSpPr>
        <p:spPr>
          <a:xfrm>
            <a:off x="5760720" y="5394960"/>
            <a:ext cx="1554480" cy="457200"/>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pruebas automatizadas en verde</a:t>
            </a:r>
            <a:endParaRPr lang="en-US" sz="1050" dirty="0"/>
          </a:p>
        </p:txBody>
      </p:sp>
      <p:sp>
        <p:nvSpPr>
          <p:cNvPr id="24" name="Shape 21"/>
          <p:cNvSpPr/>
          <p:nvPr/>
        </p:nvSpPr>
        <p:spPr>
          <a:xfrm>
            <a:off x="8001000" y="1143000"/>
            <a:ext cx="3611880" cy="4663440"/>
          </a:xfrm>
          <a:prstGeom prst="roundRect">
            <a:avLst>
              <a:gd name="adj" fmla="val 4557"/>
            </a:avLst>
          </a:prstGeom>
          <a:solidFill>
            <a:srgbClr val="F4F7F8"/>
          </a:solidFill>
          <a:ln w="12700">
            <a:solidFill>
              <a:srgbClr val="C8D3D8"/>
            </a:solidFill>
            <a:prstDash val="solid"/>
          </a:ln>
          <a:effectLst>
            <a:outerShdw sx="100000" sy="100000" kx="0" ky="0" algn="bl" rotWithShape="0" blurRad="152400" dist="50800" dir="5400000">
              <a:srgbClr val="13232B">
                <a:alpha val="18000"/>
              </a:srgbClr>
            </a:outerShdw>
          </a:effectLst>
        </p:spPr>
      </p:sp>
      <p:sp>
        <p:nvSpPr>
          <p:cNvPr id="25" name="Shape 22"/>
          <p:cNvSpPr/>
          <p:nvPr/>
        </p:nvSpPr>
        <p:spPr>
          <a:xfrm>
            <a:off x="8001000" y="1143000"/>
            <a:ext cx="3611880" cy="914400"/>
          </a:xfrm>
          <a:prstGeom prst="roundRect">
            <a:avLst>
              <a:gd name="adj" fmla="val 18000"/>
            </a:avLst>
          </a:prstGeom>
          <a:solidFill>
            <a:srgbClr val="1D6B73"/>
          </a:solidFill>
          <a:ln/>
        </p:spPr>
      </p:sp>
      <p:sp>
        <p:nvSpPr>
          <p:cNvPr id="26" name="Shape 23"/>
          <p:cNvSpPr/>
          <p:nvPr/>
        </p:nvSpPr>
        <p:spPr>
          <a:xfrm>
            <a:off x="8001000" y="1691640"/>
            <a:ext cx="3611880" cy="365760"/>
          </a:xfrm>
          <a:prstGeom prst="rect">
            <a:avLst/>
          </a:prstGeom>
          <a:solidFill>
            <a:srgbClr val="1D6B73"/>
          </a:solidFill>
          <a:ln/>
        </p:spPr>
      </p:sp>
      <p:sp>
        <p:nvSpPr>
          <p:cNvPr id="27" name="Shape 24"/>
          <p:cNvSpPr/>
          <p:nvPr/>
        </p:nvSpPr>
        <p:spPr>
          <a:xfrm>
            <a:off x="9395460" y="1271016"/>
            <a:ext cx="822960" cy="128016"/>
          </a:xfrm>
          <a:prstGeom prst="roundRect">
            <a:avLst>
              <a:gd name="adj" fmla="val 50000"/>
            </a:avLst>
          </a:prstGeom>
          <a:solidFill>
            <a:srgbClr val="E9EEF1"/>
          </a:solidFill>
          <a:ln w="9525">
            <a:solidFill>
              <a:srgbClr val="C8D3D8"/>
            </a:solidFill>
            <a:prstDash val="solid"/>
          </a:ln>
        </p:spPr>
      </p:sp>
      <p:sp>
        <p:nvSpPr>
          <p:cNvPr id="28" name="Text 25"/>
          <p:cNvSpPr/>
          <p:nvPr/>
        </p:nvSpPr>
        <p:spPr>
          <a:xfrm>
            <a:off x="8229600" y="1618488"/>
            <a:ext cx="2011680" cy="365760"/>
          </a:xfrm>
          <a:prstGeom prst="rect">
            <a:avLst/>
          </a:prstGeom>
          <a:noFill/>
          <a:ln/>
        </p:spPr>
        <p:txBody>
          <a:bodyPr wrap="square" lIns="0" tIns="0" rIns="0" bIns="0" rtlCol="0" anchor="b"/>
          <a:lstStyle/>
          <a:p>
            <a:pPr indent="0" marL="0">
              <a:buNone/>
            </a:pPr>
            <a:r>
              <a:rPr lang="en-US" sz="1700" b="1" spc="200" kern="0" dirty="0">
                <a:solidFill>
                  <a:srgbClr val="FFFFFF"/>
                </a:solidFill>
                <a:latin typeface="Bahnschrift" pitchFamily="34" charset="0"/>
                <a:ea typeface="Bahnschrift" pitchFamily="34" charset="-122"/>
                <a:cs typeface="Bahnschrift" pitchFamily="34" charset="-120"/>
              </a:rPr>
              <a:t>FOTOCHECK</a:t>
            </a:r>
            <a:endParaRPr lang="en-US" sz="1700" dirty="0"/>
          </a:p>
        </p:txBody>
      </p:sp>
      <p:sp>
        <p:nvSpPr>
          <p:cNvPr id="29" name="Text 26"/>
          <p:cNvSpPr/>
          <p:nvPr/>
        </p:nvSpPr>
        <p:spPr>
          <a:xfrm>
            <a:off x="10195560" y="1618488"/>
            <a:ext cx="1188720" cy="365760"/>
          </a:xfrm>
          <a:prstGeom prst="rect">
            <a:avLst/>
          </a:prstGeom>
          <a:noFill/>
          <a:ln/>
        </p:spPr>
        <p:txBody>
          <a:bodyPr wrap="square" lIns="0" tIns="0" rIns="0" bIns="0" rtlCol="0" anchor="b"/>
          <a:lstStyle/>
          <a:p>
            <a:pPr algn="r" indent="0" marL="0">
              <a:buNone/>
            </a:pPr>
            <a:r>
              <a:rPr lang="en-US" sz="950" dirty="0">
                <a:solidFill>
                  <a:srgbClr val="FFFFFF"/>
                </a:solidFill>
                <a:latin typeface="Consolas" pitchFamily="34" charset="0"/>
                <a:ea typeface="Consolas" pitchFamily="34" charset="-122"/>
                <a:cs typeface="Consolas" pitchFamily="34" charset="-120"/>
              </a:rPr>
              <a:t>EAC · 2026</a:t>
            </a:r>
            <a:endParaRPr lang="en-US" sz="950" dirty="0"/>
          </a:p>
        </p:txBody>
      </p:sp>
      <p:sp>
        <p:nvSpPr>
          <p:cNvPr id="30" name="Shape 27"/>
          <p:cNvSpPr/>
          <p:nvPr/>
        </p:nvSpPr>
        <p:spPr>
          <a:xfrm>
            <a:off x="8229600" y="2286000"/>
            <a:ext cx="658368" cy="658368"/>
          </a:xfrm>
          <a:prstGeom prst="rect">
            <a:avLst/>
          </a:prstGeom>
          <a:solidFill>
            <a:srgbClr val="F2B233"/>
          </a:solidFill>
          <a:ln/>
        </p:spPr>
      </p:sp>
      <p:sp>
        <p:nvSpPr>
          <p:cNvPr id="31" name="Text 28"/>
          <p:cNvSpPr/>
          <p:nvPr/>
        </p:nvSpPr>
        <p:spPr>
          <a:xfrm>
            <a:off x="8229600" y="2286000"/>
            <a:ext cx="658368" cy="658368"/>
          </a:xfrm>
          <a:prstGeom prst="rect">
            <a:avLst/>
          </a:prstGeom>
          <a:noFill/>
          <a:ln/>
        </p:spPr>
        <p:txBody>
          <a:bodyPr wrap="square" lIns="0" tIns="0" rIns="0" bIns="0" rtlCol="0" anchor="ctr"/>
          <a:lstStyle/>
          <a:p>
            <a:pPr algn="ctr" indent="0" marL="0">
              <a:buNone/>
            </a:pPr>
            <a:r>
              <a:rPr lang="en-US" sz="2400" b="1" dirty="0">
                <a:solidFill>
                  <a:srgbClr val="13232B"/>
                </a:solidFill>
                <a:latin typeface="Bahnschrift" pitchFamily="34" charset="0"/>
                <a:ea typeface="Bahnschrift" pitchFamily="34" charset="-122"/>
                <a:cs typeface="Bahnschrift" pitchFamily="34" charset="-120"/>
              </a:rPr>
              <a:t>DS</a:t>
            </a:r>
            <a:endParaRPr lang="en-US" sz="2400" dirty="0"/>
          </a:p>
        </p:txBody>
      </p:sp>
      <p:sp>
        <p:nvSpPr>
          <p:cNvPr id="32" name="Text 29"/>
          <p:cNvSpPr/>
          <p:nvPr/>
        </p:nvSpPr>
        <p:spPr>
          <a:xfrm>
            <a:off x="9025128" y="2304288"/>
            <a:ext cx="237744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ALUMNO</a:t>
            </a:r>
            <a:endParaRPr lang="en-US" sz="900" dirty="0"/>
          </a:p>
        </p:txBody>
      </p:sp>
      <p:sp>
        <p:nvSpPr>
          <p:cNvPr id="33" name="Text 30"/>
          <p:cNvSpPr/>
          <p:nvPr/>
        </p:nvSpPr>
        <p:spPr>
          <a:xfrm>
            <a:off x="9025128" y="2514600"/>
            <a:ext cx="2514600" cy="457200"/>
          </a:xfrm>
          <a:prstGeom prst="rect">
            <a:avLst/>
          </a:prstGeom>
          <a:noFill/>
          <a:ln/>
        </p:spPr>
        <p:txBody>
          <a:bodyPr wrap="square" lIns="0" tIns="0" rIns="0" bIns="0" rtlCol="0" anchor="ctr"/>
          <a:lstStyle/>
          <a:p>
            <a:pPr indent="0" marL="0">
              <a:buNone/>
            </a:pPr>
            <a:r>
              <a:rPr lang="en-US" sz="1900" b="1" dirty="0">
                <a:solidFill>
                  <a:srgbClr val="13232B"/>
                </a:solidFill>
                <a:latin typeface="Bahnschrift" pitchFamily="34" charset="0"/>
                <a:ea typeface="Bahnschrift" pitchFamily="34" charset="-122"/>
                <a:cs typeface="Bahnschrift" pitchFamily="34" charset="-120"/>
              </a:rPr>
              <a:t>David Sánchez Rafael</a:t>
            </a:r>
            <a:endParaRPr lang="en-US" sz="1900" dirty="0"/>
          </a:p>
        </p:txBody>
      </p:sp>
      <p:sp>
        <p:nvSpPr>
          <p:cNvPr id="34" name="Text 31"/>
          <p:cNvSpPr/>
          <p:nvPr/>
        </p:nvSpPr>
        <p:spPr>
          <a:xfrm>
            <a:off x="8229600" y="3200400"/>
            <a:ext cx="310896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CURSO</a:t>
            </a:r>
            <a:endParaRPr lang="en-US" sz="900" dirty="0"/>
          </a:p>
        </p:txBody>
      </p:sp>
      <p:sp>
        <p:nvSpPr>
          <p:cNvPr id="35" name="Text 32"/>
          <p:cNvSpPr/>
          <p:nvPr/>
        </p:nvSpPr>
        <p:spPr>
          <a:xfrm>
            <a:off x="8229600" y="3419856"/>
            <a:ext cx="3200400" cy="384048"/>
          </a:xfrm>
          <a:prstGeom prst="rect">
            <a:avLst/>
          </a:prstGeom>
          <a:noFill/>
          <a:ln/>
        </p:spPr>
        <p:txBody>
          <a:bodyPr wrap="square" lIns="0" tIns="0" rIns="0" bIns="0" rtlCol="0" anchor="t"/>
          <a:lstStyle/>
          <a:p>
            <a:pPr indent="0" marL="0">
              <a:buNone/>
            </a:pPr>
            <a:r>
              <a:rPr lang="en-US" sz="1200" b="1" dirty="0">
                <a:solidFill>
                  <a:srgbClr val="13232B"/>
                </a:solidFill>
                <a:latin typeface="Segoe UI" pitchFamily="34" charset="0"/>
                <a:ea typeface="Segoe UI" pitchFamily="34" charset="-122"/>
                <a:cs typeface="Segoe UI" pitchFamily="34" charset="-120"/>
              </a:rPr>
              <a:t>AI Spec Driven Net10</a:t>
            </a:r>
            <a:endParaRPr lang="en-US" sz="1200" dirty="0"/>
          </a:p>
        </p:txBody>
      </p:sp>
      <p:sp>
        <p:nvSpPr>
          <p:cNvPr id="36" name="Text 33"/>
          <p:cNvSpPr/>
          <p:nvPr/>
        </p:nvSpPr>
        <p:spPr>
          <a:xfrm>
            <a:off x="8229600" y="3858768"/>
            <a:ext cx="310896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STACK</a:t>
            </a:r>
            <a:endParaRPr lang="en-US" sz="900" dirty="0"/>
          </a:p>
        </p:txBody>
      </p:sp>
      <p:sp>
        <p:nvSpPr>
          <p:cNvPr id="37" name="Text 34"/>
          <p:cNvSpPr/>
          <p:nvPr/>
        </p:nvSpPr>
        <p:spPr>
          <a:xfrm>
            <a:off x="8229600" y="4078224"/>
            <a:ext cx="3200400" cy="384048"/>
          </a:xfrm>
          <a:prstGeom prst="rect">
            <a:avLst/>
          </a:prstGeom>
          <a:noFill/>
          <a:ln/>
        </p:spPr>
        <p:txBody>
          <a:bodyPr wrap="square" lIns="0" tIns="0" rIns="0" bIns="0" rtlCol="0" anchor="t"/>
          <a:lstStyle/>
          <a:p>
            <a:pPr indent="0" marL="0">
              <a:buNone/>
            </a:pPr>
            <a:r>
              <a:rPr lang="en-US" sz="1200" b="1" dirty="0">
                <a:solidFill>
                  <a:srgbClr val="13232B"/>
                </a:solidFill>
                <a:latin typeface="Segoe UI" pitchFamily="34" charset="0"/>
                <a:ea typeface="Segoe UI" pitchFamily="34" charset="-122"/>
                <a:cs typeface="Segoe UI" pitchFamily="34" charset="-120"/>
              </a:rPr>
              <a:t>.NET 10 · React · SQL Server</a:t>
            </a:r>
            <a:endParaRPr lang="en-US" sz="1200" dirty="0"/>
          </a:p>
        </p:txBody>
      </p:sp>
      <p:sp>
        <p:nvSpPr>
          <p:cNvPr id="38" name="Text 35"/>
          <p:cNvSpPr/>
          <p:nvPr/>
        </p:nvSpPr>
        <p:spPr>
          <a:xfrm>
            <a:off x="8229600" y="4517136"/>
            <a:ext cx="310896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ESTADO</a:t>
            </a:r>
            <a:endParaRPr lang="en-US" sz="900" dirty="0"/>
          </a:p>
        </p:txBody>
      </p:sp>
      <p:sp>
        <p:nvSpPr>
          <p:cNvPr id="39" name="Text 36"/>
          <p:cNvSpPr/>
          <p:nvPr/>
        </p:nvSpPr>
        <p:spPr>
          <a:xfrm>
            <a:off x="8229600" y="4736592"/>
            <a:ext cx="3200400" cy="384048"/>
          </a:xfrm>
          <a:prstGeom prst="rect">
            <a:avLst/>
          </a:prstGeom>
          <a:noFill/>
          <a:ln/>
        </p:spPr>
        <p:txBody>
          <a:bodyPr wrap="square" lIns="0" tIns="0" rIns="0" bIns="0" rtlCol="0" anchor="t"/>
          <a:lstStyle/>
          <a:p>
            <a:pPr indent="0" marL="0">
              <a:buNone/>
            </a:pPr>
            <a:r>
              <a:rPr lang="en-US" sz="1200" b="1" dirty="0">
                <a:solidFill>
                  <a:srgbClr val="13232B"/>
                </a:solidFill>
                <a:latin typeface="Segoe UI" pitchFamily="34" charset="0"/>
                <a:ea typeface="Segoe UI" pitchFamily="34" charset="-122"/>
                <a:cs typeface="Segoe UI" pitchFamily="34" charset="-120"/>
              </a:rPr>
              <a:t>PROYECTO CERRADO · Baseline + validación post-Baseline</a:t>
            </a:r>
            <a:endParaRPr lang="en-US" sz="1200" dirty="0"/>
          </a:p>
        </p:txBody>
      </p:sp>
      <p:sp>
        <p:nvSpPr>
          <p:cNvPr id="40" name="Shape 37"/>
          <p:cNvSpPr/>
          <p:nvPr/>
        </p:nvSpPr>
        <p:spPr>
          <a:xfrm>
            <a:off x="8229600" y="5303520"/>
            <a:ext cx="27432" cy="292608"/>
          </a:xfrm>
          <a:prstGeom prst="rect">
            <a:avLst/>
          </a:prstGeom>
          <a:solidFill>
            <a:srgbClr val="13232B"/>
          </a:solidFill>
          <a:ln/>
        </p:spPr>
      </p:sp>
      <p:sp>
        <p:nvSpPr>
          <p:cNvPr id="41" name="Shape 38"/>
          <p:cNvSpPr/>
          <p:nvPr/>
        </p:nvSpPr>
        <p:spPr>
          <a:xfrm>
            <a:off x="8284464" y="5303520"/>
            <a:ext cx="13716" cy="292608"/>
          </a:xfrm>
          <a:prstGeom prst="rect">
            <a:avLst/>
          </a:prstGeom>
          <a:solidFill>
            <a:srgbClr val="13232B"/>
          </a:solidFill>
          <a:ln/>
        </p:spPr>
      </p:sp>
      <p:sp>
        <p:nvSpPr>
          <p:cNvPr id="42" name="Shape 39"/>
          <p:cNvSpPr/>
          <p:nvPr/>
        </p:nvSpPr>
        <p:spPr>
          <a:xfrm>
            <a:off x="8336585" y="5303520"/>
            <a:ext cx="41148" cy="292608"/>
          </a:xfrm>
          <a:prstGeom prst="rect">
            <a:avLst/>
          </a:prstGeom>
          <a:solidFill>
            <a:srgbClr val="13232B"/>
          </a:solidFill>
          <a:ln/>
        </p:spPr>
      </p:sp>
      <p:sp>
        <p:nvSpPr>
          <p:cNvPr id="43" name="Shape 40"/>
          <p:cNvSpPr/>
          <p:nvPr/>
        </p:nvSpPr>
        <p:spPr>
          <a:xfrm>
            <a:off x="8427110" y="5303520"/>
            <a:ext cx="13716" cy="292608"/>
          </a:xfrm>
          <a:prstGeom prst="rect">
            <a:avLst/>
          </a:prstGeom>
          <a:solidFill>
            <a:srgbClr val="13232B"/>
          </a:solidFill>
          <a:ln/>
        </p:spPr>
      </p:sp>
      <p:sp>
        <p:nvSpPr>
          <p:cNvPr id="44" name="Shape 41"/>
          <p:cNvSpPr/>
          <p:nvPr/>
        </p:nvSpPr>
        <p:spPr>
          <a:xfrm>
            <a:off x="8468258" y="5303520"/>
            <a:ext cx="27432" cy="292608"/>
          </a:xfrm>
          <a:prstGeom prst="rect">
            <a:avLst/>
          </a:prstGeom>
          <a:solidFill>
            <a:srgbClr val="13232B"/>
          </a:solidFill>
          <a:ln/>
        </p:spPr>
      </p:sp>
      <p:sp>
        <p:nvSpPr>
          <p:cNvPr id="45" name="Shape 42"/>
          <p:cNvSpPr/>
          <p:nvPr/>
        </p:nvSpPr>
        <p:spPr>
          <a:xfrm>
            <a:off x="8534095" y="5303520"/>
            <a:ext cx="54864" cy="292608"/>
          </a:xfrm>
          <a:prstGeom prst="rect">
            <a:avLst/>
          </a:prstGeom>
          <a:solidFill>
            <a:srgbClr val="13232B"/>
          </a:solidFill>
          <a:ln/>
        </p:spPr>
      </p:sp>
      <p:sp>
        <p:nvSpPr>
          <p:cNvPr id="46" name="Shape 43"/>
          <p:cNvSpPr/>
          <p:nvPr/>
        </p:nvSpPr>
        <p:spPr>
          <a:xfrm>
            <a:off x="8638337" y="5303520"/>
            <a:ext cx="13716" cy="292608"/>
          </a:xfrm>
          <a:prstGeom prst="rect">
            <a:avLst/>
          </a:prstGeom>
          <a:solidFill>
            <a:srgbClr val="13232B"/>
          </a:solidFill>
          <a:ln/>
        </p:spPr>
      </p:sp>
      <p:sp>
        <p:nvSpPr>
          <p:cNvPr id="47" name="Shape 44"/>
          <p:cNvSpPr/>
          <p:nvPr/>
        </p:nvSpPr>
        <p:spPr>
          <a:xfrm>
            <a:off x="8679485" y="5303520"/>
            <a:ext cx="27432" cy="292608"/>
          </a:xfrm>
          <a:prstGeom prst="rect">
            <a:avLst/>
          </a:prstGeom>
          <a:solidFill>
            <a:srgbClr val="13232B"/>
          </a:solidFill>
          <a:ln/>
        </p:spPr>
      </p:sp>
      <p:sp>
        <p:nvSpPr>
          <p:cNvPr id="48" name="Shape 45"/>
          <p:cNvSpPr/>
          <p:nvPr/>
        </p:nvSpPr>
        <p:spPr>
          <a:xfrm>
            <a:off x="8745322" y="5303520"/>
            <a:ext cx="13716" cy="292608"/>
          </a:xfrm>
          <a:prstGeom prst="rect">
            <a:avLst/>
          </a:prstGeom>
          <a:solidFill>
            <a:srgbClr val="13232B"/>
          </a:solidFill>
          <a:ln/>
        </p:spPr>
      </p:sp>
      <p:sp>
        <p:nvSpPr>
          <p:cNvPr id="49" name="Shape 46"/>
          <p:cNvSpPr/>
          <p:nvPr/>
        </p:nvSpPr>
        <p:spPr>
          <a:xfrm>
            <a:off x="8808415" y="5303520"/>
            <a:ext cx="41148" cy="292608"/>
          </a:xfrm>
          <a:prstGeom prst="rect">
            <a:avLst/>
          </a:prstGeom>
          <a:solidFill>
            <a:srgbClr val="13232B"/>
          </a:solidFill>
          <a:ln/>
        </p:spPr>
      </p:sp>
      <p:sp>
        <p:nvSpPr>
          <p:cNvPr id="50" name="Shape 47"/>
          <p:cNvSpPr/>
          <p:nvPr/>
        </p:nvSpPr>
        <p:spPr>
          <a:xfrm>
            <a:off x="8876995" y="5303520"/>
            <a:ext cx="27432" cy="292608"/>
          </a:xfrm>
          <a:prstGeom prst="rect">
            <a:avLst/>
          </a:prstGeom>
          <a:solidFill>
            <a:srgbClr val="13232B"/>
          </a:solidFill>
          <a:ln/>
        </p:spPr>
      </p:sp>
      <p:sp>
        <p:nvSpPr>
          <p:cNvPr id="51" name="Shape 48"/>
          <p:cNvSpPr/>
          <p:nvPr/>
        </p:nvSpPr>
        <p:spPr>
          <a:xfrm>
            <a:off x="8942832" y="5303520"/>
            <a:ext cx="13716" cy="292608"/>
          </a:xfrm>
          <a:prstGeom prst="rect">
            <a:avLst/>
          </a:prstGeom>
          <a:solidFill>
            <a:srgbClr val="13232B"/>
          </a:solidFill>
          <a:ln/>
        </p:spPr>
      </p:sp>
      <p:sp>
        <p:nvSpPr>
          <p:cNvPr id="52" name="Shape 49"/>
          <p:cNvSpPr/>
          <p:nvPr/>
        </p:nvSpPr>
        <p:spPr>
          <a:xfrm>
            <a:off x="9005926" y="5303520"/>
            <a:ext cx="27432" cy="292608"/>
          </a:xfrm>
          <a:prstGeom prst="rect">
            <a:avLst/>
          </a:prstGeom>
          <a:solidFill>
            <a:srgbClr val="13232B"/>
          </a:solidFill>
          <a:ln/>
        </p:spPr>
      </p:sp>
      <p:sp>
        <p:nvSpPr>
          <p:cNvPr id="53" name="Shape 50"/>
          <p:cNvSpPr/>
          <p:nvPr/>
        </p:nvSpPr>
        <p:spPr>
          <a:xfrm>
            <a:off x="9060790" y="5303520"/>
            <a:ext cx="13716" cy="292608"/>
          </a:xfrm>
          <a:prstGeom prst="rect">
            <a:avLst/>
          </a:prstGeom>
          <a:solidFill>
            <a:srgbClr val="13232B"/>
          </a:solidFill>
          <a:ln/>
        </p:spPr>
      </p:sp>
      <p:sp>
        <p:nvSpPr>
          <p:cNvPr id="54" name="Shape 51"/>
          <p:cNvSpPr/>
          <p:nvPr/>
        </p:nvSpPr>
        <p:spPr>
          <a:xfrm>
            <a:off x="9112910" y="5303520"/>
            <a:ext cx="41148" cy="292608"/>
          </a:xfrm>
          <a:prstGeom prst="rect">
            <a:avLst/>
          </a:prstGeom>
          <a:solidFill>
            <a:srgbClr val="13232B"/>
          </a:solidFill>
          <a:ln/>
        </p:spPr>
      </p:sp>
      <p:sp>
        <p:nvSpPr>
          <p:cNvPr id="55" name="Shape 52"/>
          <p:cNvSpPr/>
          <p:nvPr/>
        </p:nvSpPr>
        <p:spPr>
          <a:xfrm>
            <a:off x="9203436" y="5303520"/>
            <a:ext cx="13716" cy="292608"/>
          </a:xfrm>
          <a:prstGeom prst="rect">
            <a:avLst/>
          </a:prstGeom>
          <a:solidFill>
            <a:srgbClr val="13232B"/>
          </a:solidFill>
          <a:ln/>
        </p:spPr>
      </p:sp>
      <p:sp>
        <p:nvSpPr>
          <p:cNvPr id="56" name="Shape 53"/>
          <p:cNvSpPr/>
          <p:nvPr/>
        </p:nvSpPr>
        <p:spPr>
          <a:xfrm>
            <a:off x="9244584" y="5303520"/>
            <a:ext cx="27432" cy="292608"/>
          </a:xfrm>
          <a:prstGeom prst="rect">
            <a:avLst/>
          </a:prstGeom>
          <a:solidFill>
            <a:srgbClr val="13232B"/>
          </a:solidFill>
          <a:ln/>
        </p:spPr>
      </p:sp>
      <p:sp>
        <p:nvSpPr>
          <p:cNvPr id="57" name="Shape 54"/>
          <p:cNvSpPr/>
          <p:nvPr/>
        </p:nvSpPr>
        <p:spPr>
          <a:xfrm>
            <a:off x="9310421" y="5303520"/>
            <a:ext cx="54864" cy="292608"/>
          </a:xfrm>
          <a:prstGeom prst="rect">
            <a:avLst/>
          </a:prstGeom>
          <a:solidFill>
            <a:srgbClr val="13232B"/>
          </a:solidFill>
          <a:ln/>
        </p:spPr>
      </p:sp>
      <p:sp>
        <p:nvSpPr>
          <p:cNvPr id="58" name="Shape 55"/>
          <p:cNvSpPr/>
          <p:nvPr/>
        </p:nvSpPr>
        <p:spPr>
          <a:xfrm>
            <a:off x="9414662" y="5303520"/>
            <a:ext cx="13716" cy="292608"/>
          </a:xfrm>
          <a:prstGeom prst="rect">
            <a:avLst/>
          </a:prstGeom>
          <a:solidFill>
            <a:srgbClr val="13232B"/>
          </a:solidFill>
          <a:ln/>
        </p:spPr>
      </p:sp>
      <p:sp>
        <p:nvSpPr>
          <p:cNvPr id="59" name="Shape 56"/>
          <p:cNvSpPr/>
          <p:nvPr/>
        </p:nvSpPr>
        <p:spPr>
          <a:xfrm>
            <a:off x="9455810" y="5303520"/>
            <a:ext cx="27432" cy="292608"/>
          </a:xfrm>
          <a:prstGeom prst="rect">
            <a:avLst/>
          </a:prstGeom>
          <a:solidFill>
            <a:srgbClr val="13232B"/>
          </a:solidFill>
          <a:ln/>
        </p:spPr>
      </p:sp>
      <p:sp>
        <p:nvSpPr>
          <p:cNvPr id="60" name="Shape 57"/>
          <p:cNvSpPr/>
          <p:nvPr/>
        </p:nvSpPr>
        <p:spPr>
          <a:xfrm>
            <a:off x="9521647" y="5303520"/>
            <a:ext cx="13716" cy="292608"/>
          </a:xfrm>
          <a:prstGeom prst="rect">
            <a:avLst/>
          </a:prstGeom>
          <a:solidFill>
            <a:srgbClr val="13232B"/>
          </a:solidFill>
          <a:ln/>
        </p:spPr>
      </p:sp>
      <p:sp>
        <p:nvSpPr>
          <p:cNvPr id="61" name="Shape 58"/>
          <p:cNvSpPr/>
          <p:nvPr/>
        </p:nvSpPr>
        <p:spPr>
          <a:xfrm>
            <a:off x="9584741" y="5303520"/>
            <a:ext cx="41148" cy="292608"/>
          </a:xfrm>
          <a:prstGeom prst="rect">
            <a:avLst/>
          </a:prstGeom>
          <a:solidFill>
            <a:srgbClr val="13232B"/>
          </a:solidFill>
          <a:ln/>
        </p:spPr>
      </p:sp>
      <p:sp>
        <p:nvSpPr>
          <p:cNvPr id="62" name="Shape 59"/>
          <p:cNvSpPr/>
          <p:nvPr/>
        </p:nvSpPr>
        <p:spPr>
          <a:xfrm>
            <a:off x="9653321" y="5303520"/>
            <a:ext cx="27432" cy="292608"/>
          </a:xfrm>
          <a:prstGeom prst="rect">
            <a:avLst/>
          </a:prstGeom>
          <a:solidFill>
            <a:srgbClr val="13232B"/>
          </a:solidFill>
          <a:ln/>
        </p:spPr>
      </p:sp>
      <p:sp>
        <p:nvSpPr>
          <p:cNvPr id="63" name="Shape 60"/>
          <p:cNvSpPr/>
          <p:nvPr/>
        </p:nvSpPr>
        <p:spPr>
          <a:xfrm>
            <a:off x="9719158" y="5303520"/>
            <a:ext cx="13716" cy="292608"/>
          </a:xfrm>
          <a:prstGeom prst="rect">
            <a:avLst/>
          </a:prstGeom>
          <a:solidFill>
            <a:srgbClr val="13232B"/>
          </a:solidFill>
          <a:ln/>
        </p:spPr>
      </p:sp>
      <p:sp>
        <p:nvSpPr>
          <p:cNvPr id="64" name="Shape 61"/>
          <p:cNvSpPr/>
          <p:nvPr/>
        </p:nvSpPr>
        <p:spPr>
          <a:xfrm>
            <a:off x="9782251" y="5303520"/>
            <a:ext cx="27432" cy="292608"/>
          </a:xfrm>
          <a:prstGeom prst="rect">
            <a:avLst/>
          </a:prstGeom>
          <a:solidFill>
            <a:srgbClr val="13232B"/>
          </a:solidFill>
          <a:ln/>
        </p:spPr>
      </p:sp>
      <p:sp>
        <p:nvSpPr>
          <p:cNvPr id="65" name="Shape 62"/>
          <p:cNvSpPr/>
          <p:nvPr/>
        </p:nvSpPr>
        <p:spPr>
          <a:xfrm>
            <a:off x="9837115" y="5303520"/>
            <a:ext cx="13716" cy="292608"/>
          </a:xfrm>
          <a:prstGeom prst="rect">
            <a:avLst/>
          </a:prstGeom>
          <a:solidFill>
            <a:srgbClr val="13232B"/>
          </a:solidFill>
          <a:ln/>
        </p:spPr>
      </p:sp>
      <p:sp>
        <p:nvSpPr>
          <p:cNvPr id="66" name="Shape 63"/>
          <p:cNvSpPr/>
          <p:nvPr/>
        </p:nvSpPr>
        <p:spPr>
          <a:xfrm>
            <a:off x="9889236" y="5303520"/>
            <a:ext cx="41148" cy="292608"/>
          </a:xfrm>
          <a:prstGeom prst="rect">
            <a:avLst/>
          </a:prstGeom>
          <a:solidFill>
            <a:srgbClr val="13232B"/>
          </a:solidFill>
          <a:ln/>
        </p:spPr>
      </p:sp>
      <p:sp>
        <p:nvSpPr>
          <p:cNvPr id="67" name="Shape 64"/>
          <p:cNvSpPr/>
          <p:nvPr/>
        </p:nvSpPr>
        <p:spPr>
          <a:xfrm>
            <a:off x="9979762" y="5303520"/>
            <a:ext cx="13716" cy="292608"/>
          </a:xfrm>
          <a:prstGeom prst="rect">
            <a:avLst/>
          </a:prstGeom>
          <a:solidFill>
            <a:srgbClr val="13232B"/>
          </a:solidFill>
          <a:ln/>
        </p:spPr>
      </p:sp>
      <p:sp>
        <p:nvSpPr>
          <p:cNvPr id="68" name="Shape 65"/>
          <p:cNvSpPr/>
          <p:nvPr/>
        </p:nvSpPr>
        <p:spPr>
          <a:xfrm>
            <a:off x="10020910" y="5303520"/>
            <a:ext cx="27432" cy="292608"/>
          </a:xfrm>
          <a:prstGeom prst="rect">
            <a:avLst/>
          </a:prstGeom>
          <a:solidFill>
            <a:srgbClr val="13232B"/>
          </a:solidFill>
          <a:ln/>
        </p:spPr>
      </p:sp>
      <p:sp>
        <p:nvSpPr>
          <p:cNvPr id="69" name="Shape 66"/>
          <p:cNvSpPr/>
          <p:nvPr/>
        </p:nvSpPr>
        <p:spPr>
          <a:xfrm>
            <a:off x="10086746" y="5303520"/>
            <a:ext cx="54864" cy="292608"/>
          </a:xfrm>
          <a:prstGeom prst="rect">
            <a:avLst/>
          </a:prstGeom>
          <a:solidFill>
            <a:srgbClr val="13232B"/>
          </a:solidFill>
          <a:ln/>
        </p:spPr>
      </p:sp>
      <p:sp>
        <p:nvSpPr>
          <p:cNvPr id="70" name="Shape 67"/>
          <p:cNvSpPr/>
          <p:nvPr/>
        </p:nvSpPr>
        <p:spPr>
          <a:xfrm>
            <a:off x="10190988" y="5303520"/>
            <a:ext cx="13716" cy="292608"/>
          </a:xfrm>
          <a:prstGeom prst="rect">
            <a:avLst/>
          </a:prstGeom>
          <a:solidFill>
            <a:srgbClr val="13232B"/>
          </a:solidFill>
          <a:ln/>
        </p:spPr>
      </p:sp>
      <p:sp>
        <p:nvSpPr>
          <p:cNvPr id="71" name="Shape 68"/>
          <p:cNvSpPr/>
          <p:nvPr/>
        </p:nvSpPr>
        <p:spPr>
          <a:xfrm>
            <a:off x="10232136" y="5303520"/>
            <a:ext cx="27432" cy="292608"/>
          </a:xfrm>
          <a:prstGeom prst="rect">
            <a:avLst/>
          </a:prstGeom>
          <a:solidFill>
            <a:srgbClr val="13232B"/>
          </a:solidFill>
          <a:ln/>
        </p:spPr>
      </p:sp>
      <p:sp>
        <p:nvSpPr>
          <p:cNvPr id="72" name="Shape 69"/>
          <p:cNvSpPr/>
          <p:nvPr/>
        </p:nvSpPr>
        <p:spPr>
          <a:xfrm>
            <a:off x="10297973" y="5303520"/>
            <a:ext cx="13716" cy="292608"/>
          </a:xfrm>
          <a:prstGeom prst="rect">
            <a:avLst/>
          </a:prstGeom>
          <a:solidFill>
            <a:srgbClr val="13232B"/>
          </a:solidFill>
          <a:ln/>
        </p:spPr>
      </p:sp>
      <p:sp>
        <p:nvSpPr>
          <p:cNvPr id="73" name="Shape 70"/>
          <p:cNvSpPr/>
          <p:nvPr/>
        </p:nvSpPr>
        <p:spPr>
          <a:xfrm>
            <a:off x="10361066" y="5303520"/>
            <a:ext cx="41148" cy="292608"/>
          </a:xfrm>
          <a:prstGeom prst="rect">
            <a:avLst/>
          </a:prstGeom>
          <a:solidFill>
            <a:srgbClr val="13232B"/>
          </a:solidFill>
          <a:ln/>
        </p:spPr>
      </p:sp>
      <p:sp>
        <p:nvSpPr>
          <p:cNvPr id="74" name="Shape 71"/>
          <p:cNvSpPr/>
          <p:nvPr/>
        </p:nvSpPr>
        <p:spPr>
          <a:xfrm>
            <a:off x="10429646" y="5303520"/>
            <a:ext cx="27432" cy="292608"/>
          </a:xfrm>
          <a:prstGeom prst="rect">
            <a:avLst/>
          </a:prstGeom>
          <a:solidFill>
            <a:srgbClr val="13232B"/>
          </a:solidFill>
          <a:ln/>
        </p:spPr>
      </p:sp>
      <p:sp>
        <p:nvSpPr>
          <p:cNvPr id="75" name="Shape 72"/>
          <p:cNvSpPr/>
          <p:nvPr/>
        </p:nvSpPr>
        <p:spPr>
          <a:xfrm>
            <a:off x="10495483" y="5303520"/>
            <a:ext cx="13716" cy="292608"/>
          </a:xfrm>
          <a:prstGeom prst="rect">
            <a:avLst/>
          </a:prstGeom>
          <a:solidFill>
            <a:srgbClr val="13232B"/>
          </a:solidFill>
          <a:ln/>
        </p:spPr>
      </p:sp>
      <p:sp>
        <p:nvSpPr>
          <p:cNvPr id="76" name="Shape 73"/>
          <p:cNvSpPr/>
          <p:nvPr/>
        </p:nvSpPr>
        <p:spPr>
          <a:xfrm>
            <a:off x="10558577" y="5303520"/>
            <a:ext cx="27432" cy="292608"/>
          </a:xfrm>
          <a:prstGeom prst="rect">
            <a:avLst/>
          </a:prstGeom>
          <a:solidFill>
            <a:srgbClr val="13232B"/>
          </a:solidFill>
          <a:ln/>
        </p:spPr>
      </p:sp>
      <p:sp>
        <p:nvSpPr>
          <p:cNvPr id="77" name="Shape 74"/>
          <p:cNvSpPr/>
          <p:nvPr/>
        </p:nvSpPr>
        <p:spPr>
          <a:xfrm>
            <a:off x="10613441" y="5303520"/>
            <a:ext cx="13716" cy="292608"/>
          </a:xfrm>
          <a:prstGeom prst="rect">
            <a:avLst/>
          </a:prstGeom>
          <a:solidFill>
            <a:srgbClr val="13232B"/>
          </a:solidFill>
          <a:ln/>
        </p:spPr>
      </p:sp>
      <p:sp>
        <p:nvSpPr>
          <p:cNvPr id="78" name="Shape 75"/>
          <p:cNvSpPr/>
          <p:nvPr/>
        </p:nvSpPr>
        <p:spPr>
          <a:xfrm>
            <a:off x="10665562" y="5303520"/>
            <a:ext cx="41148" cy="292608"/>
          </a:xfrm>
          <a:prstGeom prst="rect">
            <a:avLst/>
          </a:prstGeom>
          <a:solidFill>
            <a:srgbClr val="13232B"/>
          </a:solidFill>
          <a:ln/>
        </p:spPr>
      </p:sp>
      <p:sp>
        <p:nvSpPr>
          <p:cNvPr id="79" name="Shape 76"/>
          <p:cNvSpPr/>
          <p:nvPr/>
        </p:nvSpPr>
        <p:spPr>
          <a:xfrm>
            <a:off x="10756087" y="5303520"/>
            <a:ext cx="13716" cy="292608"/>
          </a:xfrm>
          <a:prstGeom prst="rect">
            <a:avLst/>
          </a:prstGeom>
          <a:solidFill>
            <a:srgbClr val="13232B"/>
          </a:solidFill>
          <a:ln/>
        </p:spPr>
      </p:sp>
      <p:sp>
        <p:nvSpPr>
          <p:cNvPr id="80" name="Shape 77"/>
          <p:cNvSpPr/>
          <p:nvPr/>
        </p:nvSpPr>
        <p:spPr>
          <a:xfrm>
            <a:off x="10797235" y="5303520"/>
            <a:ext cx="27432" cy="292608"/>
          </a:xfrm>
          <a:prstGeom prst="rect">
            <a:avLst/>
          </a:prstGeom>
          <a:solidFill>
            <a:srgbClr val="13232B"/>
          </a:solidFill>
          <a:ln/>
        </p:spPr>
      </p:sp>
      <p:sp>
        <p:nvSpPr>
          <p:cNvPr id="81" name="Shape 78"/>
          <p:cNvSpPr/>
          <p:nvPr/>
        </p:nvSpPr>
        <p:spPr>
          <a:xfrm>
            <a:off x="10863072" y="5303520"/>
            <a:ext cx="54864" cy="292608"/>
          </a:xfrm>
          <a:prstGeom prst="rect">
            <a:avLst/>
          </a:prstGeom>
          <a:solidFill>
            <a:srgbClr val="13232B"/>
          </a:solidFill>
          <a:ln/>
        </p:spPr>
      </p:sp>
      <p:sp>
        <p:nvSpPr>
          <p:cNvPr id="82" name="Shape 79"/>
          <p:cNvSpPr/>
          <p:nvPr/>
        </p:nvSpPr>
        <p:spPr>
          <a:xfrm>
            <a:off x="10967314" y="5303520"/>
            <a:ext cx="13716" cy="292608"/>
          </a:xfrm>
          <a:prstGeom prst="rect">
            <a:avLst/>
          </a:prstGeom>
          <a:solidFill>
            <a:srgbClr val="13232B"/>
          </a:solidFill>
          <a:ln/>
        </p:spPr>
      </p:sp>
      <p:sp>
        <p:nvSpPr>
          <p:cNvPr id="83" name="Shape 80"/>
          <p:cNvSpPr/>
          <p:nvPr/>
        </p:nvSpPr>
        <p:spPr>
          <a:xfrm>
            <a:off x="11008462" y="5303520"/>
            <a:ext cx="27432" cy="292608"/>
          </a:xfrm>
          <a:prstGeom prst="rect">
            <a:avLst/>
          </a:prstGeom>
          <a:solidFill>
            <a:srgbClr val="13232B"/>
          </a:solidFill>
          <a:ln/>
        </p:spPr>
      </p:sp>
      <p:sp>
        <p:nvSpPr>
          <p:cNvPr id="84" name="Shape 81"/>
          <p:cNvSpPr/>
          <p:nvPr/>
        </p:nvSpPr>
        <p:spPr>
          <a:xfrm>
            <a:off x="11074298" y="5303520"/>
            <a:ext cx="13716" cy="292608"/>
          </a:xfrm>
          <a:prstGeom prst="rect">
            <a:avLst/>
          </a:prstGeom>
          <a:solidFill>
            <a:srgbClr val="13232B"/>
          </a:solidFill>
          <a:ln/>
        </p:spPr>
      </p:sp>
      <p:sp>
        <p:nvSpPr>
          <p:cNvPr id="85" name="Shape 82"/>
          <p:cNvSpPr/>
          <p:nvPr/>
        </p:nvSpPr>
        <p:spPr>
          <a:xfrm>
            <a:off x="11137392" y="5303520"/>
            <a:ext cx="41148" cy="292608"/>
          </a:xfrm>
          <a:prstGeom prst="rect">
            <a:avLst/>
          </a:prstGeom>
          <a:solidFill>
            <a:srgbClr val="13232B"/>
          </a:solidFill>
          <a:ln/>
        </p:spPr>
      </p:sp>
      <p:sp>
        <p:nvSpPr>
          <p:cNvPr id="86" name="Shape 83"/>
          <p:cNvSpPr/>
          <p:nvPr/>
        </p:nvSpPr>
        <p:spPr>
          <a:xfrm>
            <a:off x="11205972" y="5303520"/>
            <a:ext cx="27432" cy="292608"/>
          </a:xfrm>
          <a:prstGeom prst="rect">
            <a:avLst/>
          </a:prstGeom>
          <a:solidFill>
            <a:srgbClr val="13232B"/>
          </a:solidFill>
          <a:ln/>
        </p:spPr>
      </p:sp>
      <p:sp>
        <p:nvSpPr>
          <p:cNvPr id="87" name="Shape 84"/>
          <p:cNvSpPr/>
          <p:nvPr/>
        </p:nvSpPr>
        <p:spPr>
          <a:xfrm>
            <a:off x="11271809" y="5303520"/>
            <a:ext cx="13716" cy="292608"/>
          </a:xfrm>
          <a:prstGeom prst="rect">
            <a:avLst/>
          </a:prstGeom>
          <a:solidFill>
            <a:srgbClr val="13232B"/>
          </a:solidFill>
          <a:ln/>
        </p:spPr>
      </p:sp>
      <p:sp>
        <p:nvSpPr>
          <p:cNvPr id="88" name="Shape 85"/>
          <p:cNvSpPr/>
          <p:nvPr/>
        </p:nvSpPr>
        <p:spPr>
          <a:xfrm>
            <a:off x="11334902" y="5303520"/>
            <a:ext cx="27432" cy="292608"/>
          </a:xfrm>
          <a:prstGeom prst="rect">
            <a:avLst/>
          </a:prstGeom>
          <a:solidFill>
            <a:srgbClr val="13232B"/>
          </a:solidFill>
          <a:ln/>
        </p:spPr>
      </p:sp>
      <p:sp>
        <p:nvSpPr>
          <p:cNvPr id="89" name="Text 86"/>
          <p:cNvSpPr/>
          <p:nvPr/>
        </p:nvSpPr>
        <p:spPr>
          <a:xfrm rot="-480000">
            <a:off x="10012680" y="5148072"/>
            <a:ext cx="1325880" cy="384048"/>
          </a:xfrm>
          <a:prstGeom prst="rect">
            <a:avLst/>
          </a:prstGeom>
          <a:solidFill>
            <a:srgbClr val="F4F7F8"/>
          </a:solidFill>
          <a:ln w="25400">
            <a:solidFill>
              <a:srgbClr val="2F7D4A"/>
            </a:solidFill>
          </a:ln>
        </p:spPr>
        <p:txBody>
          <a:bodyPr wrap="square" lIns="0" tIns="0" rIns="0" bIns="0" rtlCol="0" anchor="ctr"/>
          <a:lstStyle/>
          <a:p>
            <a:pPr algn="ctr" indent="0" marL="0">
              <a:buNone/>
            </a:pPr>
            <a:r>
              <a:rPr lang="en-US" sz="1700" b="1" spc="200" kern="0" dirty="0">
                <a:solidFill>
                  <a:srgbClr val="2F7D4A"/>
                </a:solidFill>
                <a:latin typeface="Bahnschrift" pitchFamily="34" charset="0"/>
                <a:ea typeface="Bahnschrift" pitchFamily="34" charset="-122"/>
                <a:cs typeface="Bahnschrift" pitchFamily="34" charset="-120"/>
              </a:rPr>
              <a:t>CERRADO</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38912" cy="274320"/>
          </a:xfrm>
          <a:prstGeom prst="rect">
            <a:avLst/>
          </a:prstGeom>
          <a:solidFill>
            <a:srgbClr val="F2B233"/>
          </a:solidFill>
          <a:ln/>
        </p:spPr>
      </p:sp>
      <p:sp>
        <p:nvSpPr>
          <p:cNvPr id="3" name="Text 1"/>
          <p:cNvSpPr/>
          <p:nvPr/>
        </p:nvSpPr>
        <p:spPr>
          <a:xfrm>
            <a:off x="548640" y="329184"/>
            <a:ext cx="438912" cy="274320"/>
          </a:xfrm>
          <a:prstGeom prst="rect">
            <a:avLst/>
          </a:prstGeom>
          <a:noFill/>
          <a:ln/>
        </p:spPr>
        <p:txBody>
          <a:bodyPr wrap="square" lIns="0" tIns="0" rIns="0" bIns="0" rtlCol="0" anchor="ctr"/>
          <a:lstStyle/>
          <a:p>
            <a:pPr algn="ctr" indent="0" marL="0">
              <a:buNone/>
            </a:pPr>
            <a:r>
              <a:rPr lang="en-US" sz="1100" b="1" dirty="0">
                <a:solidFill>
                  <a:srgbClr val="13232B"/>
                </a:solidFill>
                <a:latin typeface="Consolas" pitchFamily="34" charset="0"/>
                <a:ea typeface="Consolas" pitchFamily="34" charset="-122"/>
                <a:cs typeface="Consolas" pitchFamily="34" charset="-120"/>
              </a:rPr>
              <a:t>02</a:t>
            </a:r>
            <a:endParaRPr lang="en-US" sz="1100" dirty="0"/>
          </a:p>
        </p:txBody>
      </p:sp>
      <p:sp>
        <p:nvSpPr>
          <p:cNvPr id="4" name="Text 2"/>
          <p:cNvSpPr/>
          <p:nvPr/>
        </p:nvSpPr>
        <p:spPr>
          <a:xfrm>
            <a:off x="1115568" y="329184"/>
            <a:ext cx="5486400" cy="274320"/>
          </a:xfrm>
          <a:prstGeom prst="rect">
            <a:avLst/>
          </a:prstGeom>
          <a:noFill/>
          <a:ln/>
        </p:spPr>
        <p:txBody>
          <a:bodyPr wrap="square" lIns="0" tIns="0" rIns="0" bIns="0" rtlCol="0" anchor="ctr"/>
          <a:lstStyle/>
          <a:p>
            <a:pPr indent="0" marL="0">
              <a:buNone/>
            </a:pPr>
            <a:r>
              <a:rPr lang="en-US" sz="1050" b="1" spc="150" kern="0" dirty="0">
                <a:solidFill>
                  <a:srgbClr val="13232B"/>
                </a:solidFill>
                <a:latin typeface="Consolas" pitchFamily="34" charset="0"/>
                <a:ea typeface="Consolas" pitchFamily="34" charset="-122"/>
                <a:cs typeface="Consolas" pitchFamily="34" charset="-120"/>
              </a:rPr>
              <a:t>EL PROBLEMA</a:t>
            </a:r>
            <a:endParaRPr lang="en-US" sz="1050" dirty="0"/>
          </a:p>
        </p:txBody>
      </p:sp>
      <p:sp>
        <p:nvSpPr>
          <p:cNvPr id="5" name="Text 3"/>
          <p:cNvSpPr/>
          <p:nvPr/>
        </p:nvSpPr>
        <p:spPr>
          <a:xfrm>
            <a:off x="6156655" y="329184"/>
            <a:ext cx="5486400" cy="274320"/>
          </a:xfrm>
          <a:prstGeom prst="rect">
            <a:avLst/>
          </a:prstGeom>
          <a:noFill/>
          <a:ln/>
        </p:spPr>
        <p:txBody>
          <a:bodyPr wrap="square" lIns="0" tIns="0" rIns="0" bIns="0" rtlCol="0" anchor="ctr"/>
          <a:lstStyle/>
          <a:p>
            <a:pPr algn="r" indent="0" marL="0">
              <a:buNone/>
            </a:pPr>
            <a:r>
              <a:rPr lang="en-US" sz="950" spc="150" kern="0" dirty="0">
                <a:solidFill>
                  <a:srgbClr val="56676F"/>
                </a:solidFill>
                <a:latin typeface="Consolas" pitchFamily="34" charset="0"/>
                <a:ea typeface="Consolas" pitchFamily="34" charset="-122"/>
                <a:cs typeface="Consolas" pitchFamily="34" charset="-120"/>
              </a:rPr>
              <a:t>DOMINIO DE NEGOCIO</a:t>
            </a:r>
            <a:endParaRPr lang="en-US" sz="950" dirty="0"/>
          </a:p>
        </p:txBody>
      </p:sp>
      <p:sp>
        <p:nvSpPr>
          <p:cNvPr id="6" name="Text 4"/>
          <p:cNvSpPr/>
          <p:nvPr/>
        </p:nvSpPr>
        <p:spPr>
          <a:xfrm>
            <a:off x="548640" y="6446520"/>
            <a:ext cx="8229600" cy="22860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spec.md · Historias 2, 5 y 9</a:t>
            </a:r>
            <a:endParaRPr lang="en-US" sz="850" dirty="0"/>
          </a:p>
        </p:txBody>
      </p:sp>
      <p:sp>
        <p:nvSpPr>
          <p:cNvPr id="7" name="Text 5"/>
          <p:cNvSpPr/>
          <p:nvPr/>
        </p:nvSpPr>
        <p:spPr>
          <a:xfrm>
            <a:off x="9814255" y="6446520"/>
            <a:ext cx="1828800" cy="228600"/>
          </a:xfrm>
          <a:prstGeom prst="rect">
            <a:avLst/>
          </a:prstGeom>
          <a:noFill/>
          <a:ln/>
        </p:spPr>
        <p:txBody>
          <a:bodyPr wrap="square" lIns="0" tIns="0" rIns="0" bIns="0" rtlCol="0" anchor="t"/>
          <a:lstStyle/>
          <a:p>
            <a:pPr algn="r" indent="0" marL="0">
              <a:buNone/>
            </a:pPr>
            <a:r>
              <a:rPr lang="en-US" sz="850" dirty="0">
                <a:solidFill>
                  <a:srgbClr val="56676F"/>
                </a:solidFill>
                <a:latin typeface="Consolas" pitchFamily="34" charset="0"/>
                <a:ea typeface="Consolas" pitchFamily="34" charset="-122"/>
                <a:cs typeface="Consolas" pitchFamily="34" charset="-120"/>
              </a:rPr>
              <a:t>02 / 11</a:t>
            </a:r>
            <a:endParaRPr lang="en-US" sz="850" dirty="0"/>
          </a:p>
        </p:txBody>
      </p:sp>
      <p:sp>
        <p:nvSpPr>
          <p:cNvPr id="9" name="Text 6"/>
          <p:cNvSpPr/>
          <p:nvPr/>
        </p:nvSpPr>
        <p:spPr>
          <a:xfrm>
            <a:off x="548640" y="777240"/>
            <a:ext cx="11094415" cy="658368"/>
          </a:xfrm>
          <a:prstGeom prst="rect">
            <a:avLst/>
          </a:prstGeom>
          <a:noFill/>
          <a:ln/>
        </p:spPr>
        <p:txBody>
          <a:bodyPr wrap="square" lIns="0" tIns="0" rIns="0" bIns="0" rtlCol="0" anchor="ctr"/>
          <a:lstStyle/>
          <a:p>
            <a:pPr indent="0" marL="0">
              <a:buNone/>
            </a:pPr>
            <a:r>
              <a:rPr lang="en-US" sz="3200" b="1" dirty="0">
                <a:solidFill>
                  <a:srgbClr val="13232B"/>
                </a:solidFill>
                <a:latin typeface="Bahnschrift" pitchFamily="34" charset="0"/>
                <a:ea typeface="Bahnschrift" pitchFamily="34" charset="-122"/>
                <a:cs typeface="Bahnschrift" pitchFamily="34" charset="-120"/>
              </a:rPr>
              <a:t>Una persona, un empleador, varias operaciones</a:t>
            </a:r>
            <a:endParaRPr lang="en-US" sz="3200" dirty="0"/>
          </a:p>
        </p:txBody>
      </p:sp>
      <p:sp>
        <p:nvSpPr>
          <p:cNvPr id="10" name="Text 7"/>
          <p:cNvSpPr/>
          <p:nvPr/>
        </p:nvSpPr>
        <p:spPr>
          <a:xfrm>
            <a:off x="548640" y="1453896"/>
            <a:ext cx="9601200" cy="548640"/>
          </a:xfrm>
          <a:prstGeom prst="rect">
            <a:avLst/>
          </a:prstGeom>
          <a:noFill/>
          <a:ln/>
        </p:spPr>
        <p:txBody>
          <a:bodyPr wrap="square" lIns="0" tIns="0" rIns="0" bIns="0" rtlCol="0" anchor="t"/>
          <a:lstStyle/>
          <a:p>
            <a:pPr indent="0" marL="0">
              <a:buNone/>
            </a:pPr>
            <a:r>
              <a:rPr lang="en-US" sz="1300" dirty="0">
                <a:solidFill>
                  <a:srgbClr val="56676F"/>
                </a:solidFill>
                <a:latin typeface="Segoe UI" pitchFamily="34" charset="0"/>
                <a:ea typeface="Segoe UI" pitchFamily="34" charset="-122"/>
                <a:cs typeface="Segoe UI" pitchFamily="34" charset="-120"/>
              </a:rPr>
              <a:t>En minería conviven compañías Principales (dueñas de la operación) y Contratistas. Un trabajador de una Contratista puede atender a varias Principales, y cada una controla su propio acceso.</a:t>
            </a:r>
            <a:endParaRPr lang="en-US" sz="1300" dirty="0"/>
          </a:p>
        </p:txBody>
      </p:sp>
      <p:sp>
        <p:nvSpPr>
          <p:cNvPr id="11" name="Shape 8"/>
          <p:cNvSpPr/>
          <p:nvPr/>
        </p:nvSpPr>
        <p:spPr>
          <a:xfrm>
            <a:off x="548640" y="2697480"/>
            <a:ext cx="2331720" cy="1417320"/>
          </a:xfrm>
          <a:prstGeom prst="roundRect">
            <a:avLst>
              <a:gd name="adj" fmla="val 3871"/>
            </a:avLst>
          </a:prstGeom>
          <a:solidFill>
            <a:srgbClr val="F4F7F8"/>
          </a:solidFill>
          <a:ln w="9525">
            <a:solidFill>
              <a:srgbClr val="C8D3D8"/>
            </a:solidFill>
            <a:prstDash val="solid"/>
          </a:ln>
        </p:spPr>
      </p:sp>
      <p:sp>
        <p:nvSpPr>
          <p:cNvPr id="12" name="Text 9"/>
          <p:cNvSpPr/>
          <p:nvPr/>
        </p:nvSpPr>
        <p:spPr>
          <a:xfrm>
            <a:off x="685800" y="2807208"/>
            <a:ext cx="205740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PERSONA</a:t>
            </a:r>
            <a:endParaRPr lang="en-US" sz="900" dirty="0"/>
          </a:p>
        </p:txBody>
      </p:sp>
      <p:sp>
        <p:nvSpPr>
          <p:cNvPr id="13" name="Text 10"/>
          <p:cNvSpPr/>
          <p:nvPr/>
        </p:nvSpPr>
        <p:spPr>
          <a:xfrm>
            <a:off x="685800" y="3044952"/>
            <a:ext cx="2057400" cy="384048"/>
          </a:xfrm>
          <a:prstGeom prst="rect">
            <a:avLst/>
          </a:prstGeom>
          <a:noFill/>
          <a:ln/>
        </p:spPr>
        <p:txBody>
          <a:bodyPr wrap="square" lIns="0" tIns="0" rIns="0" bIns="0" rtlCol="0" anchor="ctr"/>
          <a:lstStyle/>
          <a:p>
            <a:pPr indent="0" marL="0">
              <a:buNone/>
            </a:pPr>
            <a:r>
              <a:rPr lang="en-US" sz="1900" b="1" dirty="0">
                <a:solidFill>
                  <a:srgbClr val="13232B"/>
                </a:solidFill>
                <a:latin typeface="Bahnschrift" pitchFamily="34" charset="0"/>
                <a:ea typeface="Bahnschrift" pitchFamily="34" charset="-122"/>
                <a:cs typeface="Bahnschrift" pitchFamily="34" charset="-120"/>
              </a:rPr>
              <a:t>Pedro García</a:t>
            </a:r>
            <a:endParaRPr lang="en-US" sz="1900" dirty="0"/>
          </a:p>
        </p:txBody>
      </p:sp>
      <p:sp>
        <p:nvSpPr>
          <p:cNvPr id="14" name="Text 11"/>
          <p:cNvSpPr/>
          <p:nvPr/>
        </p:nvSpPr>
        <p:spPr>
          <a:xfrm>
            <a:off x="685800" y="3447288"/>
            <a:ext cx="2057400" cy="594360"/>
          </a:xfrm>
          <a:prstGeom prst="rect">
            <a:avLst/>
          </a:prstGeom>
          <a:noFill/>
          <a:ln/>
        </p:spPr>
        <p:txBody>
          <a:bodyPr wrap="square" lIns="0" tIns="0" rIns="0" bIns="0" rtlCol="0" anchor="t"/>
          <a:lstStyle/>
          <a:p>
            <a:pPr indent="0" marL="0">
              <a:buNone/>
            </a:pPr>
            <a:r>
              <a:rPr lang="en-US" sz="1100" dirty="0">
                <a:solidFill>
                  <a:srgbClr val="56676F"/>
                </a:solidFill>
                <a:latin typeface="Segoe UI" pitchFamily="34" charset="0"/>
                <a:ea typeface="Segoe UI" pitchFamily="34" charset="-122"/>
                <a:cs typeface="Segoe UI" pitchFamily="34" charset="-120"/>
              </a:rPr>
              <a:t>Un histórico de pertenencia y un contexto operativo por cada Principal.</a:t>
            </a:r>
            <a:endParaRPr lang="en-US" sz="1100" dirty="0"/>
          </a:p>
        </p:txBody>
      </p:sp>
      <p:sp>
        <p:nvSpPr>
          <p:cNvPr id="15" name="Shape 12"/>
          <p:cNvSpPr/>
          <p:nvPr/>
        </p:nvSpPr>
        <p:spPr>
          <a:xfrm>
            <a:off x="3017520" y="3401568"/>
            <a:ext cx="914400" cy="914"/>
          </a:xfrm>
          <a:prstGeom prst="line">
            <a:avLst/>
          </a:prstGeom>
          <a:noFill/>
          <a:ln w="19050">
            <a:solidFill>
              <a:srgbClr val="56676F"/>
            </a:solidFill>
            <a:prstDash val="solid"/>
            <a:tailEnd type="triangle"/>
          </a:ln>
        </p:spPr>
      </p:sp>
      <p:sp>
        <p:nvSpPr>
          <p:cNvPr id="16" name="Text 13"/>
          <p:cNvSpPr/>
          <p:nvPr/>
        </p:nvSpPr>
        <p:spPr>
          <a:xfrm>
            <a:off x="2926080" y="3520440"/>
            <a:ext cx="1097280" cy="457200"/>
          </a:xfrm>
          <a:prstGeom prst="rect">
            <a:avLst/>
          </a:prstGeom>
          <a:noFill/>
          <a:ln/>
        </p:spPr>
        <p:txBody>
          <a:bodyPr wrap="square" lIns="0" tIns="0" rIns="0" bIns="0" rtlCol="0" anchor="t"/>
          <a:lstStyle/>
          <a:p>
            <a:pPr algn="ctr" indent="0" marL="0">
              <a:buNone/>
            </a:pPr>
            <a:r>
              <a:rPr lang="en-US" sz="850" dirty="0">
                <a:solidFill>
                  <a:srgbClr val="56676F"/>
                </a:solidFill>
                <a:latin typeface="Consolas" pitchFamily="34" charset="0"/>
                <a:ea typeface="Consolas" pitchFamily="34" charset="-122"/>
                <a:cs typeface="Consolas" pitchFamily="34" charset="-120"/>
              </a:rPr>
              <a:t>pertenencia con vigencia</a:t>
            </a:r>
            <a:endParaRPr lang="en-US" sz="850" dirty="0"/>
          </a:p>
        </p:txBody>
      </p:sp>
      <p:sp>
        <p:nvSpPr>
          <p:cNvPr id="17" name="Shape 14"/>
          <p:cNvSpPr/>
          <p:nvPr/>
        </p:nvSpPr>
        <p:spPr>
          <a:xfrm>
            <a:off x="4023360" y="2697480"/>
            <a:ext cx="2331720" cy="1417320"/>
          </a:xfrm>
          <a:prstGeom prst="roundRect">
            <a:avLst>
              <a:gd name="adj" fmla="val 3871"/>
            </a:avLst>
          </a:prstGeom>
          <a:solidFill>
            <a:srgbClr val="F4F7F8"/>
          </a:solidFill>
          <a:ln w="9525">
            <a:solidFill>
              <a:srgbClr val="C8D3D8"/>
            </a:solidFill>
            <a:prstDash val="solid"/>
          </a:ln>
        </p:spPr>
      </p:sp>
      <p:sp>
        <p:nvSpPr>
          <p:cNvPr id="18" name="Text 15"/>
          <p:cNvSpPr/>
          <p:nvPr/>
        </p:nvSpPr>
        <p:spPr>
          <a:xfrm>
            <a:off x="4160520" y="2807208"/>
            <a:ext cx="205740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CONTRATISTA · EMPLEADOR</a:t>
            </a:r>
            <a:endParaRPr lang="en-US" sz="900" dirty="0"/>
          </a:p>
        </p:txBody>
      </p:sp>
      <p:sp>
        <p:nvSpPr>
          <p:cNvPr id="19" name="Text 16"/>
          <p:cNvSpPr/>
          <p:nvPr/>
        </p:nvSpPr>
        <p:spPr>
          <a:xfrm>
            <a:off x="4160520" y="3044952"/>
            <a:ext cx="2057400" cy="384048"/>
          </a:xfrm>
          <a:prstGeom prst="rect">
            <a:avLst/>
          </a:prstGeom>
          <a:noFill/>
          <a:ln/>
        </p:spPr>
        <p:txBody>
          <a:bodyPr wrap="square" lIns="0" tIns="0" rIns="0" bIns="0" rtlCol="0" anchor="ctr"/>
          <a:lstStyle/>
          <a:p>
            <a:pPr indent="0" marL="0">
              <a:buNone/>
            </a:pPr>
            <a:r>
              <a:rPr lang="en-US" sz="1900" b="1" dirty="0">
                <a:solidFill>
                  <a:srgbClr val="13232B"/>
                </a:solidFill>
                <a:latin typeface="Bahnschrift" pitchFamily="34" charset="0"/>
                <a:ea typeface="Bahnschrift" pitchFamily="34" charset="-122"/>
                <a:cs typeface="Bahnschrift" pitchFamily="34" charset="-120"/>
              </a:rPr>
              <a:t>Servicios ACME</a:t>
            </a:r>
            <a:endParaRPr lang="en-US" sz="1900" dirty="0"/>
          </a:p>
        </p:txBody>
      </p:sp>
      <p:sp>
        <p:nvSpPr>
          <p:cNvPr id="20" name="Text 17"/>
          <p:cNvSpPr/>
          <p:nvPr/>
        </p:nvSpPr>
        <p:spPr>
          <a:xfrm>
            <a:off x="4160520" y="3447288"/>
            <a:ext cx="2057400" cy="594360"/>
          </a:xfrm>
          <a:prstGeom prst="rect">
            <a:avLst/>
          </a:prstGeom>
          <a:noFill/>
          <a:ln/>
        </p:spPr>
        <p:txBody>
          <a:bodyPr wrap="square" lIns="0" tIns="0" rIns="0" bIns="0" rtlCol="0" anchor="t"/>
          <a:lstStyle/>
          <a:p>
            <a:pPr indent="0" marL="0">
              <a:buNone/>
            </a:pPr>
            <a:r>
              <a:rPr lang="en-US" sz="1100" dirty="0">
                <a:solidFill>
                  <a:srgbClr val="56676F"/>
                </a:solidFill>
                <a:latin typeface="Segoe UI" pitchFamily="34" charset="0"/>
                <a:ea typeface="Segoe UI" pitchFamily="34" charset="-122"/>
                <a:cs typeface="Segoe UI" pitchFamily="34" charset="-120"/>
              </a:rPr>
              <a:t>Presta servicios a varias Principales a la vez.</a:t>
            </a:r>
            <a:endParaRPr lang="en-US" sz="1100" dirty="0"/>
          </a:p>
        </p:txBody>
      </p:sp>
      <p:sp>
        <p:nvSpPr>
          <p:cNvPr id="21" name="Shape 18"/>
          <p:cNvSpPr/>
          <p:nvPr/>
        </p:nvSpPr>
        <p:spPr>
          <a:xfrm>
            <a:off x="6492240" y="3401568"/>
            <a:ext cx="914400" cy="914"/>
          </a:xfrm>
          <a:prstGeom prst="line">
            <a:avLst/>
          </a:prstGeom>
          <a:noFill/>
          <a:ln w="19050">
            <a:solidFill>
              <a:srgbClr val="56676F"/>
            </a:solidFill>
            <a:prstDash val="solid"/>
            <a:tailEnd type="triangle"/>
          </a:ln>
        </p:spPr>
      </p:sp>
      <p:sp>
        <p:nvSpPr>
          <p:cNvPr id="22" name="Text 19"/>
          <p:cNvSpPr/>
          <p:nvPr/>
        </p:nvSpPr>
        <p:spPr>
          <a:xfrm>
            <a:off x="6492240" y="3520440"/>
            <a:ext cx="960120" cy="548640"/>
          </a:xfrm>
          <a:prstGeom prst="rect">
            <a:avLst/>
          </a:prstGeom>
          <a:noFill/>
          <a:ln/>
        </p:spPr>
        <p:txBody>
          <a:bodyPr wrap="square" lIns="0" tIns="0" rIns="0" bIns="0" rtlCol="0" anchor="t"/>
          <a:lstStyle/>
          <a:p>
            <a:pPr algn="ctr" indent="0" marL="0">
              <a:buNone/>
            </a:pPr>
            <a:r>
              <a:rPr lang="en-US" sz="850" dirty="0">
                <a:solidFill>
                  <a:srgbClr val="56676F"/>
                </a:solidFill>
                <a:latin typeface="Consolas" pitchFamily="34" charset="0"/>
                <a:ea typeface="Consolas" pitchFamily="34" charset="-122"/>
                <a:cs typeface="Consolas" pitchFamily="34" charset="-120"/>
              </a:rPr>
              <a:t>relación con la Principal vigente</a:t>
            </a:r>
            <a:endParaRPr lang="en-US" sz="850" dirty="0"/>
          </a:p>
        </p:txBody>
      </p:sp>
      <p:sp>
        <p:nvSpPr>
          <p:cNvPr id="23" name="Shape 20"/>
          <p:cNvSpPr/>
          <p:nvPr/>
        </p:nvSpPr>
        <p:spPr>
          <a:xfrm>
            <a:off x="7543800" y="2331720"/>
            <a:ext cx="4099255" cy="1005840"/>
          </a:xfrm>
          <a:prstGeom prst="roundRect">
            <a:avLst>
              <a:gd name="adj" fmla="val 5455"/>
            </a:avLst>
          </a:prstGeom>
          <a:solidFill>
            <a:srgbClr val="F4F7F8"/>
          </a:solidFill>
          <a:ln w="9525">
            <a:solidFill>
              <a:srgbClr val="C8D3D8"/>
            </a:solidFill>
            <a:prstDash val="solid"/>
          </a:ln>
        </p:spPr>
      </p:sp>
      <p:sp>
        <p:nvSpPr>
          <p:cNvPr id="24" name="Text 21"/>
          <p:cNvSpPr/>
          <p:nvPr/>
        </p:nvSpPr>
        <p:spPr>
          <a:xfrm>
            <a:off x="7680960" y="2423160"/>
            <a:ext cx="3824935"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PRINCIPAL · AMERICA/LIMA</a:t>
            </a:r>
            <a:endParaRPr lang="en-US" sz="900" dirty="0"/>
          </a:p>
        </p:txBody>
      </p:sp>
      <p:sp>
        <p:nvSpPr>
          <p:cNvPr id="25" name="Text 22"/>
          <p:cNvSpPr/>
          <p:nvPr/>
        </p:nvSpPr>
        <p:spPr>
          <a:xfrm>
            <a:off x="7680960" y="2624328"/>
            <a:ext cx="3824935" cy="329184"/>
          </a:xfrm>
          <a:prstGeom prst="rect">
            <a:avLst/>
          </a:prstGeom>
          <a:noFill/>
          <a:ln/>
        </p:spPr>
        <p:txBody>
          <a:bodyPr wrap="square" lIns="0" tIns="0" rIns="0" bIns="0" rtlCol="0" anchor="ctr"/>
          <a:lstStyle/>
          <a:p>
            <a:pPr indent="0" marL="0">
              <a:buNone/>
            </a:pPr>
            <a:r>
              <a:rPr lang="en-US" sz="1700" b="1" dirty="0">
                <a:solidFill>
                  <a:srgbClr val="13232B"/>
                </a:solidFill>
                <a:latin typeface="Bahnschrift" pitchFamily="34" charset="0"/>
                <a:ea typeface="Bahnschrift" pitchFamily="34" charset="-122"/>
                <a:cs typeface="Bahnschrift" pitchFamily="34" charset="-120"/>
              </a:rPr>
              <a:t>Minera ABC</a:t>
            </a:r>
            <a:endParaRPr lang="en-US" sz="1700" dirty="0"/>
          </a:p>
        </p:txBody>
      </p:sp>
      <p:sp>
        <p:nvSpPr>
          <p:cNvPr id="26" name="Shape 23"/>
          <p:cNvSpPr/>
          <p:nvPr/>
        </p:nvSpPr>
        <p:spPr>
          <a:xfrm>
            <a:off x="7680960" y="3008376"/>
            <a:ext cx="1307592" cy="228600"/>
          </a:xfrm>
          <a:prstGeom prst="roundRect">
            <a:avLst>
              <a:gd name="adj" fmla="val 16000"/>
            </a:avLst>
          </a:prstGeom>
          <a:solidFill>
            <a:srgbClr val="FFFFFF"/>
          </a:solidFill>
          <a:ln w="6350">
            <a:solidFill>
              <a:srgbClr val="C8D3D8"/>
            </a:solidFill>
            <a:prstDash val="solid"/>
          </a:ln>
        </p:spPr>
      </p:sp>
      <p:sp>
        <p:nvSpPr>
          <p:cNvPr id="27" name="Text 24"/>
          <p:cNvSpPr/>
          <p:nvPr/>
        </p:nvSpPr>
        <p:spPr>
          <a:xfrm>
            <a:off x="7680960" y="3008376"/>
            <a:ext cx="1307592" cy="228600"/>
          </a:xfrm>
          <a:prstGeom prst="rect">
            <a:avLst/>
          </a:prstGeom>
          <a:noFill/>
          <a:ln/>
        </p:spPr>
        <p:txBody>
          <a:bodyPr wrap="square" lIns="0" tIns="0" rIns="0" bIns="0" rtlCol="0" anchor="ctr"/>
          <a:lstStyle/>
          <a:p>
            <a:pPr algn="ctr" indent="0" marL="0">
              <a:buNone/>
            </a:pPr>
            <a:r>
              <a:rPr lang="en-US" sz="850" dirty="0">
                <a:solidFill>
                  <a:srgbClr val="13232B"/>
                </a:solidFill>
                <a:latin typeface="Consolas" pitchFamily="34" charset="0"/>
                <a:ea typeface="Consolas" pitchFamily="34" charset="-122"/>
                <a:cs typeface="Consolas" pitchFamily="34" charset="-120"/>
              </a:rPr>
              <a:t>Unidad organizativa</a:t>
            </a:r>
            <a:endParaRPr lang="en-US" sz="850" dirty="0"/>
          </a:p>
        </p:txBody>
      </p:sp>
      <p:sp>
        <p:nvSpPr>
          <p:cNvPr id="28" name="Shape 25"/>
          <p:cNvSpPr/>
          <p:nvPr/>
        </p:nvSpPr>
        <p:spPr>
          <a:xfrm>
            <a:off x="9052560" y="3008376"/>
            <a:ext cx="411480" cy="228600"/>
          </a:xfrm>
          <a:prstGeom prst="roundRect">
            <a:avLst>
              <a:gd name="adj" fmla="val 16000"/>
            </a:avLst>
          </a:prstGeom>
          <a:solidFill>
            <a:srgbClr val="FFFFFF"/>
          </a:solidFill>
          <a:ln w="6350">
            <a:solidFill>
              <a:srgbClr val="C8D3D8"/>
            </a:solidFill>
            <a:prstDash val="solid"/>
          </a:ln>
        </p:spPr>
      </p:sp>
      <p:sp>
        <p:nvSpPr>
          <p:cNvPr id="29" name="Text 26"/>
          <p:cNvSpPr/>
          <p:nvPr/>
        </p:nvSpPr>
        <p:spPr>
          <a:xfrm>
            <a:off x="9052560" y="3008376"/>
            <a:ext cx="411480" cy="228600"/>
          </a:xfrm>
          <a:prstGeom prst="rect">
            <a:avLst/>
          </a:prstGeom>
          <a:noFill/>
          <a:ln/>
        </p:spPr>
        <p:txBody>
          <a:bodyPr wrap="square" lIns="0" tIns="0" rIns="0" bIns="0" rtlCol="0" anchor="ctr"/>
          <a:lstStyle/>
          <a:p>
            <a:pPr algn="ctr" indent="0" marL="0">
              <a:buNone/>
            </a:pPr>
            <a:r>
              <a:rPr lang="en-US" sz="850" dirty="0">
                <a:solidFill>
                  <a:srgbClr val="13232B"/>
                </a:solidFill>
                <a:latin typeface="Consolas" pitchFamily="34" charset="0"/>
                <a:ea typeface="Consolas" pitchFamily="34" charset="-122"/>
                <a:cs typeface="Consolas" pitchFamily="34" charset="-120"/>
              </a:rPr>
              <a:t>Áreas</a:t>
            </a:r>
            <a:endParaRPr lang="en-US" sz="850" dirty="0"/>
          </a:p>
        </p:txBody>
      </p:sp>
      <p:sp>
        <p:nvSpPr>
          <p:cNvPr id="30" name="Shape 27"/>
          <p:cNvSpPr/>
          <p:nvPr/>
        </p:nvSpPr>
        <p:spPr>
          <a:xfrm>
            <a:off x="9528048" y="3008376"/>
            <a:ext cx="603504" cy="228600"/>
          </a:xfrm>
          <a:prstGeom prst="roundRect">
            <a:avLst>
              <a:gd name="adj" fmla="val 16000"/>
            </a:avLst>
          </a:prstGeom>
          <a:solidFill>
            <a:srgbClr val="FFFFFF"/>
          </a:solidFill>
          <a:ln w="6350">
            <a:solidFill>
              <a:srgbClr val="C8D3D8"/>
            </a:solidFill>
            <a:prstDash val="solid"/>
          </a:ln>
        </p:spPr>
      </p:sp>
      <p:sp>
        <p:nvSpPr>
          <p:cNvPr id="31" name="Text 28"/>
          <p:cNvSpPr/>
          <p:nvPr/>
        </p:nvSpPr>
        <p:spPr>
          <a:xfrm>
            <a:off x="9528048" y="3008376"/>
            <a:ext cx="603504" cy="228600"/>
          </a:xfrm>
          <a:prstGeom prst="rect">
            <a:avLst/>
          </a:prstGeom>
          <a:noFill/>
          <a:ln/>
        </p:spPr>
        <p:txBody>
          <a:bodyPr wrap="square" lIns="0" tIns="0" rIns="0" bIns="0" rtlCol="0" anchor="ctr"/>
          <a:lstStyle/>
          <a:p>
            <a:pPr algn="ctr" indent="0" marL="0">
              <a:buNone/>
            </a:pPr>
            <a:r>
              <a:rPr lang="en-US" sz="850" dirty="0">
                <a:solidFill>
                  <a:srgbClr val="13232B"/>
                </a:solidFill>
                <a:latin typeface="Consolas" pitchFamily="34" charset="0"/>
                <a:ea typeface="Consolas" pitchFamily="34" charset="-122"/>
                <a:cs typeface="Consolas" pitchFamily="34" charset="-120"/>
              </a:rPr>
              <a:t>Permisos</a:t>
            </a:r>
            <a:endParaRPr lang="en-US" sz="850" dirty="0"/>
          </a:p>
        </p:txBody>
      </p:sp>
      <p:sp>
        <p:nvSpPr>
          <p:cNvPr id="32" name="Shape 29"/>
          <p:cNvSpPr/>
          <p:nvPr/>
        </p:nvSpPr>
        <p:spPr>
          <a:xfrm>
            <a:off x="10195560" y="3008376"/>
            <a:ext cx="731520" cy="228600"/>
          </a:xfrm>
          <a:prstGeom prst="roundRect">
            <a:avLst>
              <a:gd name="adj" fmla="val 16000"/>
            </a:avLst>
          </a:prstGeom>
          <a:solidFill>
            <a:srgbClr val="FDF1D6"/>
          </a:solidFill>
          <a:ln/>
        </p:spPr>
      </p:sp>
      <p:sp>
        <p:nvSpPr>
          <p:cNvPr id="33" name="Text 30"/>
          <p:cNvSpPr/>
          <p:nvPr/>
        </p:nvSpPr>
        <p:spPr>
          <a:xfrm>
            <a:off x="10195560" y="3008376"/>
            <a:ext cx="731520" cy="228600"/>
          </a:xfrm>
          <a:prstGeom prst="rect">
            <a:avLst/>
          </a:prstGeom>
          <a:noFill/>
          <a:ln/>
        </p:spPr>
        <p:txBody>
          <a:bodyPr wrap="square" lIns="0" tIns="0" rIns="0" bIns="0" rtlCol="0" anchor="ctr"/>
          <a:lstStyle/>
          <a:p>
            <a:pPr algn="ctr" indent="0" marL="0">
              <a:buNone/>
            </a:pPr>
            <a:r>
              <a:rPr lang="en-US" sz="850" b="1" dirty="0">
                <a:solidFill>
                  <a:srgbClr val="8A5A00"/>
                </a:solidFill>
                <a:latin typeface="Consolas" pitchFamily="34" charset="0"/>
                <a:ea typeface="Consolas" pitchFamily="34" charset="-122"/>
                <a:cs typeface="Consolas" pitchFamily="34" charset="-120"/>
              </a:rPr>
              <a:t>Credencial</a:t>
            </a:r>
            <a:endParaRPr lang="en-US" sz="850" dirty="0"/>
          </a:p>
        </p:txBody>
      </p:sp>
      <p:sp>
        <p:nvSpPr>
          <p:cNvPr id="34" name="Shape 31"/>
          <p:cNvSpPr/>
          <p:nvPr/>
        </p:nvSpPr>
        <p:spPr>
          <a:xfrm>
            <a:off x="7543800" y="3447288"/>
            <a:ext cx="4099255" cy="1005840"/>
          </a:xfrm>
          <a:prstGeom prst="roundRect">
            <a:avLst>
              <a:gd name="adj" fmla="val 5455"/>
            </a:avLst>
          </a:prstGeom>
          <a:solidFill>
            <a:srgbClr val="F4F7F8"/>
          </a:solidFill>
          <a:ln w="9525">
            <a:solidFill>
              <a:srgbClr val="C8D3D8"/>
            </a:solidFill>
            <a:prstDash val="solid"/>
          </a:ln>
        </p:spPr>
      </p:sp>
      <p:sp>
        <p:nvSpPr>
          <p:cNvPr id="35" name="Text 32"/>
          <p:cNvSpPr/>
          <p:nvPr/>
        </p:nvSpPr>
        <p:spPr>
          <a:xfrm>
            <a:off x="7680960" y="3538728"/>
            <a:ext cx="3824935"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PRINCIPAL · ZONA IANA PROPIA</a:t>
            </a:r>
            <a:endParaRPr lang="en-US" sz="900" dirty="0"/>
          </a:p>
        </p:txBody>
      </p:sp>
      <p:sp>
        <p:nvSpPr>
          <p:cNvPr id="36" name="Text 33"/>
          <p:cNvSpPr/>
          <p:nvPr/>
        </p:nvSpPr>
        <p:spPr>
          <a:xfrm>
            <a:off x="7680960" y="3739896"/>
            <a:ext cx="3824935" cy="329184"/>
          </a:xfrm>
          <a:prstGeom prst="rect">
            <a:avLst/>
          </a:prstGeom>
          <a:noFill/>
          <a:ln/>
        </p:spPr>
        <p:txBody>
          <a:bodyPr wrap="square" lIns="0" tIns="0" rIns="0" bIns="0" rtlCol="0" anchor="ctr"/>
          <a:lstStyle/>
          <a:p>
            <a:pPr indent="0" marL="0">
              <a:buNone/>
            </a:pPr>
            <a:r>
              <a:rPr lang="en-US" sz="1700" b="1" dirty="0">
                <a:solidFill>
                  <a:srgbClr val="13232B"/>
                </a:solidFill>
                <a:latin typeface="Bahnschrift" pitchFamily="34" charset="0"/>
                <a:ea typeface="Bahnschrift" pitchFamily="34" charset="-122"/>
                <a:cs typeface="Bahnschrift" pitchFamily="34" charset="-120"/>
              </a:rPr>
              <a:t>Minera XYZ</a:t>
            </a:r>
            <a:endParaRPr lang="en-US" sz="1700" dirty="0"/>
          </a:p>
        </p:txBody>
      </p:sp>
      <p:sp>
        <p:nvSpPr>
          <p:cNvPr id="37" name="Shape 34"/>
          <p:cNvSpPr/>
          <p:nvPr/>
        </p:nvSpPr>
        <p:spPr>
          <a:xfrm>
            <a:off x="7680960" y="4123944"/>
            <a:ext cx="1307592" cy="228600"/>
          </a:xfrm>
          <a:prstGeom prst="roundRect">
            <a:avLst>
              <a:gd name="adj" fmla="val 16000"/>
            </a:avLst>
          </a:prstGeom>
          <a:solidFill>
            <a:srgbClr val="FFFFFF"/>
          </a:solidFill>
          <a:ln w="6350">
            <a:solidFill>
              <a:srgbClr val="C8D3D8"/>
            </a:solidFill>
            <a:prstDash val="solid"/>
          </a:ln>
        </p:spPr>
      </p:sp>
      <p:sp>
        <p:nvSpPr>
          <p:cNvPr id="38" name="Text 35"/>
          <p:cNvSpPr/>
          <p:nvPr/>
        </p:nvSpPr>
        <p:spPr>
          <a:xfrm>
            <a:off x="7680960" y="4123944"/>
            <a:ext cx="1307592" cy="228600"/>
          </a:xfrm>
          <a:prstGeom prst="rect">
            <a:avLst/>
          </a:prstGeom>
          <a:noFill/>
          <a:ln/>
        </p:spPr>
        <p:txBody>
          <a:bodyPr wrap="square" lIns="0" tIns="0" rIns="0" bIns="0" rtlCol="0" anchor="ctr"/>
          <a:lstStyle/>
          <a:p>
            <a:pPr algn="ctr" indent="0" marL="0">
              <a:buNone/>
            </a:pPr>
            <a:r>
              <a:rPr lang="en-US" sz="850" dirty="0">
                <a:solidFill>
                  <a:srgbClr val="13232B"/>
                </a:solidFill>
                <a:latin typeface="Consolas" pitchFamily="34" charset="0"/>
                <a:ea typeface="Consolas" pitchFamily="34" charset="-122"/>
                <a:cs typeface="Consolas" pitchFamily="34" charset="-120"/>
              </a:rPr>
              <a:t>Unidad organizativa</a:t>
            </a:r>
            <a:endParaRPr lang="en-US" sz="850" dirty="0"/>
          </a:p>
        </p:txBody>
      </p:sp>
      <p:sp>
        <p:nvSpPr>
          <p:cNvPr id="39" name="Shape 36"/>
          <p:cNvSpPr/>
          <p:nvPr/>
        </p:nvSpPr>
        <p:spPr>
          <a:xfrm>
            <a:off x="9052560" y="4123944"/>
            <a:ext cx="411480" cy="228600"/>
          </a:xfrm>
          <a:prstGeom prst="roundRect">
            <a:avLst>
              <a:gd name="adj" fmla="val 16000"/>
            </a:avLst>
          </a:prstGeom>
          <a:solidFill>
            <a:srgbClr val="FFFFFF"/>
          </a:solidFill>
          <a:ln w="6350">
            <a:solidFill>
              <a:srgbClr val="C8D3D8"/>
            </a:solidFill>
            <a:prstDash val="solid"/>
          </a:ln>
        </p:spPr>
      </p:sp>
      <p:sp>
        <p:nvSpPr>
          <p:cNvPr id="40" name="Text 37"/>
          <p:cNvSpPr/>
          <p:nvPr/>
        </p:nvSpPr>
        <p:spPr>
          <a:xfrm>
            <a:off x="9052560" y="4123944"/>
            <a:ext cx="411480" cy="228600"/>
          </a:xfrm>
          <a:prstGeom prst="rect">
            <a:avLst/>
          </a:prstGeom>
          <a:noFill/>
          <a:ln/>
        </p:spPr>
        <p:txBody>
          <a:bodyPr wrap="square" lIns="0" tIns="0" rIns="0" bIns="0" rtlCol="0" anchor="ctr"/>
          <a:lstStyle/>
          <a:p>
            <a:pPr algn="ctr" indent="0" marL="0">
              <a:buNone/>
            </a:pPr>
            <a:r>
              <a:rPr lang="en-US" sz="850" dirty="0">
                <a:solidFill>
                  <a:srgbClr val="13232B"/>
                </a:solidFill>
                <a:latin typeface="Consolas" pitchFamily="34" charset="0"/>
                <a:ea typeface="Consolas" pitchFamily="34" charset="-122"/>
                <a:cs typeface="Consolas" pitchFamily="34" charset="-120"/>
              </a:rPr>
              <a:t>Áreas</a:t>
            </a:r>
            <a:endParaRPr lang="en-US" sz="850" dirty="0"/>
          </a:p>
        </p:txBody>
      </p:sp>
      <p:sp>
        <p:nvSpPr>
          <p:cNvPr id="41" name="Shape 38"/>
          <p:cNvSpPr/>
          <p:nvPr/>
        </p:nvSpPr>
        <p:spPr>
          <a:xfrm>
            <a:off x="9528048" y="4123944"/>
            <a:ext cx="603504" cy="228600"/>
          </a:xfrm>
          <a:prstGeom prst="roundRect">
            <a:avLst>
              <a:gd name="adj" fmla="val 16000"/>
            </a:avLst>
          </a:prstGeom>
          <a:solidFill>
            <a:srgbClr val="FFFFFF"/>
          </a:solidFill>
          <a:ln w="6350">
            <a:solidFill>
              <a:srgbClr val="C8D3D8"/>
            </a:solidFill>
            <a:prstDash val="solid"/>
          </a:ln>
        </p:spPr>
      </p:sp>
      <p:sp>
        <p:nvSpPr>
          <p:cNvPr id="42" name="Text 39"/>
          <p:cNvSpPr/>
          <p:nvPr/>
        </p:nvSpPr>
        <p:spPr>
          <a:xfrm>
            <a:off x="9528048" y="4123944"/>
            <a:ext cx="603504" cy="228600"/>
          </a:xfrm>
          <a:prstGeom prst="rect">
            <a:avLst/>
          </a:prstGeom>
          <a:noFill/>
          <a:ln/>
        </p:spPr>
        <p:txBody>
          <a:bodyPr wrap="square" lIns="0" tIns="0" rIns="0" bIns="0" rtlCol="0" anchor="ctr"/>
          <a:lstStyle/>
          <a:p>
            <a:pPr algn="ctr" indent="0" marL="0">
              <a:buNone/>
            </a:pPr>
            <a:r>
              <a:rPr lang="en-US" sz="850" dirty="0">
                <a:solidFill>
                  <a:srgbClr val="13232B"/>
                </a:solidFill>
                <a:latin typeface="Consolas" pitchFamily="34" charset="0"/>
                <a:ea typeface="Consolas" pitchFamily="34" charset="-122"/>
                <a:cs typeface="Consolas" pitchFamily="34" charset="-120"/>
              </a:rPr>
              <a:t>Permisos</a:t>
            </a:r>
            <a:endParaRPr lang="en-US" sz="850" dirty="0"/>
          </a:p>
        </p:txBody>
      </p:sp>
      <p:sp>
        <p:nvSpPr>
          <p:cNvPr id="43" name="Shape 40"/>
          <p:cNvSpPr/>
          <p:nvPr/>
        </p:nvSpPr>
        <p:spPr>
          <a:xfrm>
            <a:off x="10195560" y="4123944"/>
            <a:ext cx="731520" cy="228600"/>
          </a:xfrm>
          <a:prstGeom prst="roundRect">
            <a:avLst>
              <a:gd name="adj" fmla="val 16000"/>
            </a:avLst>
          </a:prstGeom>
          <a:solidFill>
            <a:srgbClr val="FDF1D6"/>
          </a:solidFill>
          <a:ln/>
        </p:spPr>
      </p:sp>
      <p:sp>
        <p:nvSpPr>
          <p:cNvPr id="44" name="Text 41"/>
          <p:cNvSpPr/>
          <p:nvPr/>
        </p:nvSpPr>
        <p:spPr>
          <a:xfrm>
            <a:off x="10195560" y="4123944"/>
            <a:ext cx="731520" cy="228600"/>
          </a:xfrm>
          <a:prstGeom prst="rect">
            <a:avLst/>
          </a:prstGeom>
          <a:noFill/>
          <a:ln/>
        </p:spPr>
        <p:txBody>
          <a:bodyPr wrap="square" lIns="0" tIns="0" rIns="0" bIns="0" rtlCol="0" anchor="ctr"/>
          <a:lstStyle/>
          <a:p>
            <a:pPr algn="ctr" indent="0" marL="0">
              <a:buNone/>
            </a:pPr>
            <a:r>
              <a:rPr lang="en-US" sz="850" b="1" dirty="0">
                <a:solidFill>
                  <a:srgbClr val="8A5A00"/>
                </a:solidFill>
                <a:latin typeface="Consolas" pitchFamily="34" charset="0"/>
                <a:ea typeface="Consolas" pitchFamily="34" charset="-122"/>
                <a:cs typeface="Consolas" pitchFamily="34" charset="-120"/>
              </a:rPr>
              <a:t>Credencial</a:t>
            </a:r>
            <a:endParaRPr lang="en-US" sz="850" dirty="0"/>
          </a:p>
        </p:txBody>
      </p:sp>
      <p:sp>
        <p:nvSpPr>
          <p:cNvPr id="45" name="Shape 42"/>
          <p:cNvSpPr/>
          <p:nvPr/>
        </p:nvSpPr>
        <p:spPr>
          <a:xfrm>
            <a:off x="548640" y="4937760"/>
            <a:ext cx="3606698" cy="1005840"/>
          </a:xfrm>
          <a:prstGeom prst="roundRect">
            <a:avLst>
              <a:gd name="adj" fmla="val 5455"/>
            </a:avLst>
          </a:prstGeom>
          <a:solidFill>
            <a:srgbClr val="DCECEE"/>
          </a:solidFill>
          <a:ln/>
        </p:spPr>
      </p:sp>
      <p:sp>
        <p:nvSpPr>
          <p:cNvPr id="46" name="Text 43"/>
          <p:cNvSpPr/>
          <p:nvPr/>
        </p:nvSpPr>
        <p:spPr>
          <a:xfrm>
            <a:off x="713232" y="5029200"/>
            <a:ext cx="3277514" cy="274320"/>
          </a:xfrm>
          <a:prstGeom prst="rect">
            <a:avLst/>
          </a:prstGeom>
          <a:noFill/>
          <a:ln/>
        </p:spPr>
        <p:txBody>
          <a:bodyPr wrap="square" lIns="0" tIns="0" rIns="0" bIns="0" rtlCol="0" anchor="t"/>
          <a:lstStyle/>
          <a:p>
            <a:pPr indent="0" marL="0">
              <a:buNone/>
            </a:pPr>
            <a:r>
              <a:rPr lang="en-US" sz="1250" b="1" dirty="0">
                <a:solidFill>
                  <a:srgbClr val="1D6B73"/>
                </a:solidFill>
                <a:latin typeface="Segoe UI" pitchFamily="34" charset="0"/>
                <a:ea typeface="Segoe UI" pitchFamily="34" charset="-122"/>
                <a:cs typeface="Segoe UI" pitchFamily="34" charset="-120"/>
              </a:rPr>
              <a:t>Denegación por defecto</a:t>
            </a:r>
            <a:endParaRPr lang="en-US" sz="1250" dirty="0"/>
          </a:p>
        </p:txBody>
      </p:sp>
      <p:sp>
        <p:nvSpPr>
          <p:cNvPr id="47" name="Text 44"/>
          <p:cNvSpPr/>
          <p:nvPr/>
        </p:nvSpPr>
        <p:spPr>
          <a:xfrm>
            <a:off x="713232" y="5321808"/>
            <a:ext cx="3277514" cy="548640"/>
          </a:xfrm>
          <a:prstGeom prst="rect">
            <a:avLst/>
          </a:prstGeom>
          <a:noFill/>
          <a:ln/>
        </p:spPr>
        <p:txBody>
          <a:bodyPr wrap="square" lIns="0" tIns="0" rIns="0" bIns="0" rtlCol="0" anchor="t"/>
          <a:lstStyle/>
          <a:p>
            <a:pPr indent="0" marL="0">
              <a:buNone/>
            </a:pPr>
            <a:r>
              <a:rPr lang="en-US" sz="1100" dirty="0">
                <a:solidFill>
                  <a:srgbClr val="13232B"/>
                </a:solidFill>
                <a:latin typeface="Segoe UI" pitchFamily="34" charset="0"/>
                <a:ea typeface="Segoe UI" pitchFamily="34" charset="-122"/>
                <a:cs typeface="Segoe UI" pitchFamily="34" charset="-120"/>
              </a:rPr>
              <a:t>Toda validación ocurre en el servidor; sin resultado inequívoco, no se entra.</a:t>
            </a:r>
            <a:endParaRPr lang="en-US" sz="1100" dirty="0"/>
          </a:p>
        </p:txBody>
      </p:sp>
      <p:sp>
        <p:nvSpPr>
          <p:cNvPr id="48" name="Shape 45"/>
          <p:cNvSpPr/>
          <p:nvPr/>
        </p:nvSpPr>
        <p:spPr>
          <a:xfrm>
            <a:off x="4292498" y="4937760"/>
            <a:ext cx="3606698" cy="1005840"/>
          </a:xfrm>
          <a:prstGeom prst="roundRect">
            <a:avLst>
              <a:gd name="adj" fmla="val 5455"/>
            </a:avLst>
          </a:prstGeom>
          <a:solidFill>
            <a:srgbClr val="DCECEE"/>
          </a:solidFill>
          <a:ln/>
        </p:spPr>
      </p:sp>
      <p:sp>
        <p:nvSpPr>
          <p:cNvPr id="49" name="Text 46"/>
          <p:cNvSpPr/>
          <p:nvPr/>
        </p:nvSpPr>
        <p:spPr>
          <a:xfrm>
            <a:off x="4457090" y="5029200"/>
            <a:ext cx="3277514" cy="274320"/>
          </a:xfrm>
          <a:prstGeom prst="rect">
            <a:avLst/>
          </a:prstGeom>
          <a:noFill/>
          <a:ln/>
        </p:spPr>
        <p:txBody>
          <a:bodyPr wrap="square" lIns="0" tIns="0" rIns="0" bIns="0" rtlCol="0" anchor="t"/>
          <a:lstStyle/>
          <a:p>
            <a:pPr indent="0" marL="0">
              <a:buNone/>
            </a:pPr>
            <a:r>
              <a:rPr lang="en-US" sz="1250" b="1" dirty="0">
                <a:solidFill>
                  <a:srgbClr val="1D6B73"/>
                </a:solidFill>
                <a:latin typeface="Segoe UI" pitchFamily="34" charset="0"/>
                <a:ea typeface="Segoe UI" pitchFamily="34" charset="-122"/>
                <a:cs typeface="Segoe UI" pitchFamily="34" charset="-120"/>
              </a:rPr>
              <a:t>Revocación en cascada</a:t>
            </a:r>
            <a:endParaRPr lang="en-US" sz="1250" dirty="0"/>
          </a:p>
        </p:txBody>
      </p:sp>
      <p:sp>
        <p:nvSpPr>
          <p:cNvPr id="50" name="Text 47"/>
          <p:cNvSpPr/>
          <p:nvPr/>
        </p:nvSpPr>
        <p:spPr>
          <a:xfrm>
            <a:off x="4457090" y="5321808"/>
            <a:ext cx="3277514" cy="548640"/>
          </a:xfrm>
          <a:prstGeom prst="rect">
            <a:avLst/>
          </a:prstGeom>
          <a:noFill/>
          <a:ln/>
        </p:spPr>
        <p:txBody>
          <a:bodyPr wrap="square" lIns="0" tIns="0" rIns="0" bIns="0" rtlCol="0" anchor="t"/>
          <a:lstStyle/>
          <a:p>
            <a:pPr indent="0" marL="0">
              <a:buNone/>
            </a:pPr>
            <a:r>
              <a:rPr lang="en-US" sz="1100" dirty="0">
                <a:solidFill>
                  <a:srgbClr val="13232B"/>
                </a:solidFill>
                <a:latin typeface="Segoe UI" pitchFamily="34" charset="0"/>
                <a:ea typeface="Segoe UI" pitchFamily="34" charset="-122"/>
                <a:cs typeface="Segoe UI" pitchFamily="34" charset="-120"/>
              </a:rPr>
              <a:t>Si termina la pertenencia, caen sus contextos, unidades y credenciales.</a:t>
            </a:r>
            <a:endParaRPr lang="en-US" sz="1100" dirty="0"/>
          </a:p>
        </p:txBody>
      </p:sp>
      <p:sp>
        <p:nvSpPr>
          <p:cNvPr id="51" name="Shape 48"/>
          <p:cNvSpPr/>
          <p:nvPr/>
        </p:nvSpPr>
        <p:spPr>
          <a:xfrm>
            <a:off x="8036357" y="4937760"/>
            <a:ext cx="3606698" cy="1005840"/>
          </a:xfrm>
          <a:prstGeom prst="roundRect">
            <a:avLst>
              <a:gd name="adj" fmla="val 5455"/>
            </a:avLst>
          </a:prstGeom>
          <a:solidFill>
            <a:srgbClr val="DCECEE"/>
          </a:solidFill>
          <a:ln/>
        </p:spPr>
      </p:sp>
      <p:sp>
        <p:nvSpPr>
          <p:cNvPr id="52" name="Text 49"/>
          <p:cNvSpPr/>
          <p:nvPr/>
        </p:nvSpPr>
        <p:spPr>
          <a:xfrm>
            <a:off x="8200949" y="5029200"/>
            <a:ext cx="3277514" cy="274320"/>
          </a:xfrm>
          <a:prstGeom prst="rect">
            <a:avLst/>
          </a:prstGeom>
          <a:noFill/>
          <a:ln/>
        </p:spPr>
        <p:txBody>
          <a:bodyPr wrap="square" lIns="0" tIns="0" rIns="0" bIns="0" rtlCol="0" anchor="t"/>
          <a:lstStyle/>
          <a:p>
            <a:pPr indent="0" marL="0">
              <a:buNone/>
            </a:pPr>
            <a:r>
              <a:rPr lang="en-US" sz="1250" b="1" dirty="0">
                <a:solidFill>
                  <a:srgbClr val="1D6B73"/>
                </a:solidFill>
                <a:latin typeface="Segoe UI" pitchFamily="34" charset="0"/>
                <a:ea typeface="Segoe UI" pitchFamily="34" charset="-122"/>
                <a:cs typeface="Segoe UI" pitchFamily="34" charset="-120"/>
              </a:rPr>
              <a:t>Históricos íntegros</a:t>
            </a:r>
            <a:endParaRPr lang="en-US" sz="1250" dirty="0"/>
          </a:p>
        </p:txBody>
      </p:sp>
      <p:sp>
        <p:nvSpPr>
          <p:cNvPr id="53" name="Text 50"/>
          <p:cNvSpPr/>
          <p:nvPr/>
        </p:nvSpPr>
        <p:spPr>
          <a:xfrm>
            <a:off x="8200949" y="5321808"/>
            <a:ext cx="3277514" cy="548640"/>
          </a:xfrm>
          <a:prstGeom prst="rect">
            <a:avLst/>
          </a:prstGeom>
          <a:noFill/>
          <a:ln/>
        </p:spPr>
        <p:txBody>
          <a:bodyPr wrap="square" lIns="0" tIns="0" rIns="0" bIns="0" rtlCol="0" anchor="t"/>
          <a:lstStyle/>
          <a:p>
            <a:pPr indent="0" marL="0">
              <a:buNone/>
            </a:pPr>
            <a:r>
              <a:rPr lang="en-US" sz="1100" dirty="0">
                <a:solidFill>
                  <a:srgbClr val="13232B"/>
                </a:solidFill>
                <a:latin typeface="Segoe UI" pitchFamily="34" charset="0"/>
                <a:ea typeface="Segoe UI" pitchFamily="34" charset="-122"/>
                <a:cs typeface="Segoe UI" pitchFamily="34" charset="-120"/>
              </a:rPr>
              <a:t>Vigencias en UTC, sin solapamientos y nunca reescritas.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38912" cy="274320"/>
          </a:xfrm>
          <a:prstGeom prst="rect">
            <a:avLst/>
          </a:prstGeom>
          <a:solidFill>
            <a:srgbClr val="F2B233"/>
          </a:solidFill>
          <a:ln/>
        </p:spPr>
      </p:sp>
      <p:sp>
        <p:nvSpPr>
          <p:cNvPr id="3" name="Text 1"/>
          <p:cNvSpPr/>
          <p:nvPr/>
        </p:nvSpPr>
        <p:spPr>
          <a:xfrm>
            <a:off x="548640" y="329184"/>
            <a:ext cx="438912" cy="274320"/>
          </a:xfrm>
          <a:prstGeom prst="rect">
            <a:avLst/>
          </a:prstGeom>
          <a:noFill/>
          <a:ln/>
        </p:spPr>
        <p:txBody>
          <a:bodyPr wrap="square" lIns="0" tIns="0" rIns="0" bIns="0" rtlCol="0" anchor="ctr"/>
          <a:lstStyle/>
          <a:p>
            <a:pPr algn="ctr" indent="0" marL="0">
              <a:buNone/>
            </a:pPr>
            <a:r>
              <a:rPr lang="en-US" sz="1100" b="1" dirty="0">
                <a:solidFill>
                  <a:srgbClr val="13232B"/>
                </a:solidFill>
                <a:latin typeface="Consolas" pitchFamily="34" charset="0"/>
                <a:ea typeface="Consolas" pitchFamily="34" charset="-122"/>
                <a:cs typeface="Consolas" pitchFamily="34" charset="-120"/>
              </a:rPr>
              <a:t>03</a:t>
            </a:r>
            <a:endParaRPr lang="en-US" sz="1100" dirty="0"/>
          </a:p>
        </p:txBody>
      </p:sp>
      <p:sp>
        <p:nvSpPr>
          <p:cNvPr id="4" name="Text 2"/>
          <p:cNvSpPr/>
          <p:nvPr/>
        </p:nvSpPr>
        <p:spPr>
          <a:xfrm>
            <a:off x="1115568" y="329184"/>
            <a:ext cx="5486400" cy="274320"/>
          </a:xfrm>
          <a:prstGeom prst="rect">
            <a:avLst/>
          </a:prstGeom>
          <a:noFill/>
          <a:ln/>
        </p:spPr>
        <p:txBody>
          <a:bodyPr wrap="square" lIns="0" tIns="0" rIns="0" bIns="0" rtlCol="0" anchor="ctr"/>
          <a:lstStyle/>
          <a:p>
            <a:pPr indent="0" marL="0">
              <a:buNone/>
            </a:pPr>
            <a:r>
              <a:rPr lang="en-US" sz="1050" b="1" spc="150" kern="0" dirty="0">
                <a:solidFill>
                  <a:srgbClr val="13232B"/>
                </a:solidFill>
                <a:latin typeface="Consolas" pitchFamily="34" charset="0"/>
                <a:ea typeface="Consolas" pitchFamily="34" charset="-122"/>
                <a:cs typeface="Consolas" pitchFamily="34" charset="-120"/>
              </a:rPr>
              <a:t>CÓMO SE TRABAJÓ</a:t>
            </a:r>
            <a:endParaRPr lang="en-US" sz="1050" dirty="0"/>
          </a:p>
        </p:txBody>
      </p:sp>
      <p:sp>
        <p:nvSpPr>
          <p:cNvPr id="5" name="Text 3"/>
          <p:cNvSpPr/>
          <p:nvPr/>
        </p:nvSpPr>
        <p:spPr>
          <a:xfrm>
            <a:off x="6156655" y="329184"/>
            <a:ext cx="5486400" cy="274320"/>
          </a:xfrm>
          <a:prstGeom prst="rect">
            <a:avLst/>
          </a:prstGeom>
          <a:noFill/>
          <a:ln/>
        </p:spPr>
        <p:txBody>
          <a:bodyPr wrap="square" lIns="0" tIns="0" rIns="0" bIns="0" rtlCol="0" anchor="ctr"/>
          <a:lstStyle/>
          <a:p>
            <a:pPr algn="r" indent="0" marL="0">
              <a:buNone/>
            </a:pPr>
            <a:r>
              <a:rPr lang="en-US" sz="950" spc="150" kern="0" dirty="0">
                <a:solidFill>
                  <a:srgbClr val="56676F"/>
                </a:solidFill>
                <a:latin typeface="Consolas" pitchFamily="34" charset="0"/>
                <a:ea typeface="Consolas" pitchFamily="34" charset="-122"/>
                <a:cs typeface="Consolas" pitchFamily="34" charset="-120"/>
              </a:rPr>
              <a:t>SPEC KIT DE GITHUB</a:t>
            </a:r>
            <a:endParaRPr lang="en-US" sz="950" dirty="0"/>
          </a:p>
        </p:txBody>
      </p:sp>
      <p:sp>
        <p:nvSpPr>
          <p:cNvPr id="6" name="Text 4"/>
          <p:cNvSpPr/>
          <p:nvPr/>
        </p:nvSpPr>
        <p:spPr>
          <a:xfrm>
            <a:off x="548640" y="6446520"/>
            <a:ext cx="8229600" cy="22860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.specify/ · .claude/skills/speckit-*</a:t>
            </a:r>
            <a:endParaRPr lang="en-US" sz="850" dirty="0"/>
          </a:p>
        </p:txBody>
      </p:sp>
      <p:sp>
        <p:nvSpPr>
          <p:cNvPr id="7" name="Text 5"/>
          <p:cNvSpPr/>
          <p:nvPr/>
        </p:nvSpPr>
        <p:spPr>
          <a:xfrm>
            <a:off x="9814255" y="6446520"/>
            <a:ext cx="1828800" cy="228600"/>
          </a:xfrm>
          <a:prstGeom prst="rect">
            <a:avLst/>
          </a:prstGeom>
          <a:noFill/>
          <a:ln/>
        </p:spPr>
        <p:txBody>
          <a:bodyPr wrap="square" lIns="0" tIns="0" rIns="0" bIns="0" rtlCol="0" anchor="t"/>
          <a:lstStyle/>
          <a:p>
            <a:pPr algn="r" indent="0" marL="0">
              <a:buNone/>
            </a:pPr>
            <a:r>
              <a:rPr lang="en-US" sz="850" dirty="0">
                <a:solidFill>
                  <a:srgbClr val="56676F"/>
                </a:solidFill>
                <a:latin typeface="Consolas" pitchFamily="34" charset="0"/>
                <a:ea typeface="Consolas" pitchFamily="34" charset="-122"/>
                <a:cs typeface="Consolas" pitchFamily="34" charset="-120"/>
              </a:rPr>
              <a:t>03 / 11</a:t>
            </a:r>
            <a:endParaRPr lang="en-US" sz="850" dirty="0"/>
          </a:p>
        </p:txBody>
      </p:sp>
      <p:sp>
        <p:nvSpPr>
          <p:cNvPr id="9" name="Text 6"/>
          <p:cNvSpPr/>
          <p:nvPr/>
        </p:nvSpPr>
        <p:spPr>
          <a:xfrm>
            <a:off x="548640" y="777240"/>
            <a:ext cx="11094415" cy="658368"/>
          </a:xfrm>
          <a:prstGeom prst="rect">
            <a:avLst/>
          </a:prstGeom>
          <a:noFill/>
          <a:ln/>
        </p:spPr>
        <p:txBody>
          <a:bodyPr wrap="square" lIns="0" tIns="0" rIns="0" bIns="0" rtlCol="0" anchor="ctr"/>
          <a:lstStyle/>
          <a:p>
            <a:pPr indent="0" marL="0">
              <a:buNone/>
            </a:pPr>
            <a:r>
              <a:rPr lang="en-US" sz="3200" b="1" dirty="0">
                <a:solidFill>
                  <a:srgbClr val="13232B"/>
                </a:solidFill>
                <a:latin typeface="Bahnschrift" pitchFamily="34" charset="0"/>
                <a:ea typeface="Bahnschrift" pitchFamily="34" charset="-122"/>
                <a:cs typeface="Bahnschrift" pitchFamily="34" charset="-120"/>
              </a:rPr>
              <a:t>De la intención al código en siete comandos</a:t>
            </a:r>
            <a:endParaRPr lang="en-US" sz="3200" dirty="0"/>
          </a:p>
        </p:txBody>
      </p:sp>
      <p:sp>
        <p:nvSpPr>
          <p:cNvPr id="10" name="Text 7"/>
          <p:cNvSpPr/>
          <p:nvPr/>
        </p:nvSpPr>
        <p:spPr>
          <a:xfrm>
            <a:off x="548640" y="1453896"/>
            <a:ext cx="9601200" cy="548640"/>
          </a:xfrm>
          <a:prstGeom prst="rect">
            <a:avLst/>
          </a:prstGeom>
          <a:noFill/>
          <a:ln/>
        </p:spPr>
        <p:txBody>
          <a:bodyPr wrap="square" lIns="0" tIns="0" rIns="0" bIns="0" rtlCol="0" anchor="t"/>
          <a:lstStyle/>
          <a:p>
            <a:pPr indent="0" marL="0">
              <a:buNone/>
            </a:pPr>
            <a:r>
              <a:rPr lang="en-US" sz="1300" dirty="0">
                <a:solidFill>
                  <a:srgbClr val="56676F"/>
                </a:solidFill>
                <a:latin typeface="Segoe UI" pitchFamily="34" charset="0"/>
                <a:ea typeface="Segoe UI" pitchFamily="34" charset="-122"/>
                <a:cs typeface="Segoe UI" pitchFamily="34" charset="-120"/>
              </a:rPr>
              <a:t>Cada comando produce un artefacto versionado que alimenta al siguiente. El código solo aparece al final, cuando el qué, el cómo y las tareas están escritos y revisados.</a:t>
            </a:r>
            <a:endParaRPr lang="en-US" sz="1300" dirty="0"/>
          </a:p>
        </p:txBody>
      </p:sp>
      <p:sp>
        <p:nvSpPr>
          <p:cNvPr id="11" name="Shape 8"/>
          <p:cNvSpPr/>
          <p:nvPr/>
        </p:nvSpPr>
        <p:spPr>
          <a:xfrm>
            <a:off x="731520" y="2404872"/>
            <a:ext cx="9509499" cy="0"/>
          </a:xfrm>
          <a:prstGeom prst="line">
            <a:avLst/>
          </a:prstGeom>
          <a:noFill/>
          <a:ln w="19050">
            <a:solidFill>
              <a:srgbClr val="C8D3D8"/>
            </a:solidFill>
            <a:prstDash val="solid"/>
          </a:ln>
        </p:spPr>
      </p:sp>
      <p:sp>
        <p:nvSpPr>
          <p:cNvPr id="12" name="Shape 9"/>
          <p:cNvSpPr/>
          <p:nvPr/>
        </p:nvSpPr>
        <p:spPr>
          <a:xfrm>
            <a:off x="548640" y="2240280"/>
            <a:ext cx="329184" cy="329184"/>
          </a:xfrm>
          <a:prstGeom prst="ellipse">
            <a:avLst/>
          </a:prstGeom>
          <a:solidFill>
            <a:srgbClr val="13232B"/>
          </a:solidFill>
          <a:ln/>
        </p:spPr>
      </p:sp>
      <p:sp>
        <p:nvSpPr>
          <p:cNvPr id="13" name="Text 10"/>
          <p:cNvSpPr/>
          <p:nvPr/>
        </p:nvSpPr>
        <p:spPr>
          <a:xfrm>
            <a:off x="548640" y="2240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1</a:t>
            </a:r>
            <a:endParaRPr lang="en-US" sz="1100" dirty="0"/>
          </a:p>
        </p:txBody>
      </p:sp>
      <p:sp>
        <p:nvSpPr>
          <p:cNvPr id="14" name="Text 11"/>
          <p:cNvSpPr/>
          <p:nvPr/>
        </p:nvSpPr>
        <p:spPr>
          <a:xfrm>
            <a:off x="548640" y="2697480"/>
            <a:ext cx="1475188" cy="274320"/>
          </a:xfrm>
          <a:prstGeom prst="rect">
            <a:avLst/>
          </a:prstGeom>
          <a:noFill/>
          <a:ln/>
        </p:spPr>
        <p:txBody>
          <a:bodyPr wrap="square" lIns="0" tIns="0" rIns="0" bIns="0" rtlCol="0" anchor="t"/>
          <a:lstStyle/>
          <a:p>
            <a:pPr indent="0" marL="0">
              <a:buNone/>
            </a:pPr>
            <a:r>
              <a:rPr lang="en-US" sz="900" b="1" dirty="0">
                <a:solidFill>
                  <a:srgbClr val="1D6B73"/>
                </a:solidFill>
                <a:latin typeface="Consolas" pitchFamily="34" charset="0"/>
                <a:ea typeface="Consolas" pitchFamily="34" charset="-122"/>
                <a:cs typeface="Consolas" pitchFamily="34" charset="-120"/>
              </a:rPr>
              <a:t>/speckit-constitution</a:t>
            </a:r>
            <a:endParaRPr lang="en-US" sz="900" dirty="0"/>
          </a:p>
        </p:txBody>
      </p:sp>
      <p:sp>
        <p:nvSpPr>
          <p:cNvPr id="15" name="Text 12"/>
          <p:cNvSpPr/>
          <p:nvPr/>
        </p:nvSpPr>
        <p:spPr>
          <a:xfrm>
            <a:off x="548640" y="2990088"/>
            <a:ext cx="1475188"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Reglas no negociables</a:t>
            </a:r>
            <a:endParaRPr lang="en-US" sz="1500" dirty="0"/>
          </a:p>
        </p:txBody>
      </p:sp>
      <p:sp>
        <p:nvSpPr>
          <p:cNvPr id="16" name="Shape 13"/>
          <p:cNvSpPr/>
          <p:nvPr/>
        </p:nvSpPr>
        <p:spPr>
          <a:xfrm>
            <a:off x="548640" y="3538728"/>
            <a:ext cx="1447756" cy="237744"/>
          </a:xfrm>
          <a:prstGeom prst="roundRect">
            <a:avLst>
              <a:gd name="adj" fmla="val 15385"/>
            </a:avLst>
          </a:prstGeom>
          <a:solidFill>
            <a:srgbClr val="FFFFFF"/>
          </a:solidFill>
          <a:ln w="6350">
            <a:solidFill>
              <a:srgbClr val="C8D3D8"/>
            </a:solidFill>
            <a:prstDash val="solid"/>
          </a:ln>
        </p:spPr>
      </p:sp>
      <p:sp>
        <p:nvSpPr>
          <p:cNvPr id="17" name="Text 14"/>
          <p:cNvSpPr/>
          <p:nvPr/>
        </p:nvSpPr>
        <p:spPr>
          <a:xfrm>
            <a:off x="585216" y="3538728"/>
            <a:ext cx="1374604" cy="237744"/>
          </a:xfrm>
          <a:prstGeom prst="rect">
            <a:avLst/>
          </a:prstGeom>
          <a:noFill/>
          <a:ln/>
        </p:spPr>
        <p:txBody>
          <a:bodyPr wrap="square" lIns="0" tIns="0" rIns="0" bIns="0" rtlCol="0" anchor="ctr"/>
          <a:lstStyle/>
          <a:p>
            <a:pPr indent="0" marL="0">
              <a:buNone/>
            </a:pPr>
            <a:r>
              <a:rPr lang="en-US" sz="800" dirty="0">
                <a:solidFill>
                  <a:srgbClr val="13232B"/>
                </a:solidFill>
                <a:latin typeface="Consolas" pitchFamily="34" charset="0"/>
                <a:ea typeface="Consolas" pitchFamily="34" charset="-122"/>
                <a:cs typeface="Consolas" pitchFamily="34" charset="-120"/>
              </a:rPr>
              <a:t>constitution.md</a:t>
            </a:r>
            <a:endParaRPr lang="en-US" sz="800" dirty="0"/>
          </a:p>
        </p:txBody>
      </p:sp>
      <p:sp>
        <p:nvSpPr>
          <p:cNvPr id="18" name="Text 15"/>
          <p:cNvSpPr/>
          <p:nvPr/>
        </p:nvSpPr>
        <p:spPr>
          <a:xfrm>
            <a:off x="548640" y="4050792"/>
            <a:ext cx="1475188" cy="310896"/>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7 principios</a:t>
            </a:r>
            <a:endParaRPr lang="en-US" sz="1500" dirty="0"/>
          </a:p>
        </p:txBody>
      </p:sp>
      <p:sp>
        <p:nvSpPr>
          <p:cNvPr id="19" name="Text 16"/>
          <p:cNvSpPr/>
          <p:nvPr/>
        </p:nvSpPr>
        <p:spPr>
          <a:xfrm>
            <a:off x="548640" y="4361688"/>
            <a:ext cx="1475188" cy="731520"/>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seguridad, UUID, auditoría, tiempo, jerarquías, dominio y pruebas</a:t>
            </a:r>
            <a:endParaRPr lang="en-US" sz="1000" dirty="0"/>
          </a:p>
        </p:txBody>
      </p:sp>
      <p:sp>
        <p:nvSpPr>
          <p:cNvPr id="20" name="Shape 17"/>
          <p:cNvSpPr/>
          <p:nvPr/>
        </p:nvSpPr>
        <p:spPr>
          <a:xfrm>
            <a:off x="2133556" y="2240280"/>
            <a:ext cx="329184" cy="329184"/>
          </a:xfrm>
          <a:prstGeom prst="ellipse">
            <a:avLst/>
          </a:prstGeom>
          <a:solidFill>
            <a:srgbClr val="13232B"/>
          </a:solidFill>
          <a:ln/>
        </p:spPr>
      </p:sp>
      <p:sp>
        <p:nvSpPr>
          <p:cNvPr id="21" name="Text 18"/>
          <p:cNvSpPr/>
          <p:nvPr/>
        </p:nvSpPr>
        <p:spPr>
          <a:xfrm>
            <a:off x="2133556" y="2240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2</a:t>
            </a:r>
            <a:endParaRPr lang="en-US" sz="1100" dirty="0"/>
          </a:p>
        </p:txBody>
      </p:sp>
      <p:sp>
        <p:nvSpPr>
          <p:cNvPr id="22" name="Text 19"/>
          <p:cNvSpPr/>
          <p:nvPr/>
        </p:nvSpPr>
        <p:spPr>
          <a:xfrm>
            <a:off x="2133556" y="2697480"/>
            <a:ext cx="1475188" cy="274320"/>
          </a:xfrm>
          <a:prstGeom prst="rect">
            <a:avLst/>
          </a:prstGeom>
          <a:noFill/>
          <a:ln/>
        </p:spPr>
        <p:txBody>
          <a:bodyPr wrap="square" lIns="0" tIns="0" rIns="0" bIns="0" rtlCol="0" anchor="t"/>
          <a:lstStyle/>
          <a:p>
            <a:pPr indent="0" marL="0">
              <a:buNone/>
            </a:pPr>
            <a:r>
              <a:rPr lang="en-US" sz="900" b="1" dirty="0">
                <a:solidFill>
                  <a:srgbClr val="1D6B73"/>
                </a:solidFill>
                <a:latin typeface="Consolas" pitchFamily="34" charset="0"/>
                <a:ea typeface="Consolas" pitchFamily="34" charset="-122"/>
                <a:cs typeface="Consolas" pitchFamily="34" charset="-120"/>
              </a:rPr>
              <a:t>/speckit-specify</a:t>
            </a:r>
            <a:endParaRPr lang="en-US" sz="900" dirty="0"/>
          </a:p>
        </p:txBody>
      </p:sp>
      <p:sp>
        <p:nvSpPr>
          <p:cNvPr id="23" name="Text 20"/>
          <p:cNvSpPr/>
          <p:nvPr/>
        </p:nvSpPr>
        <p:spPr>
          <a:xfrm>
            <a:off x="2133556" y="2990088"/>
            <a:ext cx="1475188"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Qué y por qué</a:t>
            </a:r>
            <a:endParaRPr lang="en-US" sz="1500" dirty="0"/>
          </a:p>
        </p:txBody>
      </p:sp>
      <p:sp>
        <p:nvSpPr>
          <p:cNvPr id="24" name="Shape 21"/>
          <p:cNvSpPr/>
          <p:nvPr/>
        </p:nvSpPr>
        <p:spPr>
          <a:xfrm>
            <a:off x="2133556" y="3538728"/>
            <a:ext cx="1447756" cy="237744"/>
          </a:xfrm>
          <a:prstGeom prst="roundRect">
            <a:avLst>
              <a:gd name="adj" fmla="val 15385"/>
            </a:avLst>
          </a:prstGeom>
          <a:solidFill>
            <a:srgbClr val="FFFFFF"/>
          </a:solidFill>
          <a:ln w="6350">
            <a:solidFill>
              <a:srgbClr val="C8D3D8"/>
            </a:solidFill>
            <a:prstDash val="solid"/>
          </a:ln>
        </p:spPr>
      </p:sp>
      <p:sp>
        <p:nvSpPr>
          <p:cNvPr id="25" name="Text 22"/>
          <p:cNvSpPr/>
          <p:nvPr/>
        </p:nvSpPr>
        <p:spPr>
          <a:xfrm>
            <a:off x="2170132" y="3538728"/>
            <a:ext cx="1374604" cy="237744"/>
          </a:xfrm>
          <a:prstGeom prst="rect">
            <a:avLst/>
          </a:prstGeom>
          <a:noFill/>
          <a:ln/>
        </p:spPr>
        <p:txBody>
          <a:bodyPr wrap="square" lIns="0" tIns="0" rIns="0" bIns="0" rtlCol="0" anchor="ctr"/>
          <a:lstStyle/>
          <a:p>
            <a:pPr indent="0" marL="0">
              <a:buNone/>
            </a:pPr>
            <a:r>
              <a:rPr lang="en-US" sz="800" dirty="0">
                <a:solidFill>
                  <a:srgbClr val="13232B"/>
                </a:solidFill>
                <a:latin typeface="Consolas" pitchFamily="34" charset="0"/>
                <a:ea typeface="Consolas" pitchFamily="34" charset="-122"/>
                <a:cs typeface="Consolas" pitchFamily="34" charset="-120"/>
              </a:rPr>
              <a:t>spec.md</a:t>
            </a:r>
            <a:endParaRPr lang="en-US" sz="800" dirty="0"/>
          </a:p>
        </p:txBody>
      </p:sp>
      <p:sp>
        <p:nvSpPr>
          <p:cNvPr id="26" name="Text 23"/>
          <p:cNvSpPr/>
          <p:nvPr/>
        </p:nvSpPr>
        <p:spPr>
          <a:xfrm>
            <a:off x="2133556" y="4050792"/>
            <a:ext cx="1475188" cy="310896"/>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10 historias</a:t>
            </a:r>
            <a:endParaRPr lang="en-US" sz="1500" dirty="0"/>
          </a:p>
        </p:txBody>
      </p:sp>
      <p:sp>
        <p:nvSpPr>
          <p:cNvPr id="27" name="Text 24"/>
          <p:cNvSpPr/>
          <p:nvPr/>
        </p:nvSpPr>
        <p:spPr>
          <a:xfrm>
            <a:off x="2133556" y="4361688"/>
            <a:ext cx="1475188" cy="731520"/>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83 requisitos y 47 criterios de éxito</a:t>
            </a:r>
            <a:endParaRPr lang="en-US" sz="1000" dirty="0"/>
          </a:p>
        </p:txBody>
      </p:sp>
      <p:sp>
        <p:nvSpPr>
          <p:cNvPr id="28" name="Shape 25"/>
          <p:cNvSpPr/>
          <p:nvPr/>
        </p:nvSpPr>
        <p:spPr>
          <a:xfrm>
            <a:off x="3718473" y="2240280"/>
            <a:ext cx="329184" cy="329184"/>
          </a:xfrm>
          <a:prstGeom prst="ellipse">
            <a:avLst/>
          </a:prstGeom>
          <a:solidFill>
            <a:srgbClr val="13232B"/>
          </a:solidFill>
          <a:ln/>
        </p:spPr>
      </p:sp>
      <p:sp>
        <p:nvSpPr>
          <p:cNvPr id="29" name="Text 26"/>
          <p:cNvSpPr/>
          <p:nvPr/>
        </p:nvSpPr>
        <p:spPr>
          <a:xfrm>
            <a:off x="3718473" y="2240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3</a:t>
            </a:r>
            <a:endParaRPr lang="en-US" sz="1100" dirty="0"/>
          </a:p>
        </p:txBody>
      </p:sp>
      <p:sp>
        <p:nvSpPr>
          <p:cNvPr id="30" name="Text 27"/>
          <p:cNvSpPr/>
          <p:nvPr/>
        </p:nvSpPr>
        <p:spPr>
          <a:xfrm>
            <a:off x="3718473" y="2697480"/>
            <a:ext cx="1475188" cy="274320"/>
          </a:xfrm>
          <a:prstGeom prst="rect">
            <a:avLst/>
          </a:prstGeom>
          <a:noFill/>
          <a:ln/>
        </p:spPr>
        <p:txBody>
          <a:bodyPr wrap="square" lIns="0" tIns="0" rIns="0" bIns="0" rtlCol="0" anchor="t"/>
          <a:lstStyle/>
          <a:p>
            <a:pPr indent="0" marL="0">
              <a:buNone/>
            </a:pPr>
            <a:r>
              <a:rPr lang="en-US" sz="900" b="1" dirty="0">
                <a:solidFill>
                  <a:srgbClr val="1D6B73"/>
                </a:solidFill>
                <a:latin typeface="Consolas" pitchFamily="34" charset="0"/>
                <a:ea typeface="Consolas" pitchFamily="34" charset="-122"/>
                <a:cs typeface="Consolas" pitchFamily="34" charset="-120"/>
              </a:rPr>
              <a:t>/speckit-clarify</a:t>
            </a:r>
            <a:endParaRPr lang="en-US" sz="900" dirty="0"/>
          </a:p>
        </p:txBody>
      </p:sp>
      <p:sp>
        <p:nvSpPr>
          <p:cNvPr id="31" name="Text 28"/>
          <p:cNvSpPr/>
          <p:nvPr/>
        </p:nvSpPr>
        <p:spPr>
          <a:xfrm>
            <a:off x="3718473" y="2990088"/>
            <a:ext cx="1475188"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Quitar ambigüedad</a:t>
            </a:r>
            <a:endParaRPr lang="en-US" sz="1500" dirty="0"/>
          </a:p>
        </p:txBody>
      </p:sp>
      <p:sp>
        <p:nvSpPr>
          <p:cNvPr id="32" name="Shape 29"/>
          <p:cNvSpPr/>
          <p:nvPr/>
        </p:nvSpPr>
        <p:spPr>
          <a:xfrm>
            <a:off x="3718473" y="3538728"/>
            <a:ext cx="1447756" cy="237744"/>
          </a:xfrm>
          <a:prstGeom prst="roundRect">
            <a:avLst>
              <a:gd name="adj" fmla="val 15385"/>
            </a:avLst>
          </a:prstGeom>
          <a:solidFill>
            <a:srgbClr val="FFFFFF"/>
          </a:solidFill>
          <a:ln w="6350">
            <a:solidFill>
              <a:srgbClr val="C8D3D8"/>
            </a:solidFill>
            <a:prstDash val="solid"/>
          </a:ln>
        </p:spPr>
      </p:sp>
      <p:sp>
        <p:nvSpPr>
          <p:cNvPr id="33" name="Text 30"/>
          <p:cNvSpPr/>
          <p:nvPr/>
        </p:nvSpPr>
        <p:spPr>
          <a:xfrm>
            <a:off x="3755049" y="3538728"/>
            <a:ext cx="1374604" cy="237744"/>
          </a:xfrm>
          <a:prstGeom prst="rect">
            <a:avLst/>
          </a:prstGeom>
          <a:noFill/>
          <a:ln/>
        </p:spPr>
        <p:txBody>
          <a:bodyPr wrap="square" lIns="0" tIns="0" rIns="0" bIns="0" rtlCol="0" anchor="ctr"/>
          <a:lstStyle/>
          <a:p>
            <a:pPr indent="0" marL="0">
              <a:buNone/>
            </a:pPr>
            <a:r>
              <a:rPr lang="en-US" sz="800" dirty="0">
                <a:solidFill>
                  <a:srgbClr val="13232B"/>
                </a:solidFill>
                <a:latin typeface="Consolas" pitchFamily="34" charset="0"/>
                <a:ea typeface="Consolas" pitchFamily="34" charset="-122"/>
                <a:cs typeface="Consolas" pitchFamily="34" charset="-120"/>
              </a:rPr>
              <a:t>Clarifications</a:t>
            </a:r>
            <a:endParaRPr lang="en-US" sz="800" dirty="0"/>
          </a:p>
        </p:txBody>
      </p:sp>
      <p:sp>
        <p:nvSpPr>
          <p:cNvPr id="34" name="Text 31"/>
          <p:cNvSpPr/>
          <p:nvPr/>
        </p:nvSpPr>
        <p:spPr>
          <a:xfrm>
            <a:off x="3718473" y="4050792"/>
            <a:ext cx="1475188" cy="310896"/>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17 sesiones</a:t>
            </a:r>
            <a:endParaRPr lang="en-US" sz="1500" dirty="0"/>
          </a:p>
        </p:txBody>
      </p:sp>
      <p:sp>
        <p:nvSpPr>
          <p:cNvPr id="35" name="Text 32"/>
          <p:cNvSpPr/>
          <p:nvPr/>
        </p:nvSpPr>
        <p:spPr>
          <a:xfrm>
            <a:off x="3718473" y="4361688"/>
            <a:ext cx="1475188" cy="731520"/>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decisiones de negocio escritas en la propia spec</a:t>
            </a:r>
            <a:endParaRPr lang="en-US" sz="1000" dirty="0"/>
          </a:p>
        </p:txBody>
      </p:sp>
      <p:sp>
        <p:nvSpPr>
          <p:cNvPr id="36" name="Shape 33"/>
          <p:cNvSpPr/>
          <p:nvPr/>
        </p:nvSpPr>
        <p:spPr>
          <a:xfrm>
            <a:off x="5303389" y="2240280"/>
            <a:ext cx="329184" cy="329184"/>
          </a:xfrm>
          <a:prstGeom prst="ellipse">
            <a:avLst/>
          </a:prstGeom>
          <a:solidFill>
            <a:srgbClr val="13232B"/>
          </a:solidFill>
          <a:ln/>
        </p:spPr>
      </p:sp>
      <p:sp>
        <p:nvSpPr>
          <p:cNvPr id="37" name="Text 34"/>
          <p:cNvSpPr/>
          <p:nvPr/>
        </p:nvSpPr>
        <p:spPr>
          <a:xfrm>
            <a:off x="5303389" y="2240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4</a:t>
            </a:r>
            <a:endParaRPr lang="en-US" sz="1100" dirty="0"/>
          </a:p>
        </p:txBody>
      </p:sp>
      <p:sp>
        <p:nvSpPr>
          <p:cNvPr id="38" name="Text 35"/>
          <p:cNvSpPr/>
          <p:nvPr/>
        </p:nvSpPr>
        <p:spPr>
          <a:xfrm>
            <a:off x="5303389" y="2697480"/>
            <a:ext cx="1475188" cy="274320"/>
          </a:xfrm>
          <a:prstGeom prst="rect">
            <a:avLst/>
          </a:prstGeom>
          <a:noFill/>
          <a:ln/>
        </p:spPr>
        <p:txBody>
          <a:bodyPr wrap="square" lIns="0" tIns="0" rIns="0" bIns="0" rtlCol="0" anchor="t"/>
          <a:lstStyle/>
          <a:p>
            <a:pPr indent="0" marL="0">
              <a:buNone/>
            </a:pPr>
            <a:r>
              <a:rPr lang="en-US" sz="900" b="1" dirty="0">
                <a:solidFill>
                  <a:srgbClr val="1D6B73"/>
                </a:solidFill>
                <a:latin typeface="Consolas" pitchFamily="34" charset="0"/>
                <a:ea typeface="Consolas" pitchFamily="34" charset="-122"/>
                <a:cs typeface="Consolas" pitchFamily="34" charset="-120"/>
              </a:rPr>
              <a:t>/speckit-plan</a:t>
            </a:r>
            <a:endParaRPr lang="en-US" sz="900" dirty="0"/>
          </a:p>
        </p:txBody>
      </p:sp>
      <p:sp>
        <p:nvSpPr>
          <p:cNvPr id="39" name="Text 36"/>
          <p:cNvSpPr/>
          <p:nvPr/>
        </p:nvSpPr>
        <p:spPr>
          <a:xfrm>
            <a:off x="5303389" y="2990088"/>
            <a:ext cx="1475188"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Cómo construirlo</a:t>
            </a:r>
            <a:endParaRPr lang="en-US" sz="1500" dirty="0"/>
          </a:p>
        </p:txBody>
      </p:sp>
      <p:sp>
        <p:nvSpPr>
          <p:cNvPr id="40" name="Shape 37"/>
          <p:cNvSpPr/>
          <p:nvPr/>
        </p:nvSpPr>
        <p:spPr>
          <a:xfrm>
            <a:off x="5303389" y="3538728"/>
            <a:ext cx="1447756" cy="420624"/>
          </a:xfrm>
          <a:prstGeom prst="roundRect">
            <a:avLst>
              <a:gd name="adj" fmla="val 8696"/>
            </a:avLst>
          </a:prstGeom>
          <a:solidFill>
            <a:srgbClr val="FFFFFF"/>
          </a:solidFill>
          <a:ln w="6350">
            <a:solidFill>
              <a:srgbClr val="C8D3D8"/>
            </a:solidFill>
            <a:prstDash val="solid"/>
          </a:ln>
        </p:spPr>
      </p:sp>
      <p:sp>
        <p:nvSpPr>
          <p:cNvPr id="41" name="Text 38"/>
          <p:cNvSpPr/>
          <p:nvPr/>
        </p:nvSpPr>
        <p:spPr>
          <a:xfrm>
            <a:off x="5339965" y="3538728"/>
            <a:ext cx="1374604" cy="420624"/>
          </a:xfrm>
          <a:prstGeom prst="rect">
            <a:avLst/>
          </a:prstGeom>
          <a:noFill/>
          <a:ln/>
        </p:spPr>
        <p:txBody>
          <a:bodyPr wrap="square" lIns="0" tIns="0" rIns="0" bIns="0" rtlCol="0" anchor="ctr"/>
          <a:lstStyle/>
          <a:p>
            <a:pPr indent="0" marL="0">
              <a:buNone/>
            </a:pPr>
            <a:r>
              <a:rPr lang="en-US" sz="800" dirty="0">
                <a:solidFill>
                  <a:srgbClr val="13232B"/>
                </a:solidFill>
                <a:latin typeface="Consolas" pitchFamily="34" charset="0"/>
                <a:ea typeface="Consolas" pitchFamily="34" charset="-122"/>
                <a:cs typeface="Consolas" pitchFamily="34" charset="-120"/>
              </a:rPr>
              <a:t>plan · research · data-model · contracts</a:t>
            </a:r>
            <a:endParaRPr lang="en-US" sz="800" dirty="0"/>
          </a:p>
        </p:txBody>
      </p:sp>
      <p:sp>
        <p:nvSpPr>
          <p:cNvPr id="42" name="Text 39"/>
          <p:cNvSpPr/>
          <p:nvPr/>
        </p:nvSpPr>
        <p:spPr>
          <a:xfrm>
            <a:off x="5303389" y="4050792"/>
            <a:ext cx="1475188" cy="310896"/>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36 decisiones</a:t>
            </a:r>
            <a:endParaRPr lang="en-US" sz="1500" dirty="0"/>
          </a:p>
        </p:txBody>
      </p:sp>
      <p:sp>
        <p:nvSpPr>
          <p:cNvPr id="43" name="Text 40"/>
          <p:cNvSpPr/>
          <p:nvPr/>
        </p:nvSpPr>
        <p:spPr>
          <a:xfrm>
            <a:off x="5303389" y="4361688"/>
            <a:ext cx="1475188" cy="731520"/>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22 entidades y 10 contratos OpenAPI</a:t>
            </a:r>
            <a:endParaRPr lang="en-US" sz="1000" dirty="0"/>
          </a:p>
        </p:txBody>
      </p:sp>
      <p:sp>
        <p:nvSpPr>
          <p:cNvPr id="44" name="Shape 41"/>
          <p:cNvSpPr/>
          <p:nvPr/>
        </p:nvSpPr>
        <p:spPr>
          <a:xfrm>
            <a:off x="6888306" y="2240280"/>
            <a:ext cx="329184" cy="329184"/>
          </a:xfrm>
          <a:prstGeom prst="ellipse">
            <a:avLst/>
          </a:prstGeom>
          <a:solidFill>
            <a:srgbClr val="13232B"/>
          </a:solidFill>
          <a:ln/>
        </p:spPr>
      </p:sp>
      <p:sp>
        <p:nvSpPr>
          <p:cNvPr id="45" name="Text 42"/>
          <p:cNvSpPr/>
          <p:nvPr/>
        </p:nvSpPr>
        <p:spPr>
          <a:xfrm>
            <a:off x="6888306" y="2240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5</a:t>
            </a:r>
            <a:endParaRPr lang="en-US" sz="1100" dirty="0"/>
          </a:p>
        </p:txBody>
      </p:sp>
      <p:sp>
        <p:nvSpPr>
          <p:cNvPr id="46" name="Text 43"/>
          <p:cNvSpPr/>
          <p:nvPr/>
        </p:nvSpPr>
        <p:spPr>
          <a:xfrm>
            <a:off x="6888306" y="2697480"/>
            <a:ext cx="1475188" cy="274320"/>
          </a:xfrm>
          <a:prstGeom prst="rect">
            <a:avLst/>
          </a:prstGeom>
          <a:noFill/>
          <a:ln/>
        </p:spPr>
        <p:txBody>
          <a:bodyPr wrap="square" lIns="0" tIns="0" rIns="0" bIns="0" rtlCol="0" anchor="t"/>
          <a:lstStyle/>
          <a:p>
            <a:pPr indent="0" marL="0">
              <a:buNone/>
            </a:pPr>
            <a:r>
              <a:rPr lang="en-US" sz="900" b="1" dirty="0">
                <a:solidFill>
                  <a:srgbClr val="1D6B73"/>
                </a:solidFill>
                <a:latin typeface="Consolas" pitchFamily="34" charset="0"/>
                <a:ea typeface="Consolas" pitchFamily="34" charset="-122"/>
                <a:cs typeface="Consolas" pitchFamily="34" charset="-120"/>
              </a:rPr>
              <a:t>/speckit-tasks</a:t>
            </a:r>
            <a:endParaRPr lang="en-US" sz="900" dirty="0"/>
          </a:p>
        </p:txBody>
      </p:sp>
      <p:sp>
        <p:nvSpPr>
          <p:cNvPr id="47" name="Text 44"/>
          <p:cNvSpPr/>
          <p:nvPr/>
        </p:nvSpPr>
        <p:spPr>
          <a:xfrm>
            <a:off x="6888306" y="2990088"/>
            <a:ext cx="1475188"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Descomponer</a:t>
            </a:r>
            <a:endParaRPr lang="en-US" sz="1500" dirty="0"/>
          </a:p>
        </p:txBody>
      </p:sp>
      <p:sp>
        <p:nvSpPr>
          <p:cNvPr id="48" name="Shape 45"/>
          <p:cNvSpPr/>
          <p:nvPr/>
        </p:nvSpPr>
        <p:spPr>
          <a:xfrm>
            <a:off x="6888306" y="3538728"/>
            <a:ext cx="1447756" cy="237744"/>
          </a:xfrm>
          <a:prstGeom prst="roundRect">
            <a:avLst>
              <a:gd name="adj" fmla="val 15385"/>
            </a:avLst>
          </a:prstGeom>
          <a:solidFill>
            <a:srgbClr val="FFFFFF"/>
          </a:solidFill>
          <a:ln w="6350">
            <a:solidFill>
              <a:srgbClr val="C8D3D8"/>
            </a:solidFill>
            <a:prstDash val="solid"/>
          </a:ln>
        </p:spPr>
      </p:sp>
      <p:sp>
        <p:nvSpPr>
          <p:cNvPr id="49" name="Text 46"/>
          <p:cNvSpPr/>
          <p:nvPr/>
        </p:nvSpPr>
        <p:spPr>
          <a:xfrm>
            <a:off x="6924882" y="3538728"/>
            <a:ext cx="1374604" cy="237744"/>
          </a:xfrm>
          <a:prstGeom prst="rect">
            <a:avLst/>
          </a:prstGeom>
          <a:noFill/>
          <a:ln/>
        </p:spPr>
        <p:txBody>
          <a:bodyPr wrap="square" lIns="0" tIns="0" rIns="0" bIns="0" rtlCol="0" anchor="ctr"/>
          <a:lstStyle/>
          <a:p>
            <a:pPr indent="0" marL="0">
              <a:buNone/>
            </a:pPr>
            <a:r>
              <a:rPr lang="en-US" sz="800" dirty="0">
                <a:solidFill>
                  <a:srgbClr val="13232B"/>
                </a:solidFill>
                <a:latin typeface="Consolas" pitchFamily="34" charset="0"/>
                <a:ea typeface="Consolas" pitchFamily="34" charset="-122"/>
                <a:cs typeface="Consolas" pitchFamily="34" charset="-120"/>
              </a:rPr>
              <a:t>tasks.md</a:t>
            </a:r>
            <a:endParaRPr lang="en-US" sz="800" dirty="0"/>
          </a:p>
        </p:txBody>
      </p:sp>
      <p:sp>
        <p:nvSpPr>
          <p:cNvPr id="50" name="Text 47"/>
          <p:cNvSpPr/>
          <p:nvPr/>
        </p:nvSpPr>
        <p:spPr>
          <a:xfrm>
            <a:off x="6888306" y="4050792"/>
            <a:ext cx="1475188" cy="310896"/>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312 tareas</a:t>
            </a:r>
            <a:endParaRPr lang="en-US" sz="1500" dirty="0"/>
          </a:p>
        </p:txBody>
      </p:sp>
      <p:sp>
        <p:nvSpPr>
          <p:cNvPr id="51" name="Text 48"/>
          <p:cNvSpPr/>
          <p:nvPr/>
        </p:nvSpPr>
        <p:spPr>
          <a:xfrm>
            <a:off x="6888306" y="4361688"/>
            <a:ext cx="1475188" cy="731520"/>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cada una con archivo, dependencia y requisito</a:t>
            </a:r>
            <a:endParaRPr lang="en-US" sz="1000" dirty="0"/>
          </a:p>
        </p:txBody>
      </p:sp>
      <p:sp>
        <p:nvSpPr>
          <p:cNvPr id="52" name="Shape 49"/>
          <p:cNvSpPr/>
          <p:nvPr/>
        </p:nvSpPr>
        <p:spPr>
          <a:xfrm>
            <a:off x="8473222" y="2240280"/>
            <a:ext cx="329184" cy="329184"/>
          </a:xfrm>
          <a:prstGeom prst="ellipse">
            <a:avLst/>
          </a:prstGeom>
          <a:solidFill>
            <a:srgbClr val="F2B233"/>
          </a:solidFill>
          <a:ln/>
        </p:spPr>
      </p:sp>
      <p:sp>
        <p:nvSpPr>
          <p:cNvPr id="53" name="Text 50"/>
          <p:cNvSpPr/>
          <p:nvPr/>
        </p:nvSpPr>
        <p:spPr>
          <a:xfrm>
            <a:off x="8473222" y="2240280"/>
            <a:ext cx="329184" cy="329184"/>
          </a:xfrm>
          <a:prstGeom prst="rect">
            <a:avLst/>
          </a:prstGeom>
          <a:noFill/>
          <a:ln/>
        </p:spPr>
        <p:txBody>
          <a:bodyPr wrap="square" lIns="0" tIns="0" rIns="0" bIns="0" rtlCol="0" anchor="ctr"/>
          <a:lstStyle/>
          <a:p>
            <a:pPr algn="ctr" indent="0" marL="0">
              <a:buNone/>
            </a:pPr>
            <a:r>
              <a:rPr lang="en-US" sz="1100" b="1" dirty="0">
                <a:solidFill>
                  <a:srgbClr val="13232B"/>
                </a:solidFill>
                <a:latin typeface="Consolas" pitchFamily="34" charset="0"/>
                <a:ea typeface="Consolas" pitchFamily="34" charset="-122"/>
                <a:cs typeface="Consolas" pitchFamily="34" charset="-120"/>
              </a:rPr>
              <a:t>6</a:t>
            </a:r>
            <a:endParaRPr lang="en-US" sz="1100" dirty="0"/>
          </a:p>
        </p:txBody>
      </p:sp>
      <p:sp>
        <p:nvSpPr>
          <p:cNvPr id="54" name="Text 51"/>
          <p:cNvSpPr/>
          <p:nvPr/>
        </p:nvSpPr>
        <p:spPr>
          <a:xfrm>
            <a:off x="8473222" y="2697480"/>
            <a:ext cx="1475188" cy="274320"/>
          </a:xfrm>
          <a:prstGeom prst="rect">
            <a:avLst/>
          </a:prstGeom>
          <a:noFill/>
          <a:ln/>
        </p:spPr>
        <p:txBody>
          <a:bodyPr wrap="square" lIns="0" tIns="0" rIns="0" bIns="0" rtlCol="0" anchor="t"/>
          <a:lstStyle/>
          <a:p>
            <a:pPr indent="0" marL="0">
              <a:buNone/>
            </a:pPr>
            <a:r>
              <a:rPr lang="en-US" sz="900" b="1" dirty="0">
                <a:solidFill>
                  <a:srgbClr val="1D6B73"/>
                </a:solidFill>
                <a:latin typeface="Consolas" pitchFamily="34" charset="0"/>
                <a:ea typeface="Consolas" pitchFamily="34" charset="-122"/>
                <a:cs typeface="Consolas" pitchFamily="34" charset="-120"/>
              </a:rPr>
              <a:t>/speckit-analyze</a:t>
            </a:r>
            <a:endParaRPr lang="en-US" sz="900" dirty="0"/>
          </a:p>
        </p:txBody>
      </p:sp>
      <p:sp>
        <p:nvSpPr>
          <p:cNvPr id="55" name="Text 52"/>
          <p:cNvSpPr/>
          <p:nvPr/>
        </p:nvSpPr>
        <p:spPr>
          <a:xfrm>
            <a:off x="8473222" y="2990088"/>
            <a:ext cx="1475188"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Verificar antes de construir</a:t>
            </a:r>
            <a:endParaRPr lang="en-US" sz="1500" dirty="0"/>
          </a:p>
        </p:txBody>
      </p:sp>
      <p:sp>
        <p:nvSpPr>
          <p:cNvPr id="56" name="Shape 53"/>
          <p:cNvSpPr/>
          <p:nvPr/>
        </p:nvSpPr>
        <p:spPr>
          <a:xfrm>
            <a:off x="8473222" y="3538728"/>
            <a:ext cx="1447756" cy="420624"/>
          </a:xfrm>
          <a:prstGeom prst="roundRect">
            <a:avLst>
              <a:gd name="adj" fmla="val 8696"/>
            </a:avLst>
          </a:prstGeom>
          <a:solidFill>
            <a:srgbClr val="FDF1D6"/>
          </a:solidFill>
          <a:ln/>
        </p:spPr>
      </p:sp>
      <p:sp>
        <p:nvSpPr>
          <p:cNvPr id="57" name="Text 54"/>
          <p:cNvSpPr/>
          <p:nvPr/>
        </p:nvSpPr>
        <p:spPr>
          <a:xfrm>
            <a:off x="8509798" y="3538728"/>
            <a:ext cx="1374604" cy="420624"/>
          </a:xfrm>
          <a:prstGeom prst="rect">
            <a:avLst/>
          </a:prstGeom>
          <a:noFill/>
          <a:ln/>
        </p:spPr>
        <p:txBody>
          <a:bodyPr wrap="square" lIns="0" tIns="0" rIns="0" bIns="0" rtlCol="0" anchor="ctr"/>
          <a:lstStyle/>
          <a:p>
            <a:pPr indent="0" marL="0">
              <a:buNone/>
            </a:pPr>
            <a:r>
              <a:rPr lang="en-US" sz="800" b="1" dirty="0">
                <a:solidFill>
                  <a:srgbClr val="8A5A00"/>
                </a:solidFill>
                <a:latin typeface="Consolas" pitchFamily="34" charset="0"/>
                <a:ea typeface="Consolas" pitchFamily="34" charset="-122"/>
                <a:cs typeface="Consolas" pitchFamily="34" charset="-120"/>
              </a:rPr>
              <a:t>informe de solo lectura</a:t>
            </a:r>
            <a:endParaRPr lang="en-US" sz="800" dirty="0"/>
          </a:p>
        </p:txBody>
      </p:sp>
      <p:sp>
        <p:nvSpPr>
          <p:cNvPr id="58" name="Text 55"/>
          <p:cNvSpPr/>
          <p:nvPr/>
        </p:nvSpPr>
        <p:spPr>
          <a:xfrm>
            <a:off x="8473222" y="4050792"/>
            <a:ext cx="1475188" cy="310896"/>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Coherencia</a:t>
            </a:r>
            <a:endParaRPr lang="en-US" sz="1500" dirty="0"/>
          </a:p>
        </p:txBody>
      </p:sp>
      <p:sp>
        <p:nvSpPr>
          <p:cNvPr id="59" name="Text 56"/>
          <p:cNvSpPr/>
          <p:nvPr/>
        </p:nvSpPr>
        <p:spPr>
          <a:xfrm>
            <a:off x="8473222" y="4361688"/>
            <a:ext cx="1475188" cy="731520"/>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spec, plan y tareas cruzados con la constitución</a:t>
            </a:r>
            <a:endParaRPr lang="en-US" sz="1000" dirty="0"/>
          </a:p>
        </p:txBody>
      </p:sp>
      <p:sp>
        <p:nvSpPr>
          <p:cNvPr id="60" name="Shape 57"/>
          <p:cNvSpPr/>
          <p:nvPr/>
        </p:nvSpPr>
        <p:spPr>
          <a:xfrm>
            <a:off x="10058139" y="2240280"/>
            <a:ext cx="329184" cy="329184"/>
          </a:xfrm>
          <a:prstGeom prst="ellipse">
            <a:avLst/>
          </a:prstGeom>
          <a:solidFill>
            <a:srgbClr val="13232B"/>
          </a:solidFill>
          <a:ln/>
        </p:spPr>
      </p:sp>
      <p:sp>
        <p:nvSpPr>
          <p:cNvPr id="61" name="Text 58"/>
          <p:cNvSpPr/>
          <p:nvPr/>
        </p:nvSpPr>
        <p:spPr>
          <a:xfrm>
            <a:off x="10058139" y="2240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7</a:t>
            </a:r>
            <a:endParaRPr lang="en-US" sz="1100" dirty="0"/>
          </a:p>
        </p:txBody>
      </p:sp>
      <p:sp>
        <p:nvSpPr>
          <p:cNvPr id="62" name="Text 59"/>
          <p:cNvSpPr/>
          <p:nvPr/>
        </p:nvSpPr>
        <p:spPr>
          <a:xfrm>
            <a:off x="10058139" y="2697480"/>
            <a:ext cx="1475188" cy="274320"/>
          </a:xfrm>
          <a:prstGeom prst="rect">
            <a:avLst/>
          </a:prstGeom>
          <a:noFill/>
          <a:ln/>
        </p:spPr>
        <p:txBody>
          <a:bodyPr wrap="square" lIns="0" tIns="0" rIns="0" bIns="0" rtlCol="0" anchor="t"/>
          <a:lstStyle/>
          <a:p>
            <a:pPr indent="0" marL="0">
              <a:buNone/>
            </a:pPr>
            <a:r>
              <a:rPr lang="en-US" sz="900" b="1" dirty="0">
                <a:solidFill>
                  <a:srgbClr val="1D6B73"/>
                </a:solidFill>
                <a:latin typeface="Consolas" pitchFamily="34" charset="0"/>
                <a:ea typeface="Consolas" pitchFamily="34" charset="-122"/>
                <a:cs typeface="Consolas" pitchFamily="34" charset="-120"/>
              </a:rPr>
              <a:t>/speckit-implement</a:t>
            </a:r>
            <a:endParaRPr lang="en-US" sz="900" dirty="0"/>
          </a:p>
        </p:txBody>
      </p:sp>
      <p:sp>
        <p:nvSpPr>
          <p:cNvPr id="63" name="Text 60"/>
          <p:cNvSpPr/>
          <p:nvPr/>
        </p:nvSpPr>
        <p:spPr>
          <a:xfrm>
            <a:off x="10058139" y="2990088"/>
            <a:ext cx="1475188"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Construir y probar</a:t>
            </a:r>
            <a:endParaRPr lang="en-US" sz="1500" dirty="0"/>
          </a:p>
        </p:txBody>
      </p:sp>
      <p:sp>
        <p:nvSpPr>
          <p:cNvPr id="64" name="Shape 61"/>
          <p:cNvSpPr/>
          <p:nvPr/>
        </p:nvSpPr>
        <p:spPr>
          <a:xfrm>
            <a:off x="10058139" y="3538728"/>
            <a:ext cx="1447756" cy="237744"/>
          </a:xfrm>
          <a:prstGeom prst="roundRect">
            <a:avLst>
              <a:gd name="adj" fmla="val 15385"/>
            </a:avLst>
          </a:prstGeom>
          <a:solidFill>
            <a:srgbClr val="DCECEE"/>
          </a:solidFill>
          <a:ln/>
        </p:spPr>
      </p:sp>
      <p:sp>
        <p:nvSpPr>
          <p:cNvPr id="65" name="Text 62"/>
          <p:cNvSpPr/>
          <p:nvPr/>
        </p:nvSpPr>
        <p:spPr>
          <a:xfrm>
            <a:off x="10094715" y="3538728"/>
            <a:ext cx="1374604" cy="237744"/>
          </a:xfrm>
          <a:prstGeom prst="rect">
            <a:avLst/>
          </a:prstGeom>
          <a:noFill/>
          <a:ln/>
        </p:spPr>
        <p:txBody>
          <a:bodyPr wrap="square" lIns="0" tIns="0" rIns="0" bIns="0" rtlCol="0" anchor="ctr"/>
          <a:lstStyle/>
          <a:p>
            <a:pPr indent="0" marL="0">
              <a:buNone/>
            </a:pPr>
            <a:r>
              <a:rPr lang="en-US" sz="800" b="1" dirty="0">
                <a:solidFill>
                  <a:srgbClr val="1D6B73"/>
                </a:solidFill>
                <a:latin typeface="Consolas" pitchFamily="34" charset="0"/>
                <a:ea typeface="Consolas" pitchFamily="34" charset="-122"/>
                <a:cs typeface="Consolas" pitchFamily="34" charset="-120"/>
              </a:rPr>
              <a:t>código + pruebas</a:t>
            </a:r>
            <a:endParaRPr lang="en-US" sz="800" dirty="0"/>
          </a:p>
        </p:txBody>
      </p:sp>
      <p:sp>
        <p:nvSpPr>
          <p:cNvPr id="66" name="Text 63"/>
          <p:cNvSpPr/>
          <p:nvPr/>
        </p:nvSpPr>
        <p:spPr>
          <a:xfrm>
            <a:off x="10058139" y="4050792"/>
            <a:ext cx="1475188" cy="310896"/>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tareas [X]</a:t>
            </a:r>
            <a:endParaRPr lang="en-US" sz="1500" dirty="0"/>
          </a:p>
        </p:txBody>
      </p:sp>
      <p:sp>
        <p:nvSpPr>
          <p:cNvPr id="67" name="Text 64"/>
          <p:cNvSpPr/>
          <p:nvPr/>
        </p:nvSpPr>
        <p:spPr>
          <a:xfrm>
            <a:off x="10058139" y="4361688"/>
            <a:ext cx="1475188" cy="731520"/>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con evidencia de cada suite</a:t>
            </a:r>
            <a:endParaRPr lang="en-US" sz="1000" dirty="0"/>
          </a:p>
        </p:txBody>
      </p:sp>
      <p:sp>
        <p:nvSpPr>
          <p:cNvPr id="68" name="Shape 65"/>
          <p:cNvSpPr/>
          <p:nvPr/>
        </p:nvSpPr>
        <p:spPr>
          <a:xfrm>
            <a:off x="548640" y="5120640"/>
            <a:ext cx="11094415" cy="868680"/>
          </a:xfrm>
          <a:prstGeom prst="roundRect">
            <a:avLst>
              <a:gd name="adj" fmla="val 6316"/>
            </a:avLst>
          </a:prstGeom>
          <a:solidFill>
            <a:srgbClr val="FDF1D6"/>
          </a:solidFill>
          <a:ln w="15875">
            <a:solidFill>
              <a:srgbClr val="F2B233"/>
            </a:solidFill>
            <a:prstDash val="dash"/>
          </a:ln>
        </p:spPr>
      </p:sp>
      <p:sp>
        <p:nvSpPr>
          <p:cNvPr id="69" name="Shape 66"/>
          <p:cNvSpPr/>
          <p:nvPr/>
        </p:nvSpPr>
        <p:spPr>
          <a:xfrm>
            <a:off x="777240" y="5330952"/>
            <a:ext cx="438912" cy="438912"/>
          </a:xfrm>
          <a:prstGeom prst="arc">
            <a:avLst>
              <a:gd name="adj1" fmla="val 2700000"/>
              <a:gd name="adj2" fmla="val 21600000"/>
            </a:avLst>
          </a:prstGeom>
          <a:ln w="25400">
            <a:solidFill>
              <a:srgbClr val="8A5A00"/>
            </a:solidFill>
            <a:prstDash val="solid"/>
          </a:ln>
        </p:spPr>
      </p:sp>
      <p:sp>
        <p:nvSpPr>
          <p:cNvPr id="70" name="Text 67"/>
          <p:cNvSpPr/>
          <p:nvPr/>
        </p:nvSpPr>
        <p:spPr>
          <a:xfrm>
            <a:off x="1417320" y="5212080"/>
            <a:ext cx="10042855" cy="685800"/>
          </a:xfrm>
          <a:prstGeom prst="rect">
            <a:avLst/>
          </a:prstGeom>
          <a:noFill/>
          <a:ln/>
        </p:spPr>
        <p:txBody>
          <a:bodyPr wrap="square" lIns="0" tIns="0" rIns="0" bIns="0" rtlCol="0" anchor="ctr"/>
          <a:lstStyle/>
          <a:p>
            <a:pPr indent="0" marL="0">
              <a:buNone/>
            </a:pPr>
            <a:r>
              <a:rPr lang="en-US" sz="1200" b="1" dirty="0">
                <a:solidFill>
                  <a:srgbClr val="13232B"/>
                </a:solidFill>
                <a:latin typeface="Segoe UI" pitchFamily="34" charset="0"/>
                <a:ea typeface="Segoe UI" pitchFamily="34" charset="-122"/>
                <a:cs typeface="Segoe UI" pitchFamily="34" charset="-120"/>
              </a:rPr>
              <a:t>Bucle de control. </a:t>
            </a:r>
            <a:pPr indent="0" marL="0">
              <a:buNone/>
            </a:pPr>
            <a:r>
              <a:rPr lang="en-US" sz="1200" dirty="0">
                <a:solidFill>
                  <a:srgbClr val="13232B"/>
                </a:solidFill>
                <a:latin typeface="Segoe UI" pitchFamily="34" charset="0"/>
                <a:ea typeface="Segoe UI" pitchFamily="34" charset="-122"/>
                <a:cs typeface="Segoe UI" pitchFamily="34" charset="-120"/>
              </a:rPr>
              <a:t>Si /speckit-analyze encuentra contradicciones, se corrigen la spec, el plan o las tareas y se vuelve a analizar. Solo se implementa con cero hallazgos críticos; en el cambio VF-004 hicieron falta tres pasadas.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38912" cy="274320"/>
          </a:xfrm>
          <a:prstGeom prst="rect">
            <a:avLst/>
          </a:prstGeom>
          <a:solidFill>
            <a:srgbClr val="F2B233"/>
          </a:solidFill>
          <a:ln/>
        </p:spPr>
      </p:sp>
      <p:sp>
        <p:nvSpPr>
          <p:cNvPr id="3" name="Text 1"/>
          <p:cNvSpPr/>
          <p:nvPr/>
        </p:nvSpPr>
        <p:spPr>
          <a:xfrm>
            <a:off x="548640" y="329184"/>
            <a:ext cx="438912" cy="274320"/>
          </a:xfrm>
          <a:prstGeom prst="rect">
            <a:avLst/>
          </a:prstGeom>
          <a:noFill/>
          <a:ln/>
        </p:spPr>
        <p:txBody>
          <a:bodyPr wrap="square" lIns="0" tIns="0" rIns="0" bIns="0" rtlCol="0" anchor="ctr"/>
          <a:lstStyle/>
          <a:p>
            <a:pPr algn="ctr" indent="0" marL="0">
              <a:buNone/>
            </a:pPr>
            <a:r>
              <a:rPr lang="en-US" sz="1100" b="1" dirty="0">
                <a:solidFill>
                  <a:srgbClr val="13232B"/>
                </a:solidFill>
                <a:latin typeface="Consolas" pitchFamily="34" charset="0"/>
                <a:ea typeface="Consolas" pitchFamily="34" charset="-122"/>
                <a:cs typeface="Consolas" pitchFamily="34" charset="-120"/>
              </a:rPr>
              <a:t>04</a:t>
            </a:r>
            <a:endParaRPr lang="en-US" sz="1100" dirty="0"/>
          </a:p>
        </p:txBody>
      </p:sp>
      <p:sp>
        <p:nvSpPr>
          <p:cNvPr id="4" name="Text 2"/>
          <p:cNvSpPr/>
          <p:nvPr/>
        </p:nvSpPr>
        <p:spPr>
          <a:xfrm>
            <a:off x="1115568" y="329184"/>
            <a:ext cx="5486400" cy="274320"/>
          </a:xfrm>
          <a:prstGeom prst="rect">
            <a:avLst/>
          </a:prstGeom>
          <a:noFill/>
          <a:ln/>
        </p:spPr>
        <p:txBody>
          <a:bodyPr wrap="square" lIns="0" tIns="0" rIns="0" bIns="0" rtlCol="0" anchor="ctr"/>
          <a:lstStyle/>
          <a:p>
            <a:pPr indent="0" marL="0">
              <a:buNone/>
            </a:pPr>
            <a:r>
              <a:rPr lang="en-US" sz="1050" b="1" spc="150" kern="0" dirty="0">
                <a:solidFill>
                  <a:srgbClr val="13232B"/>
                </a:solidFill>
                <a:latin typeface="Consolas" pitchFamily="34" charset="0"/>
                <a:ea typeface="Consolas" pitchFamily="34" charset="-122"/>
                <a:cs typeface="Consolas" pitchFamily="34" charset="-120"/>
              </a:rPr>
              <a:t>FASES REALIZADAS</a:t>
            </a:r>
            <a:endParaRPr lang="en-US" sz="1050" dirty="0"/>
          </a:p>
        </p:txBody>
      </p:sp>
      <p:sp>
        <p:nvSpPr>
          <p:cNvPr id="5" name="Text 3"/>
          <p:cNvSpPr/>
          <p:nvPr/>
        </p:nvSpPr>
        <p:spPr>
          <a:xfrm>
            <a:off x="6156655" y="329184"/>
            <a:ext cx="5486400" cy="274320"/>
          </a:xfrm>
          <a:prstGeom prst="rect">
            <a:avLst/>
          </a:prstGeom>
          <a:noFill/>
          <a:ln/>
        </p:spPr>
        <p:txBody>
          <a:bodyPr wrap="square" lIns="0" tIns="0" rIns="0" bIns="0" rtlCol="0" anchor="ctr"/>
          <a:lstStyle/>
          <a:p>
            <a:pPr algn="r" indent="0" marL="0">
              <a:buNone/>
            </a:pPr>
            <a:r>
              <a:rPr lang="en-US" sz="950" spc="150" kern="0" dirty="0">
                <a:solidFill>
                  <a:srgbClr val="56676F"/>
                </a:solidFill>
                <a:latin typeface="Consolas" pitchFamily="34" charset="0"/>
                <a:ea typeface="Consolas" pitchFamily="34" charset="-122"/>
                <a:cs typeface="Consolas" pitchFamily="34" charset="-120"/>
              </a:rPr>
              <a:t>CRONOLOGÍA DEL PROYECTO</a:t>
            </a:r>
            <a:endParaRPr lang="en-US" sz="950" dirty="0"/>
          </a:p>
        </p:txBody>
      </p:sp>
      <p:sp>
        <p:nvSpPr>
          <p:cNvPr id="6" name="Text 4"/>
          <p:cNvSpPr/>
          <p:nvPr/>
        </p:nvSpPr>
        <p:spPr>
          <a:xfrm>
            <a:off x="548640" y="6446520"/>
            <a:ext cx="8229600" cy="22860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tasks.md · docs/functional-validation/post-baseline-validation.md</a:t>
            </a:r>
            <a:endParaRPr lang="en-US" sz="850" dirty="0"/>
          </a:p>
        </p:txBody>
      </p:sp>
      <p:sp>
        <p:nvSpPr>
          <p:cNvPr id="7" name="Text 5"/>
          <p:cNvSpPr/>
          <p:nvPr/>
        </p:nvSpPr>
        <p:spPr>
          <a:xfrm>
            <a:off x="9814255" y="6446520"/>
            <a:ext cx="1828800" cy="228600"/>
          </a:xfrm>
          <a:prstGeom prst="rect">
            <a:avLst/>
          </a:prstGeom>
          <a:noFill/>
          <a:ln/>
        </p:spPr>
        <p:txBody>
          <a:bodyPr wrap="square" lIns="0" tIns="0" rIns="0" bIns="0" rtlCol="0" anchor="t"/>
          <a:lstStyle/>
          <a:p>
            <a:pPr algn="r" indent="0" marL="0">
              <a:buNone/>
            </a:pPr>
            <a:r>
              <a:rPr lang="en-US" sz="850" dirty="0">
                <a:solidFill>
                  <a:srgbClr val="56676F"/>
                </a:solidFill>
                <a:latin typeface="Consolas" pitchFamily="34" charset="0"/>
                <a:ea typeface="Consolas" pitchFamily="34" charset="-122"/>
                <a:cs typeface="Consolas" pitchFamily="34" charset="-120"/>
              </a:rPr>
              <a:t>04 / 11</a:t>
            </a:r>
            <a:endParaRPr lang="en-US" sz="850" dirty="0"/>
          </a:p>
        </p:txBody>
      </p:sp>
      <p:sp>
        <p:nvSpPr>
          <p:cNvPr id="9" name="Text 6"/>
          <p:cNvSpPr/>
          <p:nvPr/>
        </p:nvSpPr>
        <p:spPr>
          <a:xfrm>
            <a:off x="548640" y="777240"/>
            <a:ext cx="11094415" cy="658368"/>
          </a:xfrm>
          <a:prstGeom prst="rect">
            <a:avLst/>
          </a:prstGeom>
          <a:noFill/>
          <a:ln/>
        </p:spPr>
        <p:txBody>
          <a:bodyPr wrap="square" lIns="0" tIns="0" rIns="0" bIns="0" rtlCol="0" anchor="ctr"/>
          <a:lstStyle/>
          <a:p>
            <a:pPr indent="0" marL="0">
              <a:buNone/>
            </a:pPr>
            <a:r>
              <a:rPr lang="en-US" sz="3200" b="1" dirty="0">
                <a:solidFill>
                  <a:srgbClr val="13232B"/>
                </a:solidFill>
                <a:latin typeface="Bahnschrift" pitchFamily="34" charset="0"/>
                <a:ea typeface="Bahnschrift" pitchFamily="34" charset="-122"/>
                <a:cs typeface="Bahnschrift" pitchFamily="34" charset="-120"/>
              </a:rPr>
              <a:t>Cuatro fases, 312 tareas en un único archivo</a:t>
            </a:r>
            <a:endParaRPr lang="en-US" sz="3200" dirty="0"/>
          </a:p>
        </p:txBody>
      </p:sp>
      <p:sp>
        <p:nvSpPr>
          <p:cNvPr id="10" name="Shape 7"/>
          <p:cNvSpPr/>
          <p:nvPr/>
        </p:nvSpPr>
        <p:spPr>
          <a:xfrm>
            <a:off x="548640" y="1554480"/>
            <a:ext cx="2670734" cy="1417320"/>
          </a:xfrm>
          <a:prstGeom prst="roundRect">
            <a:avLst>
              <a:gd name="adj" fmla="val 3871"/>
            </a:avLst>
          </a:prstGeom>
          <a:solidFill>
            <a:srgbClr val="F4F7F8"/>
          </a:solidFill>
          <a:ln w="9525">
            <a:solidFill>
              <a:srgbClr val="C8D3D8"/>
            </a:solidFill>
            <a:prstDash val="solid"/>
          </a:ln>
        </p:spPr>
      </p:sp>
      <p:sp>
        <p:nvSpPr>
          <p:cNvPr id="11" name="Shape 8"/>
          <p:cNvSpPr/>
          <p:nvPr/>
        </p:nvSpPr>
        <p:spPr>
          <a:xfrm>
            <a:off x="548640" y="1554480"/>
            <a:ext cx="2670734" cy="54864"/>
          </a:xfrm>
          <a:prstGeom prst="rect">
            <a:avLst/>
          </a:prstGeom>
          <a:solidFill>
            <a:srgbClr val="1D6B73"/>
          </a:solidFill>
          <a:ln/>
        </p:spPr>
      </p:sp>
      <p:sp>
        <p:nvSpPr>
          <p:cNvPr id="12" name="Text 9"/>
          <p:cNvSpPr/>
          <p:nvPr/>
        </p:nvSpPr>
        <p:spPr>
          <a:xfrm>
            <a:off x="676656" y="1700784"/>
            <a:ext cx="2414702" cy="228600"/>
          </a:xfrm>
          <a:prstGeom prst="rect">
            <a:avLst/>
          </a:prstGeom>
          <a:noFill/>
          <a:ln/>
        </p:spPr>
        <p:txBody>
          <a:bodyPr wrap="square" lIns="0" tIns="0" rIns="0" bIns="0" rtlCol="0" anchor="t"/>
          <a:lstStyle/>
          <a:p>
            <a:pPr indent="0" marL="0">
              <a:buNone/>
            </a:pPr>
            <a:r>
              <a:rPr lang="en-US" sz="900" spc="100" kern="0" dirty="0">
                <a:solidFill>
                  <a:srgbClr val="13232B"/>
                </a:solidFill>
                <a:latin typeface="Consolas" pitchFamily="34" charset="0"/>
                <a:ea typeface="Consolas" pitchFamily="34" charset="-122"/>
                <a:cs typeface="Consolas" pitchFamily="34" charset="-120"/>
              </a:rPr>
              <a:t>FASE 1 · DEFINICIÓN</a:t>
            </a:r>
            <a:endParaRPr lang="en-US" sz="900" dirty="0"/>
          </a:p>
        </p:txBody>
      </p:sp>
      <p:sp>
        <p:nvSpPr>
          <p:cNvPr id="13" name="Text 10"/>
          <p:cNvSpPr/>
          <p:nvPr/>
        </p:nvSpPr>
        <p:spPr>
          <a:xfrm>
            <a:off x="676656" y="1920240"/>
            <a:ext cx="2414702" cy="329184"/>
          </a:xfrm>
          <a:prstGeom prst="rect">
            <a:avLst/>
          </a:prstGeom>
          <a:noFill/>
          <a:ln/>
        </p:spPr>
        <p:txBody>
          <a:bodyPr wrap="square" lIns="0" tIns="0" rIns="0" bIns="0" rtlCol="0" anchor="ctr"/>
          <a:lstStyle/>
          <a:p>
            <a:pPr indent="0" marL="0">
              <a:buNone/>
            </a:pPr>
            <a:r>
              <a:rPr lang="en-US" sz="1600" b="1" dirty="0">
                <a:solidFill>
                  <a:srgbClr val="13232B"/>
                </a:solidFill>
                <a:latin typeface="Bahnschrift" pitchFamily="34" charset="0"/>
                <a:ea typeface="Bahnschrift" pitchFamily="34" charset="-122"/>
                <a:cs typeface="Bahnschrift" pitchFamily="34" charset="-120"/>
              </a:rPr>
              <a:t>Constitución y spec</a:t>
            </a:r>
            <a:endParaRPr lang="en-US" sz="1600" dirty="0"/>
          </a:p>
        </p:txBody>
      </p:sp>
      <p:sp>
        <p:nvSpPr>
          <p:cNvPr id="14" name="Text 11"/>
          <p:cNvSpPr/>
          <p:nvPr/>
        </p:nvSpPr>
        <p:spPr>
          <a:xfrm>
            <a:off x="676656" y="2267712"/>
            <a:ext cx="2414702" cy="685800"/>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7 principios, 10 historias y 17 sesiones de clarificación que corrigieron el modelo.</a:t>
            </a:r>
            <a:endParaRPr lang="en-US" sz="1000" dirty="0"/>
          </a:p>
        </p:txBody>
      </p:sp>
      <p:sp>
        <p:nvSpPr>
          <p:cNvPr id="15" name="Shape 12"/>
          <p:cNvSpPr/>
          <p:nvPr/>
        </p:nvSpPr>
        <p:spPr>
          <a:xfrm>
            <a:off x="3356534" y="1554480"/>
            <a:ext cx="2670734" cy="1417320"/>
          </a:xfrm>
          <a:prstGeom prst="roundRect">
            <a:avLst>
              <a:gd name="adj" fmla="val 3871"/>
            </a:avLst>
          </a:prstGeom>
          <a:solidFill>
            <a:srgbClr val="F4F7F8"/>
          </a:solidFill>
          <a:ln w="9525">
            <a:solidFill>
              <a:srgbClr val="C8D3D8"/>
            </a:solidFill>
            <a:prstDash val="solid"/>
          </a:ln>
        </p:spPr>
      </p:sp>
      <p:sp>
        <p:nvSpPr>
          <p:cNvPr id="16" name="Shape 13"/>
          <p:cNvSpPr/>
          <p:nvPr/>
        </p:nvSpPr>
        <p:spPr>
          <a:xfrm>
            <a:off x="3356534" y="1554480"/>
            <a:ext cx="2670734" cy="54864"/>
          </a:xfrm>
          <a:prstGeom prst="rect">
            <a:avLst/>
          </a:prstGeom>
          <a:solidFill>
            <a:srgbClr val="1D6B73"/>
          </a:solidFill>
          <a:ln/>
        </p:spPr>
      </p:sp>
      <p:sp>
        <p:nvSpPr>
          <p:cNvPr id="17" name="Text 14"/>
          <p:cNvSpPr/>
          <p:nvPr/>
        </p:nvSpPr>
        <p:spPr>
          <a:xfrm>
            <a:off x="3484550" y="1700784"/>
            <a:ext cx="2414702" cy="228600"/>
          </a:xfrm>
          <a:prstGeom prst="rect">
            <a:avLst/>
          </a:prstGeom>
          <a:noFill/>
          <a:ln/>
        </p:spPr>
        <p:txBody>
          <a:bodyPr wrap="square" lIns="0" tIns="0" rIns="0" bIns="0" rtlCol="0" anchor="t"/>
          <a:lstStyle/>
          <a:p>
            <a:pPr indent="0" marL="0">
              <a:buNone/>
            </a:pPr>
            <a:r>
              <a:rPr lang="en-US" sz="900" spc="100" kern="0" dirty="0">
                <a:solidFill>
                  <a:srgbClr val="13232B"/>
                </a:solidFill>
                <a:latin typeface="Consolas" pitchFamily="34" charset="0"/>
                <a:ea typeface="Consolas" pitchFamily="34" charset="-122"/>
                <a:cs typeface="Consolas" pitchFamily="34" charset="-120"/>
              </a:rPr>
              <a:t>FASE 2 · DISEÑO</a:t>
            </a:r>
            <a:endParaRPr lang="en-US" sz="900" dirty="0"/>
          </a:p>
        </p:txBody>
      </p:sp>
      <p:sp>
        <p:nvSpPr>
          <p:cNvPr id="18" name="Text 15"/>
          <p:cNvSpPr/>
          <p:nvPr/>
        </p:nvSpPr>
        <p:spPr>
          <a:xfrm>
            <a:off x="3484550" y="1920240"/>
            <a:ext cx="2414702" cy="329184"/>
          </a:xfrm>
          <a:prstGeom prst="rect">
            <a:avLst/>
          </a:prstGeom>
          <a:noFill/>
          <a:ln/>
        </p:spPr>
        <p:txBody>
          <a:bodyPr wrap="square" lIns="0" tIns="0" rIns="0" bIns="0" rtlCol="0" anchor="ctr"/>
          <a:lstStyle/>
          <a:p>
            <a:pPr indent="0" marL="0">
              <a:buNone/>
            </a:pPr>
            <a:r>
              <a:rPr lang="en-US" sz="1600" b="1" dirty="0">
                <a:solidFill>
                  <a:srgbClr val="13232B"/>
                </a:solidFill>
                <a:latin typeface="Bahnschrift" pitchFamily="34" charset="0"/>
                <a:ea typeface="Bahnschrift" pitchFamily="34" charset="-122"/>
                <a:cs typeface="Bahnschrift" pitchFamily="34" charset="-120"/>
              </a:rPr>
              <a:t>Plan técnico</a:t>
            </a:r>
            <a:endParaRPr lang="en-US" sz="1600" dirty="0"/>
          </a:p>
        </p:txBody>
      </p:sp>
      <p:sp>
        <p:nvSpPr>
          <p:cNvPr id="19" name="Text 16"/>
          <p:cNvSpPr/>
          <p:nvPr/>
        </p:nvSpPr>
        <p:spPr>
          <a:xfrm>
            <a:off x="3484550" y="2267712"/>
            <a:ext cx="2414702" cy="685800"/>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Arquitectura en capas, 22 entidades, 10 contratos OpenAPI, guía de validación y UX/UI.</a:t>
            </a:r>
            <a:endParaRPr lang="en-US" sz="1000" dirty="0"/>
          </a:p>
        </p:txBody>
      </p:sp>
      <p:sp>
        <p:nvSpPr>
          <p:cNvPr id="20" name="Shape 17"/>
          <p:cNvSpPr/>
          <p:nvPr/>
        </p:nvSpPr>
        <p:spPr>
          <a:xfrm>
            <a:off x="6164428" y="1554480"/>
            <a:ext cx="2670734" cy="1417320"/>
          </a:xfrm>
          <a:prstGeom prst="roundRect">
            <a:avLst>
              <a:gd name="adj" fmla="val 3871"/>
            </a:avLst>
          </a:prstGeom>
          <a:solidFill>
            <a:srgbClr val="F4F7F8"/>
          </a:solidFill>
          <a:ln w="9525">
            <a:solidFill>
              <a:srgbClr val="C8D3D8"/>
            </a:solidFill>
            <a:prstDash val="solid"/>
          </a:ln>
        </p:spPr>
      </p:sp>
      <p:sp>
        <p:nvSpPr>
          <p:cNvPr id="21" name="Shape 18"/>
          <p:cNvSpPr/>
          <p:nvPr/>
        </p:nvSpPr>
        <p:spPr>
          <a:xfrm>
            <a:off x="6164428" y="1554480"/>
            <a:ext cx="2670734" cy="54864"/>
          </a:xfrm>
          <a:prstGeom prst="rect">
            <a:avLst/>
          </a:prstGeom>
          <a:solidFill>
            <a:srgbClr val="1D6B73"/>
          </a:solidFill>
          <a:ln/>
        </p:spPr>
      </p:sp>
      <p:sp>
        <p:nvSpPr>
          <p:cNvPr id="22" name="Text 19"/>
          <p:cNvSpPr/>
          <p:nvPr/>
        </p:nvSpPr>
        <p:spPr>
          <a:xfrm>
            <a:off x="6292444" y="1700784"/>
            <a:ext cx="2414702" cy="228600"/>
          </a:xfrm>
          <a:prstGeom prst="rect">
            <a:avLst/>
          </a:prstGeom>
          <a:noFill/>
          <a:ln/>
        </p:spPr>
        <p:txBody>
          <a:bodyPr wrap="square" lIns="0" tIns="0" rIns="0" bIns="0" rtlCol="0" anchor="t"/>
          <a:lstStyle/>
          <a:p>
            <a:pPr indent="0" marL="0">
              <a:buNone/>
            </a:pPr>
            <a:r>
              <a:rPr lang="en-US" sz="900" spc="100" kern="0" dirty="0">
                <a:solidFill>
                  <a:srgbClr val="13232B"/>
                </a:solidFill>
                <a:latin typeface="Consolas" pitchFamily="34" charset="0"/>
                <a:ea typeface="Consolas" pitchFamily="34" charset="-122"/>
                <a:cs typeface="Consolas" pitchFamily="34" charset="-120"/>
              </a:rPr>
              <a:t>FASE 3 · BASELINE ETAPA 1</a:t>
            </a:r>
            <a:endParaRPr lang="en-US" sz="900" dirty="0"/>
          </a:p>
        </p:txBody>
      </p:sp>
      <p:sp>
        <p:nvSpPr>
          <p:cNvPr id="23" name="Text 20"/>
          <p:cNvSpPr/>
          <p:nvPr/>
        </p:nvSpPr>
        <p:spPr>
          <a:xfrm>
            <a:off x="6292444" y="1920240"/>
            <a:ext cx="2414702" cy="329184"/>
          </a:xfrm>
          <a:prstGeom prst="rect">
            <a:avLst/>
          </a:prstGeom>
          <a:noFill/>
          <a:ln/>
        </p:spPr>
        <p:txBody>
          <a:bodyPr wrap="square" lIns="0" tIns="0" rIns="0" bIns="0" rtlCol="0" anchor="ctr"/>
          <a:lstStyle/>
          <a:p>
            <a:pPr indent="0" marL="0">
              <a:buNone/>
            </a:pPr>
            <a:r>
              <a:rPr lang="en-US" sz="1600" b="1" dirty="0">
                <a:solidFill>
                  <a:srgbClr val="13232B"/>
                </a:solidFill>
                <a:latin typeface="Bahnschrift" pitchFamily="34" charset="0"/>
                <a:ea typeface="Bahnschrift" pitchFamily="34" charset="-122"/>
                <a:cs typeface="Bahnschrift" pitchFamily="34" charset="-120"/>
              </a:rPr>
              <a:t>T001 – T242</a:t>
            </a:r>
            <a:endParaRPr lang="en-US" sz="1600" dirty="0"/>
          </a:p>
        </p:txBody>
      </p:sp>
      <p:sp>
        <p:nvSpPr>
          <p:cNvPr id="24" name="Text 21"/>
          <p:cNvSpPr/>
          <p:nvPr/>
        </p:nvSpPr>
        <p:spPr>
          <a:xfrm>
            <a:off x="6292444" y="2267712"/>
            <a:ext cx="2414702" cy="685800"/>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Historias implementadas, decisiones D1–D9 cerradas y desviaciones D-1 a D-5 corregidas.</a:t>
            </a:r>
            <a:endParaRPr lang="en-US" sz="1000" dirty="0"/>
          </a:p>
        </p:txBody>
      </p:sp>
      <p:sp>
        <p:nvSpPr>
          <p:cNvPr id="25" name="Shape 22"/>
          <p:cNvSpPr/>
          <p:nvPr/>
        </p:nvSpPr>
        <p:spPr>
          <a:xfrm>
            <a:off x="8972321" y="1554480"/>
            <a:ext cx="2670734" cy="1417320"/>
          </a:xfrm>
          <a:prstGeom prst="roundRect">
            <a:avLst>
              <a:gd name="adj" fmla="val 3871"/>
            </a:avLst>
          </a:prstGeom>
          <a:solidFill>
            <a:srgbClr val="F4F7F8"/>
          </a:solidFill>
          <a:ln w="9525">
            <a:solidFill>
              <a:srgbClr val="C8D3D8"/>
            </a:solidFill>
            <a:prstDash val="solid"/>
          </a:ln>
        </p:spPr>
      </p:sp>
      <p:sp>
        <p:nvSpPr>
          <p:cNvPr id="26" name="Shape 23"/>
          <p:cNvSpPr/>
          <p:nvPr/>
        </p:nvSpPr>
        <p:spPr>
          <a:xfrm>
            <a:off x="8972321" y="1554480"/>
            <a:ext cx="2670734" cy="54864"/>
          </a:xfrm>
          <a:prstGeom prst="rect">
            <a:avLst/>
          </a:prstGeom>
          <a:solidFill>
            <a:srgbClr val="F2B233"/>
          </a:solidFill>
          <a:ln/>
        </p:spPr>
      </p:sp>
      <p:sp>
        <p:nvSpPr>
          <p:cNvPr id="27" name="Text 24"/>
          <p:cNvSpPr/>
          <p:nvPr/>
        </p:nvSpPr>
        <p:spPr>
          <a:xfrm>
            <a:off x="9100337" y="1700784"/>
            <a:ext cx="2414702" cy="228600"/>
          </a:xfrm>
          <a:prstGeom prst="rect">
            <a:avLst/>
          </a:prstGeom>
          <a:noFill/>
          <a:ln/>
        </p:spPr>
        <p:txBody>
          <a:bodyPr wrap="square" lIns="0" tIns="0" rIns="0" bIns="0" rtlCol="0" anchor="t"/>
          <a:lstStyle/>
          <a:p>
            <a:pPr indent="0" marL="0">
              <a:buNone/>
            </a:pPr>
            <a:r>
              <a:rPr lang="en-US" sz="900" spc="100" kern="0" dirty="0">
                <a:solidFill>
                  <a:srgbClr val="13232B"/>
                </a:solidFill>
                <a:latin typeface="Consolas" pitchFamily="34" charset="0"/>
                <a:ea typeface="Consolas" pitchFamily="34" charset="-122"/>
                <a:cs typeface="Consolas" pitchFamily="34" charset="-120"/>
              </a:rPr>
              <a:t>FASE 4 · POST-BASELINE</a:t>
            </a:r>
            <a:endParaRPr lang="en-US" sz="900" dirty="0"/>
          </a:p>
        </p:txBody>
      </p:sp>
      <p:sp>
        <p:nvSpPr>
          <p:cNvPr id="28" name="Text 25"/>
          <p:cNvSpPr/>
          <p:nvPr/>
        </p:nvSpPr>
        <p:spPr>
          <a:xfrm>
            <a:off x="9100337" y="1920240"/>
            <a:ext cx="2414702" cy="329184"/>
          </a:xfrm>
          <a:prstGeom prst="rect">
            <a:avLst/>
          </a:prstGeom>
          <a:noFill/>
          <a:ln/>
        </p:spPr>
        <p:txBody>
          <a:bodyPr wrap="square" lIns="0" tIns="0" rIns="0" bIns="0" rtlCol="0" anchor="ctr"/>
          <a:lstStyle/>
          <a:p>
            <a:pPr indent="0" marL="0">
              <a:buNone/>
            </a:pPr>
            <a:r>
              <a:rPr lang="en-US" sz="1600" b="1" dirty="0">
                <a:solidFill>
                  <a:srgbClr val="13232B"/>
                </a:solidFill>
                <a:latin typeface="Bahnschrift" pitchFamily="34" charset="0"/>
                <a:ea typeface="Bahnschrift" pitchFamily="34" charset="-122"/>
                <a:cs typeface="Bahnschrift" pitchFamily="34" charset="-120"/>
              </a:rPr>
              <a:t>T243 – T312</a:t>
            </a:r>
            <a:endParaRPr lang="en-US" sz="1600" dirty="0"/>
          </a:p>
        </p:txBody>
      </p:sp>
      <p:sp>
        <p:nvSpPr>
          <p:cNvPr id="29" name="Text 26"/>
          <p:cNvSpPr/>
          <p:nvPr/>
        </p:nvSpPr>
        <p:spPr>
          <a:xfrm>
            <a:off x="9100337" y="2267712"/>
            <a:ext cx="2414702" cy="685800"/>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Cada hallazgo se analiza, se clasifica, se corrige si hace falta y se valida hasta CLOSED, sin reescribir el Baseline.</a:t>
            </a:r>
            <a:endParaRPr lang="en-US" sz="1000" dirty="0"/>
          </a:p>
        </p:txBody>
      </p:sp>
      <p:sp>
        <p:nvSpPr>
          <p:cNvPr id="30" name="Text 27"/>
          <p:cNvSpPr/>
          <p:nvPr/>
        </p:nvSpPr>
        <p:spPr>
          <a:xfrm>
            <a:off x="548640" y="3200400"/>
            <a:ext cx="548640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TAREAS DE TASKS.MD, A ESCALA (312)</a:t>
            </a:r>
            <a:endParaRPr lang="en-US" sz="900" dirty="0"/>
          </a:p>
        </p:txBody>
      </p:sp>
      <p:sp>
        <p:nvSpPr>
          <p:cNvPr id="31" name="Shape 28"/>
          <p:cNvSpPr/>
          <p:nvPr/>
        </p:nvSpPr>
        <p:spPr>
          <a:xfrm>
            <a:off x="548640" y="3474720"/>
            <a:ext cx="5973916" cy="384048"/>
          </a:xfrm>
          <a:prstGeom prst="rect">
            <a:avLst/>
          </a:prstGeom>
          <a:solidFill>
            <a:srgbClr val="1D6B73"/>
          </a:solidFill>
          <a:ln/>
        </p:spPr>
      </p:sp>
      <p:sp>
        <p:nvSpPr>
          <p:cNvPr id="32" name="Text 29"/>
          <p:cNvSpPr/>
          <p:nvPr/>
        </p:nvSpPr>
        <p:spPr>
          <a:xfrm>
            <a:off x="548640" y="3474720"/>
            <a:ext cx="5973916"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T001–T168 · 10 historias</a:t>
            </a:r>
            <a:endParaRPr lang="en-US" sz="900" dirty="0"/>
          </a:p>
        </p:txBody>
      </p:sp>
      <p:sp>
        <p:nvSpPr>
          <p:cNvPr id="33" name="Shape 30"/>
          <p:cNvSpPr/>
          <p:nvPr/>
        </p:nvSpPr>
        <p:spPr>
          <a:xfrm>
            <a:off x="6522556" y="3474720"/>
            <a:ext cx="2133541" cy="384048"/>
          </a:xfrm>
          <a:prstGeom prst="rect">
            <a:avLst/>
          </a:prstGeom>
          <a:solidFill>
            <a:srgbClr val="2C8A93"/>
          </a:solidFill>
          <a:ln/>
        </p:spPr>
      </p:sp>
      <p:sp>
        <p:nvSpPr>
          <p:cNvPr id="34" name="Text 31"/>
          <p:cNvSpPr/>
          <p:nvPr/>
        </p:nvSpPr>
        <p:spPr>
          <a:xfrm>
            <a:off x="6522556" y="3474720"/>
            <a:ext cx="2133541"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D1–D9</a:t>
            </a:r>
            <a:endParaRPr lang="en-US" sz="900" dirty="0"/>
          </a:p>
        </p:txBody>
      </p:sp>
      <p:sp>
        <p:nvSpPr>
          <p:cNvPr id="35" name="Shape 32"/>
          <p:cNvSpPr/>
          <p:nvPr/>
        </p:nvSpPr>
        <p:spPr>
          <a:xfrm>
            <a:off x="8656097" y="3474720"/>
            <a:ext cx="497826" cy="384048"/>
          </a:xfrm>
          <a:prstGeom prst="rect">
            <a:avLst/>
          </a:prstGeom>
          <a:solidFill>
            <a:srgbClr val="4AA3AC"/>
          </a:solidFill>
          <a:ln/>
        </p:spPr>
      </p:sp>
      <p:sp>
        <p:nvSpPr>
          <p:cNvPr id="36" name="Text 33"/>
          <p:cNvSpPr/>
          <p:nvPr/>
        </p:nvSpPr>
        <p:spPr>
          <a:xfrm>
            <a:off x="8656097" y="3474720"/>
            <a:ext cx="497826"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D-</a:t>
            </a:r>
            <a:endParaRPr lang="en-US" sz="900" dirty="0"/>
          </a:p>
        </p:txBody>
      </p:sp>
      <p:sp>
        <p:nvSpPr>
          <p:cNvPr id="37" name="Shape 34"/>
          <p:cNvSpPr/>
          <p:nvPr/>
        </p:nvSpPr>
        <p:spPr>
          <a:xfrm>
            <a:off x="9153924" y="3474720"/>
            <a:ext cx="853417" cy="384048"/>
          </a:xfrm>
          <a:prstGeom prst="rect">
            <a:avLst/>
          </a:prstGeom>
          <a:solidFill>
            <a:srgbClr val="D99A0B"/>
          </a:solidFill>
          <a:ln/>
        </p:spPr>
      </p:sp>
      <p:sp>
        <p:nvSpPr>
          <p:cNvPr id="38" name="Text 35"/>
          <p:cNvSpPr/>
          <p:nvPr/>
        </p:nvSpPr>
        <p:spPr>
          <a:xfrm>
            <a:off x="9153924" y="3474720"/>
            <a:ext cx="853417" cy="384048"/>
          </a:xfrm>
          <a:prstGeom prst="rect">
            <a:avLst/>
          </a:prstGeom>
          <a:noFill/>
          <a:ln/>
        </p:spPr>
        <p:txBody>
          <a:bodyPr wrap="square" lIns="0" tIns="0" rIns="0" bIns="0" rtlCol="0" anchor="ctr"/>
          <a:lstStyle/>
          <a:p>
            <a:pPr algn="ctr" indent="0" marL="0">
              <a:buNone/>
            </a:pPr>
            <a:r>
              <a:rPr lang="en-US" sz="900" b="1" dirty="0">
                <a:solidFill>
                  <a:srgbClr val="13232B"/>
                </a:solidFill>
                <a:latin typeface="Consolas" pitchFamily="34" charset="0"/>
                <a:ea typeface="Consolas" pitchFamily="34" charset="-122"/>
                <a:cs typeface="Consolas" pitchFamily="34" charset="-120"/>
              </a:rPr>
              <a:t>VF-007</a:t>
            </a:r>
            <a:endParaRPr lang="en-US" sz="900" dirty="0"/>
          </a:p>
        </p:txBody>
      </p:sp>
      <p:sp>
        <p:nvSpPr>
          <p:cNvPr id="39" name="Shape 36"/>
          <p:cNvSpPr/>
          <p:nvPr/>
        </p:nvSpPr>
        <p:spPr>
          <a:xfrm>
            <a:off x="10007340" y="3474720"/>
            <a:ext cx="711180" cy="384048"/>
          </a:xfrm>
          <a:prstGeom prst="rect">
            <a:avLst/>
          </a:prstGeom>
          <a:solidFill>
            <a:srgbClr val="F2B233"/>
          </a:solidFill>
          <a:ln/>
        </p:spPr>
      </p:sp>
      <p:sp>
        <p:nvSpPr>
          <p:cNvPr id="40" name="Text 37"/>
          <p:cNvSpPr/>
          <p:nvPr/>
        </p:nvSpPr>
        <p:spPr>
          <a:xfrm>
            <a:off x="10007340" y="3474720"/>
            <a:ext cx="711180" cy="384048"/>
          </a:xfrm>
          <a:prstGeom prst="rect">
            <a:avLst/>
          </a:prstGeom>
          <a:noFill/>
          <a:ln/>
        </p:spPr>
        <p:txBody>
          <a:bodyPr wrap="square" lIns="0" tIns="0" rIns="0" bIns="0" rtlCol="0" anchor="ctr"/>
          <a:lstStyle/>
          <a:p>
            <a:pPr algn="ctr" indent="0" marL="0">
              <a:buNone/>
            </a:pPr>
            <a:r>
              <a:rPr lang="en-US" sz="900" b="1" dirty="0">
                <a:solidFill>
                  <a:srgbClr val="13232B"/>
                </a:solidFill>
                <a:latin typeface="Consolas" pitchFamily="34" charset="0"/>
                <a:ea typeface="Consolas" pitchFamily="34" charset="-122"/>
                <a:cs typeface="Consolas" pitchFamily="34" charset="-120"/>
              </a:rPr>
              <a:t>6 VF</a:t>
            </a:r>
            <a:endParaRPr lang="en-US" sz="900" dirty="0"/>
          </a:p>
        </p:txBody>
      </p:sp>
      <p:sp>
        <p:nvSpPr>
          <p:cNvPr id="41" name="Shape 38"/>
          <p:cNvSpPr/>
          <p:nvPr/>
        </p:nvSpPr>
        <p:spPr>
          <a:xfrm>
            <a:off x="10718521" y="3474720"/>
            <a:ext cx="924535" cy="384048"/>
          </a:xfrm>
          <a:prstGeom prst="rect">
            <a:avLst/>
          </a:prstGeom>
          <a:solidFill>
            <a:srgbClr val="F7CD6E"/>
          </a:solidFill>
          <a:ln/>
        </p:spPr>
      </p:sp>
      <p:sp>
        <p:nvSpPr>
          <p:cNvPr id="42" name="Text 39"/>
          <p:cNvSpPr/>
          <p:nvPr/>
        </p:nvSpPr>
        <p:spPr>
          <a:xfrm>
            <a:off x="10718521" y="3474720"/>
            <a:ext cx="924535" cy="384048"/>
          </a:xfrm>
          <a:prstGeom prst="rect">
            <a:avLst/>
          </a:prstGeom>
          <a:noFill/>
          <a:ln/>
        </p:spPr>
        <p:txBody>
          <a:bodyPr wrap="square" lIns="0" tIns="0" rIns="0" bIns="0" rtlCol="0" anchor="ctr"/>
          <a:lstStyle/>
          <a:p>
            <a:pPr algn="ctr" indent="0" marL="0">
              <a:buNone/>
            </a:pPr>
            <a:r>
              <a:rPr lang="en-US" sz="900" b="1" dirty="0">
                <a:solidFill>
                  <a:srgbClr val="13232B"/>
                </a:solidFill>
                <a:latin typeface="Consolas" pitchFamily="34" charset="0"/>
                <a:ea typeface="Consolas" pitchFamily="34" charset="-122"/>
                <a:cs typeface="Consolas" pitchFamily="34" charset="-120"/>
              </a:rPr>
              <a:t>VF-004</a:t>
            </a:r>
            <a:endParaRPr lang="en-US" sz="900" dirty="0"/>
          </a:p>
        </p:txBody>
      </p:sp>
      <p:sp>
        <p:nvSpPr>
          <p:cNvPr id="43" name="Text 40"/>
          <p:cNvSpPr/>
          <p:nvPr/>
        </p:nvSpPr>
        <p:spPr>
          <a:xfrm>
            <a:off x="548640" y="3895344"/>
            <a:ext cx="548640" cy="201168"/>
          </a:xfrm>
          <a:prstGeom prst="rect">
            <a:avLst/>
          </a:prstGeom>
          <a:noFill/>
          <a:ln/>
        </p:spPr>
        <p:txBody>
          <a:bodyPr wrap="square" lIns="0" tIns="0" rIns="0" bIns="0" rtlCol="0" anchor="t"/>
          <a:lstStyle/>
          <a:p>
            <a:pPr algn="l" indent="0" marL="0">
              <a:buNone/>
            </a:pPr>
            <a:r>
              <a:rPr lang="en-US" sz="850" dirty="0">
                <a:solidFill>
                  <a:srgbClr val="56676F"/>
                </a:solidFill>
                <a:latin typeface="Consolas" pitchFamily="34" charset="0"/>
                <a:ea typeface="Consolas" pitchFamily="34" charset="-122"/>
                <a:cs typeface="Consolas" pitchFamily="34" charset="-120"/>
              </a:rPr>
              <a:t>0</a:t>
            </a:r>
            <a:endParaRPr lang="en-US" sz="850" dirty="0"/>
          </a:p>
        </p:txBody>
      </p:sp>
      <p:sp>
        <p:nvSpPr>
          <p:cNvPr id="44" name="Text 41"/>
          <p:cNvSpPr/>
          <p:nvPr/>
        </p:nvSpPr>
        <p:spPr>
          <a:xfrm>
            <a:off x="6248236" y="3895344"/>
            <a:ext cx="548640" cy="201168"/>
          </a:xfrm>
          <a:prstGeom prst="rect">
            <a:avLst/>
          </a:prstGeom>
          <a:noFill/>
          <a:ln/>
        </p:spPr>
        <p:txBody>
          <a:bodyPr wrap="square" lIns="0" tIns="0" rIns="0" bIns="0" rtlCol="0" anchor="t"/>
          <a:lstStyle/>
          <a:p>
            <a:pPr algn="ctr" indent="0" marL="0">
              <a:buNone/>
            </a:pPr>
            <a:r>
              <a:rPr lang="en-US" sz="850" dirty="0">
                <a:solidFill>
                  <a:srgbClr val="56676F"/>
                </a:solidFill>
                <a:latin typeface="Consolas" pitchFamily="34" charset="0"/>
                <a:ea typeface="Consolas" pitchFamily="34" charset="-122"/>
                <a:cs typeface="Consolas" pitchFamily="34" charset="-120"/>
              </a:rPr>
              <a:t>168</a:t>
            </a:r>
            <a:endParaRPr lang="en-US" sz="850" dirty="0"/>
          </a:p>
        </p:txBody>
      </p:sp>
      <p:sp>
        <p:nvSpPr>
          <p:cNvPr id="45" name="Text 42"/>
          <p:cNvSpPr/>
          <p:nvPr/>
        </p:nvSpPr>
        <p:spPr>
          <a:xfrm>
            <a:off x="8879604" y="3895344"/>
            <a:ext cx="548640" cy="201168"/>
          </a:xfrm>
          <a:prstGeom prst="rect">
            <a:avLst/>
          </a:prstGeom>
          <a:noFill/>
          <a:ln/>
        </p:spPr>
        <p:txBody>
          <a:bodyPr wrap="square" lIns="0" tIns="0" rIns="0" bIns="0" rtlCol="0" anchor="t"/>
          <a:lstStyle/>
          <a:p>
            <a:pPr algn="ctr" indent="0" marL="0">
              <a:buNone/>
            </a:pPr>
            <a:r>
              <a:rPr lang="en-US" sz="850" dirty="0">
                <a:solidFill>
                  <a:srgbClr val="56676F"/>
                </a:solidFill>
                <a:latin typeface="Consolas" pitchFamily="34" charset="0"/>
                <a:ea typeface="Consolas" pitchFamily="34" charset="-122"/>
                <a:cs typeface="Consolas" pitchFamily="34" charset="-120"/>
              </a:rPr>
              <a:t>242</a:t>
            </a:r>
            <a:endParaRPr lang="en-US" sz="850" dirty="0"/>
          </a:p>
        </p:txBody>
      </p:sp>
      <p:sp>
        <p:nvSpPr>
          <p:cNvPr id="46" name="Text 43"/>
          <p:cNvSpPr/>
          <p:nvPr/>
        </p:nvSpPr>
        <p:spPr>
          <a:xfrm>
            <a:off x="11094415" y="3895344"/>
            <a:ext cx="548640" cy="201168"/>
          </a:xfrm>
          <a:prstGeom prst="rect">
            <a:avLst/>
          </a:prstGeom>
          <a:noFill/>
          <a:ln/>
        </p:spPr>
        <p:txBody>
          <a:bodyPr wrap="square" lIns="0" tIns="0" rIns="0" bIns="0" rtlCol="0" anchor="t"/>
          <a:lstStyle/>
          <a:p>
            <a:pPr algn="r" indent="0" marL="0">
              <a:buNone/>
            </a:pPr>
            <a:r>
              <a:rPr lang="en-US" sz="850" dirty="0">
                <a:solidFill>
                  <a:srgbClr val="56676F"/>
                </a:solidFill>
                <a:latin typeface="Consolas" pitchFamily="34" charset="0"/>
                <a:ea typeface="Consolas" pitchFamily="34" charset="-122"/>
                <a:cs typeface="Consolas" pitchFamily="34" charset="-120"/>
              </a:rPr>
              <a:t>312</a:t>
            </a:r>
            <a:endParaRPr lang="en-US" sz="850" dirty="0"/>
          </a:p>
        </p:txBody>
      </p:sp>
      <p:sp>
        <p:nvSpPr>
          <p:cNvPr id="47" name="Shape 44"/>
          <p:cNvSpPr/>
          <p:nvPr/>
        </p:nvSpPr>
        <p:spPr>
          <a:xfrm>
            <a:off x="548640" y="4224528"/>
            <a:ext cx="128016" cy="128016"/>
          </a:xfrm>
          <a:prstGeom prst="rect">
            <a:avLst/>
          </a:prstGeom>
          <a:solidFill>
            <a:srgbClr val="1D6B73"/>
          </a:solidFill>
          <a:ln/>
        </p:spPr>
      </p:sp>
      <p:sp>
        <p:nvSpPr>
          <p:cNvPr id="48" name="Text 45"/>
          <p:cNvSpPr/>
          <p:nvPr/>
        </p:nvSpPr>
        <p:spPr>
          <a:xfrm>
            <a:off x="731520" y="4169664"/>
            <a:ext cx="2377440" cy="237744"/>
          </a:xfrm>
          <a:prstGeom prst="rect">
            <a:avLst/>
          </a:prstGeom>
          <a:noFill/>
          <a:ln/>
        </p:spPr>
        <p:txBody>
          <a:bodyPr wrap="square" lIns="0" tIns="0" rIns="0" bIns="0" rtlCol="0" anchor="t"/>
          <a:lstStyle/>
          <a:p>
            <a:pPr indent="0" marL="0">
              <a:buNone/>
            </a:pPr>
            <a:r>
              <a:rPr lang="en-US" sz="950" dirty="0">
                <a:solidFill>
                  <a:srgbClr val="56676F"/>
                </a:solidFill>
                <a:latin typeface="Segoe UI" pitchFamily="34" charset="0"/>
                <a:ea typeface="Segoe UI" pitchFamily="34" charset="-122"/>
                <a:cs typeface="Segoe UI" pitchFamily="34" charset="-120"/>
              </a:rPr>
              <a:t>Implementación inicial (168)</a:t>
            </a:r>
            <a:endParaRPr lang="en-US" sz="950" dirty="0"/>
          </a:p>
        </p:txBody>
      </p:sp>
      <p:sp>
        <p:nvSpPr>
          <p:cNvPr id="49" name="Shape 46"/>
          <p:cNvSpPr/>
          <p:nvPr/>
        </p:nvSpPr>
        <p:spPr>
          <a:xfrm>
            <a:off x="2456078" y="4224528"/>
            <a:ext cx="128016" cy="128016"/>
          </a:xfrm>
          <a:prstGeom prst="rect">
            <a:avLst/>
          </a:prstGeom>
          <a:solidFill>
            <a:srgbClr val="2C8A93"/>
          </a:solidFill>
          <a:ln/>
        </p:spPr>
      </p:sp>
      <p:sp>
        <p:nvSpPr>
          <p:cNvPr id="50" name="Text 47"/>
          <p:cNvSpPr/>
          <p:nvPr/>
        </p:nvSpPr>
        <p:spPr>
          <a:xfrm>
            <a:off x="2638958" y="4169664"/>
            <a:ext cx="2377440" cy="237744"/>
          </a:xfrm>
          <a:prstGeom prst="rect">
            <a:avLst/>
          </a:prstGeom>
          <a:noFill/>
          <a:ln/>
        </p:spPr>
        <p:txBody>
          <a:bodyPr wrap="square" lIns="0" tIns="0" rIns="0" bIns="0" rtlCol="0" anchor="t"/>
          <a:lstStyle/>
          <a:p>
            <a:pPr indent="0" marL="0">
              <a:buNone/>
            </a:pPr>
            <a:r>
              <a:rPr lang="en-US" sz="950" dirty="0">
                <a:solidFill>
                  <a:srgbClr val="56676F"/>
                </a:solidFill>
                <a:latin typeface="Segoe UI" pitchFamily="34" charset="0"/>
                <a:ea typeface="Segoe UI" pitchFamily="34" charset="-122"/>
                <a:cs typeface="Segoe UI" pitchFamily="34" charset="-120"/>
              </a:rPr>
              <a:t>Cierre D1–D9 (60)</a:t>
            </a:r>
            <a:endParaRPr lang="en-US" sz="950" dirty="0"/>
          </a:p>
        </p:txBody>
      </p:sp>
      <p:sp>
        <p:nvSpPr>
          <p:cNvPr id="51" name="Shape 48"/>
          <p:cNvSpPr/>
          <p:nvPr/>
        </p:nvSpPr>
        <p:spPr>
          <a:xfrm>
            <a:off x="3739896" y="4224528"/>
            <a:ext cx="128016" cy="128016"/>
          </a:xfrm>
          <a:prstGeom prst="rect">
            <a:avLst/>
          </a:prstGeom>
          <a:solidFill>
            <a:srgbClr val="4AA3AC"/>
          </a:solidFill>
          <a:ln/>
        </p:spPr>
      </p:sp>
      <p:sp>
        <p:nvSpPr>
          <p:cNvPr id="52" name="Text 49"/>
          <p:cNvSpPr/>
          <p:nvPr/>
        </p:nvSpPr>
        <p:spPr>
          <a:xfrm>
            <a:off x="3922776" y="4169664"/>
            <a:ext cx="2377440" cy="237744"/>
          </a:xfrm>
          <a:prstGeom prst="rect">
            <a:avLst/>
          </a:prstGeom>
          <a:noFill/>
          <a:ln/>
        </p:spPr>
        <p:txBody>
          <a:bodyPr wrap="square" lIns="0" tIns="0" rIns="0" bIns="0" rtlCol="0" anchor="t"/>
          <a:lstStyle/>
          <a:p>
            <a:pPr indent="0" marL="0">
              <a:buNone/>
            </a:pPr>
            <a:r>
              <a:rPr lang="en-US" sz="950" dirty="0">
                <a:solidFill>
                  <a:srgbClr val="56676F"/>
                </a:solidFill>
                <a:latin typeface="Segoe UI" pitchFamily="34" charset="0"/>
                <a:ea typeface="Segoe UI" pitchFamily="34" charset="-122"/>
                <a:cs typeface="Segoe UI" pitchFamily="34" charset="-120"/>
              </a:rPr>
              <a:t>Desviaciones D-1 a D-5 (14)</a:t>
            </a:r>
            <a:endParaRPr lang="en-US" sz="950" dirty="0"/>
          </a:p>
        </p:txBody>
      </p:sp>
      <p:sp>
        <p:nvSpPr>
          <p:cNvPr id="53" name="Shape 50"/>
          <p:cNvSpPr/>
          <p:nvPr/>
        </p:nvSpPr>
        <p:spPr>
          <a:xfrm>
            <a:off x="5590642" y="4224528"/>
            <a:ext cx="128016" cy="128016"/>
          </a:xfrm>
          <a:prstGeom prst="rect">
            <a:avLst/>
          </a:prstGeom>
          <a:solidFill>
            <a:srgbClr val="D99A0B"/>
          </a:solidFill>
          <a:ln/>
        </p:spPr>
      </p:sp>
      <p:sp>
        <p:nvSpPr>
          <p:cNvPr id="54" name="Text 51"/>
          <p:cNvSpPr/>
          <p:nvPr/>
        </p:nvSpPr>
        <p:spPr>
          <a:xfrm>
            <a:off x="5773522" y="4169664"/>
            <a:ext cx="2377440" cy="237744"/>
          </a:xfrm>
          <a:prstGeom prst="rect">
            <a:avLst/>
          </a:prstGeom>
          <a:noFill/>
          <a:ln/>
        </p:spPr>
        <p:txBody>
          <a:bodyPr wrap="square" lIns="0" tIns="0" rIns="0" bIns="0" rtlCol="0" anchor="t"/>
          <a:lstStyle/>
          <a:p>
            <a:pPr indent="0" marL="0">
              <a:buNone/>
            </a:pPr>
            <a:r>
              <a:rPr lang="en-US" sz="950" dirty="0">
                <a:solidFill>
                  <a:srgbClr val="56676F"/>
                </a:solidFill>
                <a:latin typeface="Segoe UI" pitchFamily="34" charset="0"/>
                <a:ea typeface="Segoe UI" pitchFamily="34" charset="-122"/>
                <a:cs typeface="Segoe UI" pitchFamily="34" charset="-120"/>
              </a:rPr>
              <a:t>VF-007 (24)</a:t>
            </a:r>
            <a:endParaRPr lang="en-US" sz="950" dirty="0"/>
          </a:p>
        </p:txBody>
      </p:sp>
      <p:sp>
        <p:nvSpPr>
          <p:cNvPr id="55" name="Shape 52"/>
          <p:cNvSpPr/>
          <p:nvPr/>
        </p:nvSpPr>
        <p:spPr>
          <a:xfrm>
            <a:off x="6534302" y="4224528"/>
            <a:ext cx="128016" cy="128016"/>
          </a:xfrm>
          <a:prstGeom prst="rect">
            <a:avLst/>
          </a:prstGeom>
          <a:solidFill>
            <a:srgbClr val="F2B233"/>
          </a:solidFill>
          <a:ln/>
        </p:spPr>
      </p:sp>
      <p:sp>
        <p:nvSpPr>
          <p:cNvPr id="56" name="Text 53"/>
          <p:cNvSpPr/>
          <p:nvPr/>
        </p:nvSpPr>
        <p:spPr>
          <a:xfrm>
            <a:off x="6717182" y="4169664"/>
            <a:ext cx="2377440" cy="237744"/>
          </a:xfrm>
          <a:prstGeom prst="rect">
            <a:avLst/>
          </a:prstGeom>
          <a:noFill/>
          <a:ln/>
        </p:spPr>
        <p:txBody>
          <a:bodyPr wrap="square" lIns="0" tIns="0" rIns="0" bIns="0" rtlCol="0" anchor="t"/>
          <a:lstStyle/>
          <a:p>
            <a:pPr indent="0" marL="0">
              <a:buNone/>
            </a:pPr>
            <a:r>
              <a:rPr lang="en-US" sz="950" dirty="0">
                <a:solidFill>
                  <a:srgbClr val="56676F"/>
                </a:solidFill>
                <a:latin typeface="Segoe UI" pitchFamily="34" charset="0"/>
                <a:ea typeface="Segoe UI" pitchFamily="34" charset="-122"/>
                <a:cs typeface="Segoe UI" pitchFamily="34" charset="-120"/>
              </a:rPr>
              <a:t>VF-005/010/011/001/002/003 (20)</a:t>
            </a:r>
            <a:endParaRPr lang="en-US" sz="950" dirty="0"/>
          </a:p>
        </p:txBody>
      </p:sp>
      <p:sp>
        <p:nvSpPr>
          <p:cNvPr id="57" name="Shape 54"/>
          <p:cNvSpPr/>
          <p:nvPr/>
        </p:nvSpPr>
        <p:spPr>
          <a:xfrm>
            <a:off x="8611819" y="4224528"/>
            <a:ext cx="128016" cy="128016"/>
          </a:xfrm>
          <a:prstGeom prst="rect">
            <a:avLst/>
          </a:prstGeom>
          <a:solidFill>
            <a:srgbClr val="F7CD6E"/>
          </a:solidFill>
          <a:ln/>
        </p:spPr>
      </p:sp>
      <p:sp>
        <p:nvSpPr>
          <p:cNvPr id="58" name="Text 55"/>
          <p:cNvSpPr/>
          <p:nvPr/>
        </p:nvSpPr>
        <p:spPr>
          <a:xfrm>
            <a:off x="8794699" y="4169664"/>
            <a:ext cx="2377440" cy="237744"/>
          </a:xfrm>
          <a:prstGeom prst="rect">
            <a:avLst/>
          </a:prstGeom>
          <a:noFill/>
          <a:ln/>
        </p:spPr>
        <p:txBody>
          <a:bodyPr wrap="square" lIns="0" tIns="0" rIns="0" bIns="0" rtlCol="0" anchor="t"/>
          <a:lstStyle/>
          <a:p>
            <a:pPr indent="0" marL="0">
              <a:buNone/>
            </a:pPr>
            <a:r>
              <a:rPr lang="en-US" sz="950" dirty="0">
                <a:solidFill>
                  <a:srgbClr val="56676F"/>
                </a:solidFill>
                <a:latin typeface="Segoe UI" pitchFamily="34" charset="0"/>
                <a:ea typeface="Segoe UI" pitchFamily="34" charset="-122"/>
                <a:cs typeface="Segoe UI" pitchFamily="34" charset="-120"/>
              </a:rPr>
              <a:t>VF-004 (26)</a:t>
            </a:r>
            <a:endParaRPr lang="en-US" sz="950" dirty="0"/>
          </a:p>
        </p:txBody>
      </p:sp>
      <p:sp>
        <p:nvSpPr>
          <p:cNvPr id="59" name="Text 56"/>
          <p:cNvSpPr/>
          <p:nvPr/>
        </p:nvSpPr>
        <p:spPr>
          <a:xfrm>
            <a:off x="548640" y="4754880"/>
            <a:ext cx="548640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11 HALLAZGOS DE VALIDACIÓN FUNCIONAL</a:t>
            </a:r>
            <a:endParaRPr lang="en-US" sz="900" dirty="0"/>
          </a:p>
        </p:txBody>
      </p:sp>
      <p:sp>
        <p:nvSpPr>
          <p:cNvPr id="60" name="Shape 57"/>
          <p:cNvSpPr/>
          <p:nvPr/>
        </p:nvSpPr>
        <p:spPr>
          <a:xfrm>
            <a:off x="548640" y="5029200"/>
            <a:ext cx="958707" cy="365760"/>
          </a:xfrm>
          <a:prstGeom prst="roundRect">
            <a:avLst>
              <a:gd name="adj" fmla="val 15000"/>
            </a:avLst>
          </a:prstGeom>
          <a:solidFill>
            <a:srgbClr val="DFF0E4"/>
          </a:solidFill>
          <a:ln w="9525">
            <a:solidFill>
              <a:srgbClr val="2F7D4A"/>
            </a:solidFill>
            <a:prstDash val="solid"/>
          </a:ln>
        </p:spPr>
      </p:sp>
      <p:sp>
        <p:nvSpPr>
          <p:cNvPr id="61" name="Text 58"/>
          <p:cNvSpPr/>
          <p:nvPr/>
        </p:nvSpPr>
        <p:spPr>
          <a:xfrm>
            <a:off x="548640" y="5029200"/>
            <a:ext cx="958707" cy="365760"/>
          </a:xfrm>
          <a:prstGeom prst="rect">
            <a:avLst/>
          </a:prstGeom>
          <a:noFill/>
          <a:ln/>
        </p:spPr>
        <p:txBody>
          <a:bodyPr wrap="square" lIns="0" tIns="0" rIns="0" bIns="0" rtlCol="0" anchor="ctr"/>
          <a:lstStyle/>
          <a:p>
            <a:pPr algn="ctr" indent="0" marL="0">
              <a:buNone/>
            </a:pPr>
            <a:r>
              <a:rPr lang="en-US" sz="900" b="1" dirty="0">
                <a:solidFill>
                  <a:srgbClr val="2F7D4A"/>
                </a:solidFill>
                <a:latin typeface="Consolas" pitchFamily="34" charset="0"/>
                <a:ea typeface="Consolas" pitchFamily="34" charset="-122"/>
                <a:cs typeface="Consolas" pitchFamily="34" charset="-120"/>
              </a:rPr>
              <a:t>VF-001</a:t>
            </a:r>
            <a:endParaRPr lang="en-US" sz="900" dirty="0"/>
          </a:p>
        </p:txBody>
      </p:sp>
      <p:sp>
        <p:nvSpPr>
          <p:cNvPr id="62" name="Shape 59"/>
          <p:cNvSpPr/>
          <p:nvPr/>
        </p:nvSpPr>
        <p:spPr>
          <a:xfrm>
            <a:off x="1562211" y="5029200"/>
            <a:ext cx="958707" cy="365760"/>
          </a:xfrm>
          <a:prstGeom prst="roundRect">
            <a:avLst>
              <a:gd name="adj" fmla="val 15000"/>
            </a:avLst>
          </a:prstGeom>
          <a:solidFill>
            <a:srgbClr val="DFF0E4"/>
          </a:solidFill>
          <a:ln w="9525">
            <a:solidFill>
              <a:srgbClr val="2F7D4A"/>
            </a:solidFill>
            <a:prstDash val="solid"/>
          </a:ln>
        </p:spPr>
      </p:sp>
      <p:sp>
        <p:nvSpPr>
          <p:cNvPr id="63" name="Text 60"/>
          <p:cNvSpPr/>
          <p:nvPr/>
        </p:nvSpPr>
        <p:spPr>
          <a:xfrm>
            <a:off x="1562211" y="5029200"/>
            <a:ext cx="958707" cy="365760"/>
          </a:xfrm>
          <a:prstGeom prst="rect">
            <a:avLst/>
          </a:prstGeom>
          <a:noFill/>
          <a:ln/>
        </p:spPr>
        <p:txBody>
          <a:bodyPr wrap="square" lIns="0" tIns="0" rIns="0" bIns="0" rtlCol="0" anchor="ctr"/>
          <a:lstStyle/>
          <a:p>
            <a:pPr algn="ctr" indent="0" marL="0">
              <a:buNone/>
            </a:pPr>
            <a:r>
              <a:rPr lang="en-US" sz="900" b="1" dirty="0">
                <a:solidFill>
                  <a:srgbClr val="2F7D4A"/>
                </a:solidFill>
                <a:latin typeface="Consolas" pitchFamily="34" charset="0"/>
                <a:ea typeface="Consolas" pitchFamily="34" charset="-122"/>
                <a:cs typeface="Consolas" pitchFamily="34" charset="-120"/>
              </a:rPr>
              <a:t>VF-002</a:t>
            </a:r>
            <a:endParaRPr lang="en-US" sz="900" dirty="0"/>
          </a:p>
        </p:txBody>
      </p:sp>
      <p:sp>
        <p:nvSpPr>
          <p:cNvPr id="64" name="Shape 61"/>
          <p:cNvSpPr/>
          <p:nvPr/>
        </p:nvSpPr>
        <p:spPr>
          <a:xfrm>
            <a:off x="2575782" y="5029200"/>
            <a:ext cx="958707" cy="365760"/>
          </a:xfrm>
          <a:prstGeom prst="roundRect">
            <a:avLst>
              <a:gd name="adj" fmla="val 15000"/>
            </a:avLst>
          </a:prstGeom>
          <a:solidFill>
            <a:srgbClr val="DFF0E4"/>
          </a:solidFill>
          <a:ln w="9525">
            <a:solidFill>
              <a:srgbClr val="2F7D4A"/>
            </a:solidFill>
            <a:prstDash val="solid"/>
          </a:ln>
        </p:spPr>
      </p:sp>
      <p:sp>
        <p:nvSpPr>
          <p:cNvPr id="65" name="Text 62"/>
          <p:cNvSpPr/>
          <p:nvPr/>
        </p:nvSpPr>
        <p:spPr>
          <a:xfrm>
            <a:off x="2575782" y="5029200"/>
            <a:ext cx="958707" cy="365760"/>
          </a:xfrm>
          <a:prstGeom prst="rect">
            <a:avLst/>
          </a:prstGeom>
          <a:noFill/>
          <a:ln/>
        </p:spPr>
        <p:txBody>
          <a:bodyPr wrap="square" lIns="0" tIns="0" rIns="0" bIns="0" rtlCol="0" anchor="ctr"/>
          <a:lstStyle/>
          <a:p>
            <a:pPr algn="ctr" indent="0" marL="0">
              <a:buNone/>
            </a:pPr>
            <a:r>
              <a:rPr lang="en-US" sz="900" b="1" dirty="0">
                <a:solidFill>
                  <a:srgbClr val="2F7D4A"/>
                </a:solidFill>
                <a:latin typeface="Consolas" pitchFamily="34" charset="0"/>
                <a:ea typeface="Consolas" pitchFamily="34" charset="-122"/>
                <a:cs typeface="Consolas" pitchFamily="34" charset="-120"/>
              </a:rPr>
              <a:t>VF-003</a:t>
            </a:r>
            <a:endParaRPr lang="en-US" sz="900" dirty="0"/>
          </a:p>
        </p:txBody>
      </p:sp>
      <p:sp>
        <p:nvSpPr>
          <p:cNvPr id="66" name="Shape 63"/>
          <p:cNvSpPr/>
          <p:nvPr/>
        </p:nvSpPr>
        <p:spPr>
          <a:xfrm>
            <a:off x="3589353" y="5029200"/>
            <a:ext cx="958707" cy="365760"/>
          </a:xfrm>
          <a:prstGeom prst="roundRect">
            <a:avLst>
              <a:gd name="adj" fmla="val 15000"/>
            </a:avLst>
          </a:prstGeom>
          <a:solidFill>
            <a:srgbClr val="DFF0E4"/>
          </a:solidFill>
          <a:ln w="9525">
            <a:solidFill>
              <a:srgbClr val="2F7D4A"/>
            </a:solidFill>
            <a:prstDash val="solid"/>
          </a:ln>
        </p:spPr>
      </p:sp>
      <p:sp>
        <p:nvSpPr>
          <p:cNvPr id="67" name="Text 64"/>
          <p:cNvSpPr/>
          <p:nvPr/>
        </p:nvSpPr>
        <p:spPr>
          <a:xfrm>
            <a:off x="3589353" y="5029200"/>
            <a:ext cx="958707" cy="365760"/>
          </a:xfrm>
          <a:prstGeom prst="rect">
            <a:avLst/>
          </a:prstGeom>
          <a:noFill/>
          <a:ln/>
        </p:spPr>
        <p:txBody>
          <a:bodyPr wrap="square" lIns="0" tIns="0" rIns="0" bIns="0" rtlCol="0" anchor="ctr"/>
          <a:lstStyle/>
          <a:p>
            <a:pPr algn="ctr" indent="0" marL="0">
              <a:buNone/>
            </a:pPr>
            <a:r>
              <a:rPr lang="en-US" sz="900" b="1" dirty="0">
                <a:solidFill>
                  <a:srgbClr val="2F7D4A"/>
                </a:solidFill>
                <a:latin typeface="Consolas" pitchFamily="34" charset="0"/>
                <a:ea typeface="Consolas" pitchFamily="34" charset="-122"/>
                <a:cs typeface="Consolas" pitchFamily="34" charset="-120"/>
              </a:rPr>
              <a:t>VF-004</a:t>
            </a:r>
            <a:endParaRPr lang="en-US" sz="900" dirty="0"/>
          </a:p>
        </p:txBody>
      </p:sp>
      <p:sp>
        <p:nvSpPr>
          <p:cNvPr id="68" name="Shape 65"/>
          <p:cNvSpPr/>
          <p:nvPr/>
        </p:nvSpPr>
        <p:spPr>
          <a:xfrm>
            <a:off x="4602923" y="5029200"/>
            <a:ext cx="958707" cy="365760"/>
          </a:xfrm>
          <a:prstGeom prst="roundRect">
            <a:avLst>
              <a:gd name="adj" fmla="val 15000"/>
            </a:avLst>
          </a:prstGeom>
          <a:solidFill>
            <a:srgbClr val="DFF0E4"/>
          </a:solidFill>
          <a:ln w="9525">
            <a:solidFill>
              <a:srgbClr val="2F7D4A"/>
            </a:solidFill>
            <a:prstDash val="solid"/>
          </a:ln>
        </p:spPr>
      </p:sp>
      <p:sp>
        <p:nvSpPr>
          <p:cNvPr id="69" name="Text 66"/>
          <p:cNvSpPr/>
          <p:nvPr/>
        </p:nvSpPr>
        <p:spPr>
          <a:xfrm>
            <a:off x="4602923" y="5029200"/>
            <a:ext cx="958707" cy="365760"/>
          </a:xfrm>
          <a:prstGeom prst="rect">
            <a:avLst/>
          </a:prstGeom>
          <a:noFill/>
          <a:ln/>
        </p:spPr>
        <p:txBody>
          <a:bodyPr wrap="square" lIns="0" tIns="0" rIns="0" bIns="0" rtlCol="0" anchor="ctr"/>
          <a:lstStyle/>
          <a:p>
            <a:pPr algn="ctr" indent="0" marL="0">
              <a:buNone/>
            </a:pPr>
            <a:r>
              <a:rPr lang="en-US" sz="900" b="1" dirty="0">
                <a:solidFill>
                  <a:srgbClr val="2F7D4A"/>
                </a:solidFill>
                <a:latin typeface="Consolas" pitchFamily="34" charset="0"/>
                <a:ea typeface="Consolas" pitchFamily="34" charset="-122"/>
                <a:cs typeface="Consolas" pitchFamily="34" charset="-120"/>
              </a:rPr>
              <a:t>VF-005</a:t>
            </a:r>
            <a:endParaRPr lang="en-US" sz="900" dirty="0"/>
          </a:p>
        </p:txBody>
      </p:sp>
      <p:sp>
        <p:nvSpPr>
          <p:cNvPr id="70" name="Shape 67"/>
          <p:cNvSpPr/>
          <p:nvPr/>
        </p:nvSpPr>
        <p:spPr>
          <a:xfrm>
            <a:off x="5616494" y="5029200"/>
            <a:ext cx="958707" cy="365760"/>
          </a:xfrm>
          <a:prstGeom prst="roundRect">
            <a:avLst>
              <a:gd name="adj" fmla="val 15000"/>
            </a:avLst>
          </a:prstGeom>
          <a:solidFill>
            <a:srgbClr val="DFF0E4"/>
          </a:solidFill>
          <a:ln w="9525">
            <a:solidFill>
              <a:srgbClr val="2F7D4A"/>
            </a:solidFill>
            <a:prstDash val="solid"/>
          </a:ln>
        </p:spPr>
      </p:sp>
      <p:sp>
        <p:nvSpPr>
          <p:cNvPr id="71" name="Text 68"/>
          <p:cNvSpPr/>
          <p:nvPr/>
        </p:nvSpPr>
        <p:spPr>
          <a:xfrm>
            <a:off x="5616494" y="5029200"/>
            <a:ext cx="958707" cy="365760"/>
          </a:xfrm>
          <a:prstGeom prst="rect">
            <a:avLst/>
          </a:prstGeom>
          <a:noFill/>
          <a:ln/>
        </p:spPr>
        <p:txBody>
          <a:bodyPr wrap="square" lIns="0" tIns="0" rIns="0" bIns="0" rtlCol="0" anchor="ctr"/>
          <a:lstStyle/>
          <a:p>
            <a:pPr algn="ctr" indent="0" marL="0">
              <a:buNone/>
            </a:pPr>
            <a:r>
              <a:rPr lang="en-US" sz="900" b="1" dirty="0">
                <a:solidFill>
                  <a:srgbClr val="2F7D4A"/>
                </a:solidFill>
                <a:latin typeface="Consolas" pitchFamily="34" charset="0"/>
                <a:ea typeface="Consolas" pitchFamily="34" charset="-122"/>
                <a:cs typeface="Consolas" pitchFamily="34" charset="-120"/>
              </a:rPr>
              <a:t>VF-006</a:t>
            </a:r>
            <a:endParaRPr lang="en-US" sz="900" dirty="0"/>
          </a:p>
        </p:txBody>
      </p:sp>
      <p:sp>
        <p:nvSpPr>
          <p:cNvPr id="72" name="Shape 69"/>
          <p:cNvSpPr/>
          <p:nvPr/>
        </p:nvSpPr>
        <p:spPr>
          <a:xfrm>
            <a:off x="6630065" y="5029200"/>
            <a:ext cx="958707" cy="365760"/>
          </a:xfrm>
          <a:prstGeom prst="roundRect">
            <a:avLst>
              <a:gd name="adj" fmla="val 15000"/>
            </a:avLst>
          </a:prstGeom>
          <a:solidFill>
            <a:srgbClr val="DFF0E4"/>
          </a:solidFill>
          <a:ln w="9525">
            <a:solidFill>
              <a:srgbClr val="2F7D4A"/>
            </a:solidFill>
            <a:prstDash val="solid"/>
          </a:ln>
        </p:spPr>
      </p:sp>
      <p:sp>
        <p:nvSpPr>
          <p:cNvPr id="73" name="Text 70"/>
          <p:cNvSpPr/>
          <p:nvPr/>
        </p:nvSpPr>
        <p:spPr>
          <a:xfrm>
            <a:off x="6630065" y="5029200"/>
            <a:ext cx="958707" cy="365760"/>
          </a:xfrm>
          <a:prstGeom prst="rect">
            <a:avLst/>
          </a:prstGeom>
          <a:noFill/>
          <a:ln/>
        </p:spPr>
        <p:txBody>
          <a:bodyPr wrap="square" lIns="0" tIns="0" rIns="0" bIns="0" rtlCol="0" anchor="ctr"/>
          <a:lstStyle/>
          <a:p>
            <a:pPr algn="ctr" indent="0" marL="0">
              <a:buNone/>
            </a:pPr>
            <a:r>
              <a:rPr lang="en-US" sz="900" b="1" dirty="0">
                <a:solidFill>
                  <a:srgbClr val="2F7D4A"/>
                </a:solidFill>
                <a:latin typeface="Consolas" pitchFamily="34" charset="0"/>
                <a:ea typeface="Consolas" pitchFamily="34" charset="-122"/>
                <a:cs typeface="Consolas" pitchFamily="34" charset="-120"/>
              </a:rPr>
              <a:t>VF-007</a:t>
            </a:r>
            <a:endParaRPr lang="en-US" sz="900" dirty="0"/>
          </a:p>
        </p:txBody>
      </p:sp>
      <p:sp>
        <p:nvSpPr>
          <p:cNvPr id="74" name="Shape 71"/>
          <p:cNvSpPr/>
          <p:nvPr/>
        </p:nvSpPr>
        <p:spPr>
          <a:xfrm>
            <a:off x="7643636" y="5029200"/>
            <a:ext cx="958707" cy="365760"/>
          </a:xfrm>
          <a:prstGeom prst="roundRect">
            <a:avLst>
              <a:gd name="adj" fmla="val 15000"/>
            </a:avLst>
          </a:prstGeom>
          <a:solidFill>
            <a:srgbClr val="DFF0E4"/>
          </a:solidFill>
          <a:ln w="9525">
            <a:solidFill>
              <a:srgbClr val="2F7D4A"/>
            </a:solidFill>
            <a:prstDash val="solid"/>
          </a:ln>
        </p:spPr>
      </p:sp>
      <p:sp>
        <p:nvSpPr>
          <p:cNvPr id="75" name="Text 72"/>
          <p:cNvSpPr/>
          <p:nvPr/>
        </p:nvSpPr>
        <p:spPr>
          <a:xfrm>
            <a:off x="7643636" y="5029200"/>
            <a:ext cx="958707" cy="365760"/>
          </a:xfrm>
          <a:prstGeom prst="rect">
            <a:avLst/>
          </a:prstGeom>
          <a:noFill/>
          <a:ln/>
        </p:spPr>
        <p:txBody>
          <a:bodyPr wrap="square" lIns="0" tIns="0" rIns="0" bIns="0" rtlCol="0" anchor="ctr"/>
          <a:lstStyle/>
          <a:p>
            <a:pPr algn="ctr" indent="0" marL="0">
              <a:buNone/>
            </a:pPr>
            <a:r>
              <a:rPr lang="en-US" sz="900" b="1" dirty="0">
                <a:solidFill>
                  <a:srgbClr val="2F7D4A"/>
                </a:solidFill>
                <a:latin typeface="Consolas" pitchFamily="34" charset="0"/>
                <a:ea typeface="Consolas" pitchFamily="34" charset="-122"/>
                <a:cs typeface="Consolas" pitchFamily="34" charset="-120"/>
              </a:rPr>
              <a:t>VF-008</a:t>
            </a:r>
            <a:endParaRPr lang="en-US" sz="900" dirty="0"/>
          </a:p>
        </p:txBody>
      </p:sp>
      <p:sp>
        <p:nvSpPr>
          <p:cNvPr id="76" name="Shape 73"/>
          <p:cNvSpPr/>
          <p:nvPr/>
        </p:nvSpPr>
        <p:spPr>
          <a:xfrm>
            <a:off x="8657207" y="5029200"/>
            <a:ext cx="958707" cy="365760"/>
          </a:xfrm>
          <a:prstGeom prst="roundRect">
            <a:avLst>
              <a:gd name="adj" fmla="val 15000"/>
            </a:avLst>
          </a:prstGeom>
          <a:solidFill>
            <a:srgbClr val="DFF0E4"/>
          </a:solidFill>
          <a:ln w="9525">
            <a:solidFill>
              <a:srgbClr val="2F7D4A"/>
            </a:solidFill>
            <a:prstDash val="solid"/>
          </a:ln>
        </p:spPr>
      </p:sp>
      <p:sp>
        <p:nvSpPr>
          <p:cNvPr id="77" name="Text 74"/>
          <p:cNvSpPr/>
          <p:nvPr/>
        </p:nvSpPr>
        <p:spPr>
          <a:xfrm>
            <a:off x="8657207" y="5029200"/>
            <a:ext cx="958707" cy="365760"/>
          </a:xfrm>
          <a:prstGeom prst="rect">
            <a:avLst/>
          </a:prstGeom>
          <a:noFill/>
          <a:ln/>
        </p:spPr>
        <p:txBody>
          <a:bodyPr wrap="square" lIns="0" tIns="0" rIns="0" bIns="0" rtlCol="0" anchor="ctr"/>
          <a:lstStyle/>
          <a:p>
            <a:pPr algn="ctr" indent="0" marL="0">
              <a:buNone/>
            </a:pPr>
            <a:r>
              <a:rPr lang="en-US" sz="900" b="1" dirty="0">
                <a:solidFill>
                  <a:srgbClr val="2F7D4A"/>
                </a:solidFill>
                <a:latin typeface="Consolas" pitchFamily="34" charset="0"/>
                <a:ea typeface="Consolas" pitchFamily="34" charset="-122"/>
                <a:cs typeface="Consolas" pitchFamily="34" charset="-120"/>
              </a:rPr>
              <a:t>VF-009</a:t>
            </a:r>
            <a:endParaRPr lang="en-US" sz="900" dirty="0"/>
          </a:p>
        </p:txBody>
      </p:sp>
      <p:sp>
        <p:nvSpPr>
          <p:cNvPr id="78" name="Shape 75"/>
          <p:cNvSpPr/>
          <p:nvPr/>
        </p:nvSpPr>
        <p:spPr>
          <a:xfrm>
            <a:off x="9670778" y="5029200"/>
            <a:ext cx="958707" cy="365760"/>
          </a:xfrm>
          <a:prstGeom prst="roundRect">
            <a:avLst>
              <a:gd name="adj" fmla="val 15000"/>
            </a:avLst>
          </a:prstGeom>
          <a:solidFill>
            <a:srgbClr val="DFF0E4"/>
          </a:solidFill>
          <a:ln w="9525">
            <a:solidFill>
              <a:srgbClr val="2F7D4A"/>
            </a:solidFill>
            <a:prstDash val="solid"/>
          </a:ln>
        </p:spPr>
      </p:sp>
      <p:sp>
        <p:nvSpPr>
          <p:cNvPr id="79" name="Text 76"/>
          <p:cNvSpPr/>
          <p:nvPr/>
        </p:nvSpPr>
        <p:spPr>
          <a:xfrm>
            <a:off x="9670778" y="5029200"/>
            <a:ext cx="958707" cy="365760"/>
          </a:xfrm>
          <a:prstGeom prst="rect">
            <a:avLst/>
          </a:prstGeom>
          <a:noFill/>
          <a:ln/>
        </p:spPr>
        <p:txBody>
          <a:bodyPr wrap="square" lIns="0" tIns="0" rIns="0" bIns="0" rtlCol="0" anchor="ctr"/>
          <a:lstStyle/>
          <a:p>
            <a:pPr algn="ctr" indent="0" marL="0">
              <a:buNone/>
            </a:pPr>
            <a:r>
              <a:rPr lang="en-US" sz="900" b="1" dirty="0">
                <a:solidFill>
                  <a:srgbClr val="2F7D4A"/>
                </a:solidFill>
                <a:latin typeface="Consolas" pitchFamily="34" charset="0"/>
                <a:ea typeface="Consolas" pitchFamily="34" charset="-122"/>
                <a:cs typeface="Consolas" pitchFamily="34" charset="-120"/>
              </a:rPr>
              <a:t>VF-010</a:t>
            </a:r>
            <a:endParaRPr lang="en-US" sz="900" dirty="0"/>
          </a:p>
        </p:txBody>
      </p:sp>
      <p:sp>
        <p:nvSpPr>
          <p:cNvPr id="80" name="Shape 77"/>
          <p:cNvSpPr/>
          <p:nvPr/>
        </p:nvSpPr>
        <p:spPr>
          <a:xfrm>
            <a:off x="10684348" y="5029200"/>
            <a:ext cx="958707" cy="365760"/>
          </a:xfrm>
          <a:prstGeom prst="roundRect">
            <a:avLst>
              <a:gd name="adj" fmla="val 15000"/>
            </a:avLst>
          </a:prstGeom>
          <a:solidFill>
            <a:srgbClr val="DFF0E4"/>
          </a:solidFill>
          <a:ln w="9525">
            <a:solidFill>
              <a:srgbClr val="2F7D4A"/>
            </a:solidFill>
            <a:prstDash val="solid"/>
          </a:ln>
        </p:spPr>
      </p:sp>
      <p:sp>
        <p:nvSpPr>
          <p:cNvPr id="81" name="Text 78"/>
          <p:cNvSpPr/>
          <p:nvPr/>
        </p:nvSpPr>
        <p:spPr>
          <a:xfrm>
            <a:off x="10684348" y="5029200"/>
            <a:ext cx="958707" cy="365760"/>
          </a:xfrm>
          <a:prstGeom prst="rect">
            <a:avLst/>
          </a:prstGeom>
          <a:noFill/>
          <a:ln/>
        </p:spPr>
        <p:txBody>
          <a:bodyPr wrap="square" lIns="0" tIns="0" rIns="0" bIns="0" rtlCol="0" anchor="ctr"/>
          <a:lstStyle/>
          <a:p>
            <a:pPr algn="ctr" indent="0" marL="0">
              <a:buNone/>
            </a:pPr>
            <a:r>
              <a:rPr lang="en-US" sz="900" b="1" dirty="0">
                <a:solidFill>
                  <a:srgbClr val="2F7D4A"/>
                </a:solidFill>
                <a:latin typeface="Consolas" pitchFamily="34" charset="0"/>
                <a:ea typeface="Consolas" pitchFamily="34" charset="-122"/>
                <a:cs typeface="Consolas" pitchFamily="34" charset="-120"/>
              </a:rPr>
              <a:t>VF-011</a:t>
            </a:r>
            <a:endParaRPr lang="en-US" sz="900" dirty="0"/>
          </a:p>
        </p:txBody>
      </p:sp>
      <p:sp>
        <p:nvSpPr>
          <p:cNvPr id="82" name="Shape 79"/>
          <p:cNvSpPr/>
          <p:nvPr/>
        </p:nvSpPr>
        <p:spPr>
          <a:xfrm>
            <a:off x="548640" y="5596128"/>
            <a:ext cx="128016" cy="128016"/>
          </a:xfrm>
          <a:prstGeom prst="rect">
            <a:avLst/>
          </a:prstGeom>
          <a:solidFill>
            <a:srgbClr val="2F7D4A"/>
          </a:solidFill>
          <a:ln/>
        </p:spPr>
      </p:sp>
      <p:sp>
        <p:nvSpPr>
          <p:cNvPr id="83" name="Text 80"/>
          <p:cNvSpPr/>
          <p:nvPr/>
        </p:nvSpPr>
        <p:spPr>
          <a:xfrm>
            <a:off x="731520" y="5522976"/>
            <a:ext cx="2926080" cy="274320"/>
          </a:xfrm>
          <a:prstGeom prst="rect">
            <a:avLst/>
          </a:prstGeom>
          <a:noFill/>
          <a:ln/>
        </p:spPr>
        <p:txBody>
          <a:bodyPr wrap="square" lIns="0" tIns="0" rIns="0" bIns="0" rtlCol="0" anchor="ctr"/>
          <a:lstStyle/>
          <a:p>
            <a:pPr indent="0" marL="0">
              <a:buNone/>
            </a:pPr>
            <a:r>
              <a:rPr lang="en-US" sz="1150" b="1" dirty="0">
                <a:solidFill>
                  <a:srgbClr val="2F7D4A"/>
                </a:solidFill>
                <a:latin typeface="Segoe UI" pitchFamily="34" charset="0"/>
                <a:ea typeface="Segoe UI" pitchFamily="34" charset="-122"/>
                <a:cs typeface="Segoe UI" pitchFamily="34" charset="-120"/>
              </a:rPr>
              <a:t>Estado final: 11 / 11 CLOSED</a:t>
            </a:r>
            <a:endParaRPr lang="en-US" sz="1150" dirty="0"/>
          </a:p>
        </p:txBody>
      </p:sp>
      <p:sp>
        <p:nvSpPr>
          <p:cNvPr id="84" name="Text 81"/>
          <p:cNvSpPr/>
          <p:nvPr/>
        </p:nvSpPr>
        <p:spPr>
          <a:xfrm>
            <a:off x="3383280" y="5522976"/>
            <a:ext cx="8259775" cy="274320"/>
          </a:xfrm>
          <a:prstGeom prst="rect">
            <a:avLst/>
          </a:prstGeom>
          <a:noFill/>
          <a:ln/>
        </p:spPr>
        <p:txBody>
          <a:bodyPr wrap="square" lIns="0" tIns="0" rIns="0" bIns="0" rtlCol="0" anchor="ctr"/>
          <a:lstStyle/>
          <a:p>
            <a:pPr indent="0" marL="0">
              <a:buNone/>
            </a:pPr>
            <a:r>
              <a:rPr lang="en-US" sz="1000" dirty="0">
                <a:solidFill>
                  <a:srgbClr val="56676F"/>
                </a:solidFill>
                <a:latin typeface="Segoe UI" pitchFamily="34" charset="0"/>
                <a:ea typeface="Segoe UI" pitchFamily="34" charset="-122"/>
                <a:cs typeface="Segoe UI" pitchFamily="34" charset="-120"/>
              </a:rPr>
              <a:t>8 corregidos en bloques nuevos · 3 confirmados sin cambios tras validación manual (VF-006, VF-008, VF-009)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38912" cy="274320"/>
          </a:xfrm>
          <a:prstGeom prst="rect">
            <a:avLst/>
          </a:prstGeom>
          <a:solidFill>
            <a:srgbClr val="F2B233"/>
          </a:solidFill>
          <a:ln/>
        </p:spPr>
      </p:sp>
      <p:sp>
        <p:nvSpPr>
          <p:cNvPr id="3" name="Text 1"/>
          <p:cNvSpPr/>
          <p:nvPr/>
        </p:nvSpPr>
        <p:spPr>
          <a:xfrm>
            <a:off x="548640" y="329184"/>
            <a:ext cx="438912" cy="274320"/>
          </a:xfrm>
          <a:prstGeom prst="rect">
            <a:avLst/>
          </a:prstGeom>
          <a:noFill/>
          <a:ln/>
        </p:spPr>
        <p:txBody>
          <a:bodyPr wrap="square" lIns="0" tIns="0" rIns="0" bIns="0" rtlCol="0" anchor="ctr"/>
          <a:lstStyle/>
          <a:p>
            <a:pPr algn="ctr" indent="0" marL="0">
              <a:buNone/>
            </a:pPr>
            <a:r>
              <a:rPr lang="en-US" sz="1100" b="1" dirty="0">
                <a:solidFill>
                  <a:srgbClr val="13232B"/>
                </a:solidFill>
                <a:latin typeface="Consolas" pitchFamily="34" charset="0"/>
                <a:ea typeface="Consolas" pitchFamily="34" charset="-122"/>
                <a:cs typeface="Consolas" pitchFamily="34" charset="-120"/>
              </a:rPr>
              <a:t>05</a:t>
            </a:r>
            <a:endParaRPr lang="en-US" sz="1100" dirty="0"/>
          </a:p>
        </p:txBody>
      </p:sp>
      <p:sp>
        <p:nvSpPr>
          <p:cNvPr id="4" name="Text 2"/>
          <p:cNvSpPr/>
          <p:nvPr/>
        </p:nvSpPr>
        <p:spPr>
          <a:xfrm>
            <a:off x="1115568" y="329184"/>
            <a:ext cx="5486400" cy="274320"/>
          </a:xfrm>
          <a:prstGeom prst="rect">
            <a:avLst/>
          </a:prstGeom>
          <a:noFill/>
          <a:ln/>
        </p:spPr>
        <p:txBody>
          <a:bodyPr wrap="square" lIns="0" tIns="0" rIns="0" bIns="0" rtlCol="0" anchor="ctr"/>
          <a:lstStyle/>
          <a:p>
            <a:pPr indent="0" marL="0">
              <a:buNone/>
            </a:pPr>
            <a:r>
              <a:rPr lang="en-US" sz="1050" b="1" spc="150" kern="0" dirty="0">
                <a:solidFill>
                  <a:srgbClr val="13232B"/>
                </a:solidFill>
                <a:latin typeface="Consolas" pitchFamily="34" charset="0"/>
                <a:ea typeface="Consolas" pitchFamily="34" charset="-122"/>
                <a:cs typeface="Consolas" pitchFamily="34" charset="-120"/>
              </a:rPr>
              <a:t>TRABAJO CON IA</a:t>
            </a:r>
            <a:endParaRPr lang="en-US" sz="1050" dirty="0"/>
          </a:p>
        </p:txBody>
      </p:sp>
      <p:sp>
        <p:nvSpPr>
          <p:cNvPr id="5" name="Text 3"/>
          <p:cNvSpPr/>
          <p:nvPr/>
        </p:nvSpPr>
        <p:spPr>
          <a:xfrm>
            <a:off x="6156655" y="329184"/>
            <a:ext cx="5486400" cy="274320"/>
          </a:xfrm>
          <a:prstGeom prst="rect">
            <a:avLst/>
          </a:prstGeom>
          <a:noFill/>
          <a:ln/>
        </p:spPr>
        <p:txBody>
          <a:bodyPr wrap="square" lIns="0" tIns="0" rIns="0" bIns="0" rtlCol="0" anchor="ctr"/>
          <a:lstStyle/>
          <a:p>
            <a:pPr algn="r" indent="0" marL="0">
              <a:buNone/>
            </a:pPr>
            <a:r>
              <a:rPr lang="en-US" sz="950" spc="150" kern="0" dirty="0">
                <a:solidFill>
                  <a:srgbClr val="56676F"/>
                </a:solidFill>
                <a:latin typeface="Consolas" pitchFamily="34" charset="0"/>
                <a:ea typeface="Consolas" pitchFamily="34" charset="-122"/>
                <a:cs typeface="Consolas" pitchFamily="34" charset="-120"/>
              </a:rPr>
              <a:t>CLAUDE CODE + SPEC KIT</a:t>
            </a:r>
            <a:endParaRPr lang="en-US" sz="950" dirty="0"/>
          </a:p>
        </p:txBody>
      </p:sp>
      <p:sp>
        <p:nvSpPr>
          <p:cNvPr id="6" name="Text 4"/>
          <p:cNvSpPr/>
          <p:nvPr/>
        </p:nvSpPr>
        <p:spPr>
          <a:xfrm>
            <a:off x="548640" y="6446520"/>
            <a:ext cx="8229600" cy="22860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post-baseline-validation.md · tasks.md</a:t>
            </a:r>
            <a:endParaRPr lang="en-US" sz="850" dirty="0"/>
          </a:p>
        </p:txBody>
      </p:sp>
      <p:sp>
        <p:nvSpPr>
          <p:cNvPr id="7" name="Text 5"/>
          <p:cNvSpPr/>
          <p:nvPr/>
        </p:nvSpPr>
        <p:spPr>
          <a:xfrm>
            <a:off x="9814255" y="6446520"/>
            <a:ext cx="1828800" cy="228600"/>
          </a:xfrm>
          <a:prstGeom prst="rect">
            <a:avLst/>
          </a:prstGeom>
          <a:noFill/>
          <a:ln/>
        </p:spPr>
        <p:txBody>
          <a:bodyPr wrap="square" lIns="0" tIns="0" rIns="0" bIns="0" rtlCol="0" anchor="t"/>
          <a:lstStyle/>
          <a:p>
            <a:pPr algn="r" indent="0" marL="0">
              <a:buNone/>
            </a:pPr>
            <a:r>
              <a:rPr lang="en-US" sz="850" dirty="0">
                <a:solidFill>
                  <a:srgbClr val="56676F"/>
                </a:solidFill>
                <a:latin typeface="Consolas" pitchFamily="34" charset="0"/>
                <a:ea typeface="Consolas" pitchFamily="34" charset="-122"/>
                <a:cs typeface="Consolas" pitchFamily="34" charset="-120"/>
              </a:rPr>
              <a:t>05 / 11</a:t>
            </a:r>
            <a:endParaRPr lang="en-US" sz="850" dirty="0"/>
          </a:p>
        </p:txBody>
      </p:sp>
      <p:sp>
        <p:nvSpPr>
          <p:cNvPr id="9" name="Text 6"/>
          <p:cNvSpPr/>
          <p:nvPr/>
        </p:nvSpPr>
        <p:spPr>
          <a:xfrm>
            <a:off x="548640" y="777240"/>
            <a:ext cx="11094415" cy="658368"/>
          </a:xfrm>
          <a:prstGeom prst="rect">
            <a:avLst/>
          </a:prstGeom>
          <a:noFill/>
          <a:ln/>
        </p:spPr>
        <p:txBody>
          <a:bodyPr wrap="square" lIns="0" tIns="0" rIns="0" bIns="0" rtlCol="0" anchor="ctr"/>
          <a:lstStyle/>
          <a:p>
            <a:pPr indent="0" marL="0">
              <a:buNone/>
            </a:pPr>
            <a:r>
              <a:rPr lang="en-US" sz="3200" b="1" dirty="0">
                <a:solidFill>
                  <a:srgbClr val="13232B"/>
                </a:solidFill>
                <a:latin typeface="Bahnschrift" pitchFamily="34" charset="0"/>
                <a:ea typeface="Bahnschrift" pitchFamily="34" charset="-122"/>
                <a:cs typeface="Bahnschrift" pitchFamily="34" charset="-120"/>
              </a:rPr>
              <a:t>La persona decide, el agente ejecuta y demuestra</a:t>
            </a:r>
            <a:endParaRPr lang="en-US" sz="3200" dirty="0"/>
          </a:p>
        </p:txBody>
      </p:sp>
      <p:sp>
        <p:nvSpPr>
          <p:cNvPr id="10" name="Text 7"/>
          <p:cNvSpPr/>
          <p:nvPr/>
        </p:nvSpPr>
        <p:spPr>
          <a:xfrm>
            <a:off x="548640" y="1453896"/>
            <a:ext cx="9601200" cy="548640"/>
          </a:xfrm>
          <a:prstGeom prst="rect">
            <a:avLst/>
          </a:prstGeom>
          <a:noFill/>
          <a:ln/>
        </p:spPr>
        <p:txBody>
          <a:bodyPr wrap="square" lIns="0" tIns="0" rIns="0" bIns="0" rtlCol="0" anchor="t"/>
          <a:lstStyle/>
          <a:p>
            <a:pPr indent="0" marL="0">
              <a:buNone/>
            </a:pPr>
            <a:r>
              <a:rPr lang="en-US" sz="1300" dirty="0">
                <a:solidFill>
                  <a:srgbClr val="56676F"/>
                </a:solidFill>
                <a:latin typeface="Segoe UI" pitchFamily="34" charset="0"/>
                <a:ea typeface="Segoe UI" pitchFamily="34" charset="-122"/>
                <a:cs typeface="Segoe UI" pitchFamily="34" charset="-120"/>
              </a:rPr>
              <a:t>La IA no inventa reglas de negocio: propone opciones con una recomendación y espera la decisión. Cada respuesta queda escrita en la especificación antes de tocar el código.</a:t>
            </a:r>
            <a:endParaRPr lang="en-US" sz="1300" dirty="0"/>
          </a:p>
        </p:txBody>
      </p:sp>
      <p:sp>
        <p:nvSpPr>
          <p:cNvPr id="11" name="Text 8"/>
          <p:cNvSpPr/>
          <p:nvPr/>
        </p:nvSpPr>
        <p:spPr>
          <a:xfrm>
            <a:off x="2029968" y="2148840"/>
            <a:ext cx="2334692"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ESPECIFICAR</a:t>
            </a:r>
            <a:endParaRPr lang="en-US" sz="900" dirty="0"/>
          </a:p>
        </p:txBody>
      </p:sp>
      <p:sp>
        <p:nvSpPr>
          <p:cNvPr id="12" name="Shape 9"/>
          <p:cNvSpPr/>
          <p:nvPr/>
        </p:nvSpPr>
        <p:spPr>
          <a:xfrm>
            <a:off x="2029968" y="2395728"/>
            <a:ext cx="2334692" cy="27432"/>
          </a:xfrm>
          <a:prstGeom prst="rect">
            <a:avLst/>
          </a:prstGeom>
          <a:solidFill>
            <a:srgbClr val="C8D3D8"/>
          </a:solidFill>
          <a:ln/>
        </p:spPr>
      </p:sp>
      <p:sp>
        <p:nvSpPr>
          <p:cNvPr id="13" name="Text 10"/>
          <p:cNvSpPr/>
          <p:nvPr/>
        </p:nvSpPr>
        <p:spPr>
          <a:xfrm>
            <a:off x="4456100" y="2148840"/>
            <a:ext cx="2334692"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DECIDIR</a:t>
            </a:r>
            <a:endParaRPr lang="en-US" sz="900" dirty="0"/>
          </a:p>
        </p:txBody>
      </p:sp>
      <p:sp>
        <p:nvSpPr>
          <p:cNvPr id="14" name="Shape 11"/>
          <p:cNvSpPr/>
          <p:nvPr/>
        </p:nvSpPr>
        <p:spPr>
          <a:xfrm>
            <a:off x="4456100" y="2395728"/>
            <a:ext cx="2334692" cy="27432"/>
          </a:xfrm>
          <a:prstGeom prst="rect">
            <a:avLst/>
          </a:prstGeom>
          <a:solidFill>
            <a:srgbClr val="C8D3D8"/>
          </a:solidFill>
          <a:ln/>
        </p:spPr>
      </p:sp>
      <p:sp>
        <p:nvSpPr>
          <p:cNvPr id="15" name="Text 12"/>
          <p:cNvSpPr/>
          <p:nvPr/>
        </p:nvSpPr>
        <p:spPr>
          <a:xfrm>
            <a:off x="6882232" y="2148840"/>
            <a:ext cx="2334692"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VERIFICAR</a:t>
            </a:r>
            <a:endParaRPr lang="en-US" sz="900" dirty="0"/>
          </a:p>
        </p:txBody>
      </p:sp>
      <p:sp>
        <p:nvSpPr>
          <p:cNvPr id="16" name="Shape 13"/>
          <p:cNvSpPr/>
          <p:nvPr/>
        </p:nvSpPr>
        <p:spPr>
          <a:xfrm>
            <a:off x="6882232" y="2395728"/>
            <a:ext cx="2334692" cy="27432"/>
          </a:xfrm>
          <a:prstGeom prst="rect">
            <a:avLst/>
          </a:prstGeom>
          <a:solidFill>
            <a:srgbClr val="C8D3D8"/>
          </a:solidFill>
          <a:ln/>
        </p:spPr>
      </p:sp>
      <p:sp>
        <p:nvSpPr>
          <p:cNvPr id="17" name="Text 14"/>
          <p:cNvSpPr/>
          <p:nvPr/>
        </p:nvSpPr>
        <p:spPr>
          <a:xfrm>
            <a:off x="9308363" y="2148840"/>
            <a:ext cx="2334692"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CONSTRUIR Y CERRAR</a:t>
            </a:r>
            <a:endParaRPr lang="en-US" sz="900" dirty="0"/>
          </a:p>
        </p:txBody>
      </p:sp>
      <p:sp>
        <p:nvSpPr>
          <p:cNvPr id="18" name="Shape 15"/>
          <p:cNvSpPr/>
          <p:nvPr/>
        </p:nvSpPr>
        <p:spPr>
          <a:xfrm>
            <a:off x="9308363" y="2395728"/>
            <a:ext cx="2334692" cy="27432"/>
          </a:xfrm>
          <a:prstGeom prst="rect">
            <a:avLst/>
          </a:prstGeom>
          <a:solidFill>
            <a:srgbClr val="C8D3D8"/>
          </a:solidFill>
          <a:ln/>
        </p:spPr>
      </p:sp>
      <p:sp>
        <p:nvSpPr>
          <p:cNvPr id="19" name="Text 16"/>
          <p:cNvSpPr/>
          <p:nvPr/>
        </p:nvSpPr>
        <p:spPr>
          <a:xfrm>
            <a:off x="548640" y="2624328"/>
            <a:ext cx="1371600" cy="365760"/>
          </a:xfrm>
          <a:prstGeom prst="rect">
            <a:avLst/>
          </a:prstGeom>
          <a:noFill/>
          <a:ln/>
        </p:spPr>
        <p:txBody>
          <a:bodyPr wrap="square" lIns="0" tIns="0" rIns="0" bIns="0" rtlCol="0" anchor="t"/>
          <a:lstStyle/>
          <a:p>
            <a:pPr indent="0" marL="0">
              <a:buNone/>
            </a:pPr>
            <a:r>
              <a:rPr lang="en-US" sz="1800" b="1" dirty="0">
                <a:solidFill>
                  <a:srgbClr val="8A5A00"/>
                </a:solidFill>
                <a:latin typeface="Bahnschrift" pitchFamily="34" charset="0"/>
                <a:ea typeface="Bahnschrift" pitchFamily="34" charset="-122"/>
                <a:cs typeface="Bahnschrift" pitchFamily="34" charset="-120"/>
              </a:rPr>
              <a:t>Persona</a:t>
            </a:r>
            <a:endParaRPr lang="en-US" sz="1800" dirty="0"/>
          </a:p>
        </p:txBody>
      </p:sp>
      <p:sp>
        <p:nvSpPr>
          <p:cNvPr id="20" name="Text 17"/>
          <p:cNvSpPr/>
          <p:nvPr/>
        </p:nvSpPr>
        <p:spPr>
          <a:xfrm>
            <a:off x="548640" y="2971800"/>
            <a:ext cx="1371600" cy="27432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alumno · negocio</a:t>
            </a:r>
            <a:endParaRPr lang="en-US" sz="850" dirty="0"/>
          </a:p>
        </p:txBody>
      </p:sp>
      <p:sp>
        <p:nvSpPr>
          <p:cNvPr id="21" name="Shape 18"/>
          <p:cNvSpPr/>
          <p:nvPr/>
        </p:nvSpPr>
        <p:spPr>
          <a:xfrm>
            <a:off x="2029968" y="2514600"/>
            <a:ext cx="2334692" cy="841248"/>
          </a:xfrm>
          <a:prstGeom prst="roundRect">
            <a:avLst>
              <a:gd name="adj" fmla="val 6522"/>
            </a:avLst>
          </a:prstGeom>
          <a:solidFill>
            <a:srgbClr val="FDF1D6"/>
          </a:solidFill>
          <a:ln/>
        </p:spPr>
      </p:sp>
      <p:sp>
        <p:nvSpPr>
          <p:cNvPr id="22" name="Text 19"/>
          <p:cNvSpPr/>
          <p:nvPr/>
        </p:nvSpPr>
        <p:spPr>
          <a:xfrm>
            <a:off x="2139696" y="2587752"/>
            <a:ext cx="2115236" cy="713232"/>
          </a:xfrm>
          <a:prstGeom prst="rect">
            <a:avLst/>
          </a:prstGeom>
          <a:noFill/>
          <a:ln/>
        </p:spPr>
        <p:txBody>
          <a:bodyPr wrap="square" lIns="0" tIns="0" rIns="0" bIns="0" rtlCol="0" anchor="ctr"/>
          <a:lstStyle/>
          <a:p>
            <a:pPr indent="0" marL="0">
              <a:buNone/>
            </a:pPr>
            <a:r>
              <a:rPr lang="en-US" sz="1050" dirty="0">
                <a:solidFill>
                  <a:srgbClr val="13232B"/>
                </a:solidFill>
                <a:latin typeface="Segoe UI" pitchFamily="34" charset="0"/>
                <a:ea typeface="Segoe UI" pitchFamily="34" charset="-122"/>
                <a:cs typeface="Segoe UI" pitchFamily="34" charset="-120"/>
              </a:rPr>
              <a:t>Define el objetivo, el alcance y lo que queda fuera.</a:t>
            </a:r>
            <a:endParaRPr lang="en-US" sz="1050" dirty="0"/>
          </a:p>
        </p:txBody>
      </p:sp>
      <p:sp>
        <p:nvSpPr>
          <p:cNvPr id="23" name="Shape 20"/>
          <p:cNvSpPr/>
          <p:nvPr/>
        </p:nvSpPr>
        <p:spPr>
          <a:xfrm>
            <a:off x="4456100" y="2514600"/>
            <a:ext cx="2334692" cy="841248"/>
          </a:xfrm>
          <a:prstGeom prst="roundRect">
            <a:avLst>
              <a:gd name="adj" fmla="val 6522"/>
            </a:avLst>
          </a:prstGeom>
          <a:solidFill>
            <a:srgbClr val="FDF1D6"/>
          </a:solidFill>
          <a:ln/>
        </p:spPr>
      </p:sp>
      <p:sp>
        <p:nvSpPr>
          <p:cNvPr id="24" name="Text 21"/>
          <p:cNvSpPr/>
          <p:nvPr/>
        </p:nvSpPr>
        <p:spPr>
          <a:xfrm>
            <a:off x="4565828" y="2587752"/>
            <a:ext cx="2115236" cy="713232"/>
          </a:xfrm>
          <a:prstGeom prst="rect">
            <a:avLst/>
          </a:prstGeom>
          <a:noFill/>
          <a:ln/>
        </p:spPr>
        <p:txBody>
          <a:bodyPr wrap="square" lIns="0" tIns="0" rIns="0" bIns="0" rtlCol="0" anchor="ctr"/>
          <a:lstStyle/>
          <a:p>
            <a:pPr indent="0" marL="0">
              <a:buNone/>
            </a:pPr>
            <a:r>
              <a:rPr lang="en-US" sz="1050" dirty="0">
                <a:solidFill>
                  <a:srgbClr val="13232B"/>
                </a:solidFill>
                <a:latin typeface="Segoe UI" pitchFamily="34" charset="0"/>
                <a:ea typeface="Segoe UI" pitchFamily="34" charset="-122"/>
                <a:cs typeface="Segoe UI" pitchFamily="34" charset="-120"/>
              </a:rPr>
              <a:t>Elige entre las opciones: D1–D4 en VF-007, F-1 a F-7 en VF-004.</a:t>
            </a:r>
            <a:endParaRPr lang="en-US" sz="1050" dirty="0"/>
          </a:p>
        </p:txBody>
      </p:sp>
      <p:sp>
        <p:nvSpPr>
          <p:cNvPr id="25" name="Shape 22"/>
          <p:cNvSpPr/>
          <p:nvPr/>
        </p:nvSpPr>
        <p:spPr>
          <a:xfrm>
            <a:off x="6882232" y="2514600"/>
            <a:ext cx="2334692" cy="841248"/>
          </a:xfrm>
          <a:prstGeom prst="roundRect">
            <a:avLst>
              <a:gd name="adj" fmla="val 6522"/>
            </a:avLst>
          </a:prstGeom>
          <a:solidFill>
            <a:srgbClr val="FDF1D6"/>
          </a:solidFill>
          <a:ln/>
        </p:spPr>
      </p:sp>
      <p:sp>
        <p:nvSpPr>
          <p:cNvPr id="26" name="Text 23"/>
          <p:cNvSpPr/>
          <p:nvPr/>
        </p:nvSpPr>
        <p:spPr>
          <a:xfrm>
            <a:off x="6991960" y="2587752"/>
            <a:ext cx="2115236" cy="713232"/>
          </a:xfrm>
          <a:prstGeom prst="rect">
            <a:avLst/>
          </a:prstGeom>
          <a:noFill/>
          <a:ln/>
        </p:spPr>
        <p:txBody>
          <a:bodyPr wrap="square" lIns="0" tIns="0" rIns="0" bIns="0" rtlCol="0" anchor="ctr"/>
          <a:lstStyle/>
          <a:p>
            <a:pPr indent="0" marL="0">
              <a:buNone/>
            </a:pPr>
            <a:r>
              <a:rPr lang="en-US" sz="1050" dirty="0">
                <a:solidFill>
                  <a:srgbClr val="13232B"/>
                </a:solidFill>
                <a:latin typeface="Segoe UI" pitchFamily="34" charset="0"/>
                <a:ea typeface="Segoe UI" pitchFamily="34" charset="-122"/>
                <a:cs typeface="Segoe UI" pitchFamily="34" charset="-120"/>
              </a:rPr>
              <a:t>Revisa el informe de analyze y aprueba qué corregir.</a:t>
            </a:r>
            <a:endParaRPr lang="en-US" sz="1050" dirty="0"/>
          </a:p>
        </p:txBody>
      </p:sp>
      <p:sp>
        <p:nvSpPr>
          <p:cNvPr id="27" name="Shape 24"/>
          <p:cNvSpPr/>
          <p:nvPr/>
        </p:nvSpPr>
        <p:spPr>
          <a:xfrm>
            <a:off x="9308363" y="2514600"/>
            <a:ext cx="2334692" cy="841248"/>
          </a:xfrm>
          <a:prstGeom prst="roundRect">
            <a:avLst>
              <a:gd name="adj" fmla="val 6522"/>
            </a:avLst>
          </a:prstGeom>
          <a:solidFill>
            <a:srgbClr val="FDF1D6"/>
          </a:solidFill>
          <a:ln/>
        </p:spPr>
      </p:sp>
      <p:sp>
        <p:nvSpPr>
          <p:cNvPr id="28" name="Text 25"/>
          <p:cNvSpPr/>
          <p:nvPr/>
        </p:nvSpPr>
        <p:spPr>
          <a:xfrm>
            <a:off x="9418091" y="2587752"/>
            <a:ext cx="2115236" cy="713232"/>
          </a:xfrm>
          <a:prstGeom prst="rect">
            <a:avLst/>
          </a:prstGeom>
          <a:noFill/>
          <a:ln/>
        </p:spPr>
        <p:txBody>
          <a:bodyPr wrap="square" lIns="0" tIns="0" rIns="0" bIns="0" rtlCol="0" anchor="ctr"/>
          <a:lstStyle/>
          <a:p>
            <a:pPr indent="0" marL="0">
              <a:buNone/>
            </a:pPr>
            <a:r>
              <a:rPr lang="en-US" sz="1050" dirty="0">
                <a:solidFill>
                  <a:srgbClr val="13232B"/>
                </a:solidFill>
                <a:latin typeface="Segoe UI" pitchFamily="34" charset="0"/>
                <a:ea typeface="Segoe UI" pitchFamily="34" charset="-122"/>
                <a:cs typeface="Segoe UI" pitchFamily="34" charset="-120"/>
              </a:rPr>
              <a:t>Valida manualmente la interfaz y autoriza commit, PR y merge.</a:t>
            </a:r>
            <a:endParaRPr lang="en-US" sz="1050" dirty="0"/>
          </a:p>
        </p:txBody>
      </p:sp>
      <p:sp>
        <p:nvSpPr>
          <p:cNvPr id="29" name="Text 26"/>
          <p:cNvSpPr/>
          <p:nvPr/>
        </p:nvSpPr>
        <p:spPr>
          <a:xfrm>
            <a:off x="548640" y="3557016"/>
            <a:ext cx="1371600" cy="365760"/>
          </a:xfrm>
          <a:prstGeom prst="rect">
            <a:avLst/>
          </a:prstGeom>
          <a:noFill/>
          <a:ln/>
        </p:spPr>
        <p:txBody>
          <a:bodyPr wrap="square" lIns="0" tIns="0" rIns="0" bIns="0" rtlCol="0" anchor="t"/>
          <a:lstStyle/>
          <a:p>
            <a:pPr indent="0" marL="0">
              <a:buNone/>
            </a:pPr>
            <a:r>
              <a:rPr lang="en-US" sz="1800" b="1" dirty="0">
                <a:solidFill>
                  <a:srgbClr val="1D6B73"/>
                </a:solidFill>
                <a:latin typeface="Bahnschrift" pitchFamily="34" charset="0"/>
                <a:ea typeface="Bahnschrift" pitchFamily="34" charset="-122"/>
                <a:cs typeface="Bahnschrift" pitchFamily="34" charset="-120"/>
              </a:rPr>
              <a:t>Agente IA</a:t>
            </a:r>
            <a:endParaRPr lang="en-US" sz="1800" dirty="0"/>
          </a:p>
        </p:txBody>
      </p:sp>
      <p:sp>
        <p:nvSpPr>
          <p:cNvPr id="30" name="Text 27"/>
          <p:cNvSpPr/>
          <p:nvPr/>
        </p:nvSpPr>
        <p:spPr>
          <a:xfrm>
            <a:off x="548640" y="3904488"/>
            <a:ext cx="1371600" cy="27432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Claude Code</a:t>
            </a:r>
            <a:endParaRPr lang="en-US" sz="850" dirty="0"/>
          </a:p>
        </p:txBody>
      </p:sp>
      <p:sp>
        <p:nvSpPr>
          <p:cNvPr id="31" name="Shape 28"/>
          <p:cNvSpPr/>
          <p:nvPr/>
        </p:nvSpPr>
        <p:spPr>
          <a:xfrm>
            <a:off x="2029968" y="3447288"/>
            <a:ext cx="2334692" cy="841248"/>
          </a:xfrm>
          <a:prstGeom prst="roundRect">
            <a:avLst>
              <a:gd name="adj" fmla="val 6522"/>
            </a:avLst>
          </a:prstGeom>
          <a:solidFill>
            <a:srgbClr val="DCECEE"/>
          </a:solidFill>
          <a:ln/>
        </p:spPr>
      </p:sp>
      <p:sp>
        <p:nvSpPr>
          <p:cNvPr id="32" name="Text 29"/>
          <p:cNvSpPr/>
          <p:nvPr/>
        </p:nvSpPr>
        <p:spPr>
          <a:xfrm>
            <a:off x="2139696" y="3520440"/>
            <a:ext cx="2115236" cy="713232"/>
          </a:xfrm>
          <a:prstGeom prst="rect">
            <a:avLst/>
          </a:prstGeom>
          <a:noFill/>
          <a:ln/>
        </p:spPr>
        <p:txBody>
          <a:bodyPr wrap="square" lIns="0" tIns="0" rIns="0" bIns="0" rtlCol="0" anchor="ctr"/>
          <a:lstStyle/>
          <a:p>
            <a:pPr indent="0" marL="0">
              <a:buNone/>
            </a:pPr>
            <a:r>
              <a:rPr lang="en-US" sz="1050" dirty="0">
                <a:solidFill>
                  <a:srgbClr val="13232B"/>
                </a:solidFill>
                <a:latin typeface="Segoe UI" pitchFamily="34" charset="0"/>
                <a:ea typeface="Segoe UI" pitchFamily="34" charset="-122"/>
                <a:cs typeface="Segoe UI" pitchFamily="34" charset="-120"/>
              </a:rPr>
              <a:t>Redacta spec, plan y tareas desde el código real.</a:t>
            </a:r>
            <a:endParaRPr lang="en-US" sz="1050" dirty="0"/>
          </a:p>
        </p:txBody>
      </p:sp>
      <p:sp>
        <p:nvSpPr>
          <p:cNvPr id="33" name="Shape 30"/>
          <p:cNvSpPr/>
          <p:nvPr/>
        </p:nvSpPr>
        <p:spPr>
          <a:xfrm>
            <a:off x="4456100" y="3447288"/>
            <a:ext cx="2334692" cy="841248"/>
          </a:xfrm>
          <a:prstGeom prst="roundRect">
            <a:avLst>
              <a:gd name="adj" fmla="val 6522"/>
            </a:avLst>
          </a:prstGeom>
          <a:solidFill>
            <a:srgbClr val="DCECEE"/>
          </a:solidFill>
          <a:ln/>
        </p:spPr>
      </p:sp>
      <p:sp>
        <p:nvSpPr>
          <p:cNvPr id="34" name="Text 31"/>
          <p:cNvSpPr/>
          <p:nvPr/>
        </p:nvSpPr>
        <p:spPr>
          <a:xfrm>
            <a:off x="4565828" y="3520440"/>
            <a:ext cx="2115236" cy="713232"/>
          </a:xfrm>
          <a:prstGeom prst="rect">
            <a:avLst/>
          </a:prstGeom>
          <a:noFill/>
          <a:ln/>
        </p:spPr>
        <p:txBody>
          <a:bodyPr wrap="square" lIns="0" tIns="0" rIns="0" bIns="0" rtlCol="0" anchor="ctr"/>
          <a:lstStyle/>
          <a:p>
            <a:pPr indent="0" marL="0">
              <a:buNone/>
            </a:pPr>
            <a:r>
              <a:rPr lang="en-US" sz="1050" dirty="0">
                <a:solidFill>
                  <a:srgbClr val="13232B"/>
                </a:solidFill>
                <a:latin typeface="Segoe UI" pitchFamily="34" charset="0"/>
                <a:ea typeface="Segoe UI" pitchFamily="34" charset="-122"/>
                <a:cs typeface="Segoe UI" pitchFamily="34" charset="-120"/>
              </a:rPr>
              <a:t>Separa hechos, requisitos e inferencias y recomienda una opción.</a:t>
            </a:r>
            <a:endParaRPr lang="en-US" sz="1050" dirty="0"/>
          </a:p>
        </p:txBody>
      </p:sp>
      <p:sp>
        <p:nvSpPr>
          <p:cNvPr id="35" name="Shape 32"/>
          <p:cNvSpPr/>
          <p:nvPr/>
        </p:nvSpPr>
        <p:spPr>
          <a:xfrm>
            <a:off x="6882232" y="3447288"/>
            <a:ext cx="2334692" cy="841248"/>
          </a:xfrm>
          <a:prstGeom prst="roundRect">
            <a:avLst>
              <a:gd name="adj" fmla="val 6522"/>
            </a:avLst>
          </a:prstGeom>
          <a:solidFill>
            <a:srgbClr val="DCECEE"/>
          </a:solidFill>
          <a:ln/>
        </p:spPr>
      </p:sp>
      <p:sp>
        <p:nvSpPr>
          <p:cNvPr id="36" name="Text 33"/>
          <p:cNvSpPr/>
          <p:nvPr/>
        </p:nvSpPr>
        <p:spPr>
          <a:xfrm>
            <a:off x="6991960" y="3520440"/>
            <a:ext cx="2115236" cy="713232"/>
          </a:xfrm>
          <a:prstGeom prst="rect">
            <a:avLst/>
          </a:prstGeom>
          <a:noFill/>
          <a:ln/>
        </p:spPr>
        <p:txBody>
          <a:bodyPr wrap="square" lIns="0" tIns="0" rIns="0" bIns="0" rtlCol="0" anchor="ctr"/>
          <a:lstStyle/>
          <a:p>
            <a:pPr indent="0" marL="0">
              <a:buNone/>
            </a:pPr>
            <a:r>
              <a:rPr lang="en-US" sz="1050" dirty="0">
                <a:solidFill>
                  <a:srgbClr val="13232B"/>
                </a:solidFill>
                <a:latin typeface="Segoe UI" pitchFamily="34" charset="0"/>
                <a:ea typeface="Segoe UI" pitchFamily="34" charset="-122"/>
                <a:cs typeface="Segoe UI" pitchFamily="34" charset="-120"/>
              </a:rPr>
              <a:t>Cruza spec, plan, tareas y constitución; corrige solo lo aprobado.</a:t>
            </a:r>
            <a:endParaRPr lang="en-US" sz="1050" dirty="0"/>
          </a:p>
        </p:txBody>
      </p:sp>
      <p:sp>
        <p:nvSpPr>
          <p:cNvPr id="37" name="Shape 34"/>
          <p:cNvSpPr/>
          <p:nvPr/>
        </p:nvSpPr>
        <p:spPr>
          <a:xfrm>
            <a:off x="9308363" y="3447288"/>
            <a:ext cx="2334692" cy="841248"/>
          </a:xfrm>
          <a:prstGeom prst="roundRect">
            <a:avLst>
              <a:gd name="adj" fmla="val 6522"/>
            </a:avLst>
          </a:prstGeom>
          <a:solidFill>
            <a:srgbClr val="DCECEE"/>
          </a:solidFill>
          <a:ln/>
        </p:spPr>
      </p:sp>
      <p:sp>
        <p:nvSpPr>
          <p:cNvPr id="38" name="Text 35"/>
          <p:cNvSpPr/>
          <p:nvPr/>
        </p:nvSpPr>
        <p:spPr>
          <a:xfrm>
            <a:off x="9418091" y="3520440"/>
            <a:ext cx="2115236" cy="713232"/>
          </a:xfrm>
          <a:prstGeom prst="rect">
            <a:avLst/>
          </a:prstGeom>
          <a:noFill/>
          <a:ln/>
        </p:spPr>
        <p:txBody>
          <a:bodyPr wrap="square" lIns="0" tIns="0" rIns="0" bIns="0" rtlCol="0" anchor="ctr"/>
          <a:lstStyle/>
          <a:p>
            <a:pPr indent="0" marL="0">
              <a:buNone/>
            </a:pPr>
            <a:r>
              <a:rPr lang="en-US" sz="1050" dirty="0">
                <a:solidFill>
                  <a:srgbClr val="13232B"/>
                </a:solidFill>
                <a:latin typeface="Segoe UI" pitchFamily="34" charset="0"/>
                <a:ea typeface="Segoe UI" pitchFamily="34" charset="-122"/>
                <a:cs typeface="Segoe UI" pitchFamily="34" charset="-120"/>
              </a:rPr>
              <a:t>Implementa, prueba, reporta la evidencia y prepara el commit autorizado.</a:t>
            </a:r>
            <a:endParaRPr lang="en-US" sz="1050" dirty="0"/>
          </a:p>
        </p:txBody>
      </p:sp>
      <p:sp>
        <p:nvSpPr>
          <p:cNvPr id="39" name="Shape 36"/>
          <p:cNvSpPr/>
          <p:nvPr/>
        </p:nvSpPr>
        <p:spPr>
          <a:xfrm>
            <a:off x="548640" y="4407408"/>
            <a:ext cx="2705024" cy="658368"/>
          </a:xfrm>
          <a:prstGeom prst="roundRect">
            <a:avLst>
              <a:gd name="adj" fmla="val 8333"/>
            </a:avLst>
          </a:prstGeom>
          <a:solidFill>
            <a:srgbClr val="F4F7F8"/>
          </a:solidFill>
          <a:ln/>
        </p:spPr>
      </p:sp>
      <p:sp>
        <p:nvSpPr>
          <p:cNvPr id="40" name="Shape 37"/>
          <p:cNvSpPr/>
          <p:nvPr/>
        </p:nvSpPr>
        <p:spPr>
          <a:xfrm>
            <a:off x="548640" y="4407408"/>
            <a:ext cx="45720" cy="658368"/>
          </a:xfrm>
          <a:prstGeom prst="rect">
            <a:avLst/>
          </a:prstGeom>
          <a:solidFill>
            <a:srgbClr val="13232B"/>
          </a:solidFill>
          <a:ln/>
        </p:spPr>
      </p:sp>
      <p:sp>
        <p:nvSpPr>
          <p:cNvPr id="41" name="Text 38"/>
          <p:cNvSpPr/>
          <p:nvPr/>
        </p:nvSpPr>
        <p:spPr>
          <a:xfrm>
            <a:off x="694944" y="4453128"/>
            <a:ext cx="2467280" cy="237744"/>
          </a:xfrm>
          <a:prstGeom prst="rect">
            <a:avLst/>
          </a:prstGeom>
          <a:noFill/>
          <a:ln/>
        </p:spPr>
        <p:txBody>
          <a:bodyPr wrap="square" lIns="0" tIns="0" rIns="0" bIns="0" rtlCol="0" anchor="t"/>
          <a:lstStyle/>
          <a:p>
            <a:pPr indent="0" marL="0">
              <a:buNone/>
            </a:pPr>
            <a:r>
              <a:rPr lang="en-US" sz="1100" b="1" dirty="0">
                <a:solidFill>
                  <a:srgbClr val="13232B"/>
                </a:solidFill>
                <a:latin typeface="Segoe UI" pitchFamily="34" charset="0"/>
                <a:ea typeface="Segoe UI" pitchFamily="34" charset="-122"/>
                <a:cs typeface="Segoe UI" pitchFamily="34" charset="-120"/>
              </a:rPr>
              <a:t>Sin commit ni push</a:t>
            </a:r>
            <a:endParaRPr lang="en-US" sz="1100" dirty="0"/>
          </a:p>
        </p:txBody>
      </p:sp>
      <p:sp>
        <p:nvSpPr>
          <p:cNvPr id="42" name="Text 39"/>
          <p:cNvSpPr/>
          <p:nvPr/>
        </p:nvSpPr>
        <p:spPr>
          <a:xfrm>
            <a:off x="694944" y="4690872"/>
            <a:ext cx="2467280" cy="365760"/>
          </a:xfrm>
          <a:prstGeom prst="rect">
            <a:avLst/>
          </a:prstGeom>
          <a:noFill/>
          <a:ln/>
        </p:spPr>
        <p:txBody>
          <a:bodyPr wrap="square" lIns="0" tIns="0" rIns="0" bIns="0" rtlCol="0" anchor="t"/>
          <a:lstStyle/>
          <a:p>
            <a:pPr indent="0" marL="0">
              <a:buNone/>
            </a:pPr>
            <a:r>
              <a:rPr lang="en-US" sz="950" dirty="0">
                <a:solidFill>
                  <a:srgbClr val="56676F"/>
                </a:solidFill>
                <a:latin typeface="Segoe UI" pitchFamily="34" charset="0"/>
                <a:ea typeface="Segoe UI" pitchFamily="34" charset="-122"/>
                <a:cs typeface="Segoe UI" pitchFamily="34" charset="-120"/>
              </a:rPr>
              <a:t>solo con autorización explícita.</a:t>
            </a:r>
            <a:endParaRPr lang="en-US" sz="950" dirty="0"/>
          </a:p>
        </p:txBody>
      </p:sp>
      <p:sp>
        <p:nvSpPr>
          <p:cNvPr id="43" name="Shape 40"/>
          <p:cNvSpPr/>
          <p:nvPr/>
        </p:nvSpPr>
        <p:spPr>
          <a:xfrm>
            <a:off x="3345104" y="4407408"/>
            <a:ext cx="2705024" cy="658368"/>
          </a:xfrm>
          <a:prstGeom prst="roundRect">
            <a:avLst>
              <a:gd name="adj" fmla="val 8333"/>
            </a:avLst>
          </a:prstGeom>
          <a:solidFill>
            <a:srgbClr val="F4F7F8"/>
          </a:solidFill>
          <a:ln/>
        </p:spPr>
      </p:sp>
      <p:sp>
        <p:nvSpPr>
          <p:cNvPr id="44" name="Shape 41"/>
          <p:cNvSpPr/>
          <p:nvPr/>
        </p:nvSpPr>
        <p:spPr>
          <a:xfrm>
            <a:off x="3345104" y="4407408"/>
            <a:ext cx="45720" cy="658368"/>
          </a:xfrm>
          <a:prstGeom prst="rect">
            <a:avLst/>
          </a:prstGeom>
          <a:solidFill>
            <a:srgbClr val="13232B"/>
          </a:solidFill>
          <a:ln/>
        </p:spPr>
      </p:sp>
      <p:sp>
        <p:nvSpPr>
          <p:cNvPr id="45" name="Text 42"/>
          <p:cNvSpPr/>
          <p:nvPr/>
        </p:nvSpPr>
        <p:spPr>
          <a:xfrm>
            <a:off x="3491408" y="4453128"/>
            <a:ext cx="2467280" cy="237744"/>
          </a:xfrm>
          <a:prstGeom prst="rect">
            <a:avLst/>
          </a:prstGeom>
          <a:noFill/>
          <a:ln/>
        </p:spPr>
        <p:txBody>
          <a:bodyPr wrap="square" lIns="0" tIns="0" rIns="0" bIns="0" rtlCol="0" anchor="t"/>
          <a:lstStyle/>
          <a:p>
            <a:pPr indent="0" marL="0">
              <a:buNone/>
            </a:pPr>
            <a:r>
              <a:rPr lang="en-US" sz="1100" b="1" dirty="0">
                <a:solidFill>
                  <a:srgbClr val="13232B"/>
                </a:solidFill>
                <a:latin typeface="Segoe UI" pitchFamily="34" charset="0"/>
                <a:ea typeface="Segoe UI" pitchFamily="34" charset="-122"/>
                <a:cs typeface="Segoe UI" pitchFamily="34" charset="-120"/>
              </a:rPr>
              <a:t>Historial inmutable</a:t>
            </a:r>
            <a:endParaRPr lang="en-US" sz="1100" dirty="0"/>
          </a:p>
        </p:txBody>
      </p:sp>
      <p:sp>
        <p:nvSpPr>
          <p:cNvPr id="46" name="Text 43"/>
          <p:cNvSpPr/>
          <p:nvPr/>
        </p:nvSpPr>
        <p:spPr>
          <a:xfrm>
            <a:off x="3491408" y="4690872"/>
            <a:ext cx="2467280" cy="365760"/>
          </a:xfrm>
          <a:prstGeom prst="rect">
            <a:avLst/>
          </a:prstGeom>
          <a:noFill/>
          <a:ln/>
        </p:spPr>
        <p:txBody>
          <a:bodyPr wrap="square" lIns="0" tIns="0" rIns="0" bIns="0" rtlCol="0" anchor="t"/>
          <a:lstStyle/>
          <a:p>
            <a:pPr indent="0" marL="0">
              <a:buNone/>
            </a:pPr>
            <a:r>
              <a:rPr lang="en-US" sz="950" dirty="0">
                <a:solidFill>
                  <a:srgbClr val="56676F"/>
                </a:solidFill>
                <a:latin typeface="Segoe UI" pitchFamily="34" charset="0"/>
                <a:ea typeface="Segoe UI" pitchFamily="34" charset="-122"/>
                <a:cs typeface="Segoe UI" pitchFamily="34" charset="-120"/>
              </a:rPr>
              <a:t>T001–T286 no se tocan; cada cambio es un bloque nuevo.</a:t>
            </a:r>
            <a:endParaRPr lang="en-US" sz="950" dirty="0"/>
          </a:p>
        </p:txBody>
      </p:sp>
      <p:sp>
        <p:nvSpPr>
          <p:cNvPr id="47" name="Shape 44"/>
          <p:cNvSpPr/>
          <p:nvPr/>
        </p:nvSpPr>
        <p:spPr>
          <a:xfrm>
            <a:off x="6141568" y="4407408"/>
            <a:ext cx="2705024" cy="658368"/>
          </a:xfrm>
          <a:prstGeom prst="roundRect">
            <a:avLst>
              <a:gd name="adj" fmla="val 8333"/>
            </a:avLst>
          </a:prstGeom>
          <a:solidFill>
            <a:srgbClr val="F4F7F8"/>
          </a:solidFill>
          <a:ln/>
        </p:spPr>
      </p:sp>
      <p:sp>
        <p:nvSpPr>
          <p:cNvPr id="48" name="Shape 45"/>
          <p:cNvSpPr/>
          <p:nvPr/>
        </p:nvSpPr>
        <p:spPr>
          <a:xfrm>
            <a:off x="6141568" y="4407408"/>
            <a:ext cx="45720" cy="658368"/>
          </a:xfrm>
          <a:prstGeom prst="rect">
            <a:avLst/>
          </a:prstGeom>
          <a:solidFill>
            <a:srgbClr val="13232B"/>
          </a:solidFill>
          <a:ln/>
        </p:spPr>
      </p:sp>
      <p:sp>
        <p:nvSpPr>
          <p:cNvPr id="49" name="Text 46"/>
          <p:cNvSpPr/>
          <p:nvPr/>
        </p:nvSpPr>
        <p:spPr>
          <a:xfrm>
            <a:off x="6287872" y="4453128"/>
            <a:ext cx="2467280" cy="237744"/>
          </a:xfrm>
          <a:prstGeom prst="rect">
            <a:avLst/>
          </a:prstGeom>
          <a:noFill/>
          <a:ln/>
        </p:spPr>
        <p:txBody>
          <a:bodyPr wrap="square" lIns="0" tIns="0" rIns="0" bIns="0" rtlCol="0" anchor="t"/>
          <a:lstStyle/>
          <a:p>
            <a:pPr indent="0" marL="0">
              <a:buNone/>
            </a:pPr>
            <a:r>
              <a:rPr lang="en-US" sz="1100" b="1" dirty="0">
                <a:solidFill>
                  <a:srgbClr val="13232B"/>
                </a:solidFill>
                <a:latin typeface="Segoe UI" pitchFamily="34" charset="0"/>
                <a:ea typeface="Segoe UI" pitchFamily="34" charset="-122"/>
                <a:cs typeface="Segoe UI" pitchFamily="34" charset="-120"/>
              </a:rPr>
              <a:t>Secretos protegidos</a:t>
            </a:r>
            <a:endParaRPr lang="en-US" sz="1100" dirty="0"/>
          </a:p>
        </p:txBody>
      </p:sp>
      <p:sp>
        <p:nvSpPr>
          <p:cNvPr id="50" name="Text 47"/>
          <p:cNvSpPr/>
          <p:nvPr/>
        </p:nvSpPr>
        <p:spPr>
          <a:xfrm>
            <a:off x="6287872" y="4690872"/>
            <a:ext cx="2467280" cy="365760"/>
          </a:xfrm>
          <a:prstGeom prst="rect">
            <a:avLst/>
          </a:prstGeom>
          <a:noFill/>
          <a:ln/>
        </p:spPr>
        <p:txBody>
          <a:bodyPr wrap="square" lIns="0" tIns="0" rIns="0" bIns="0" rtlCol="0" anchor="t"/>
          <a:lstStyle/>
          <a:p>
            <a:pPr indent="0" marL="0">
              <a:buNone/>
            </a:pPr>
            <a:r>
              <a:rPr lang="en-US" sz="950" dirty="0">
                <a:solidFill>
                  <a:srgbClr val="56676F"/>
                </a:solidFill>
                <a:latin typeface="Segoe UI" pitchFamily="34" charset="0"/>
                <a:ea typeface="Segoe UI" pitchFamily="34" charset="-122"/>
                <a:cs typeface="Segoe UI" pitchFamily="34" charset="-120"/>
              </a:rPr>
              <a:t>se usan por referencia o hash, nunca se imprimen.</a:t>
            </a:r>
            <a:endParaRPr lang="en-US" sz="950" dirty="0"/>
          </a:p>
        </p:txBody>
      </p:sp>
      <p:sp>
        <p:nvSpPr>
          <p:cNvPr id="51" name="Shape 48"/>
          <p:cNvSpPr/>
          <p:nvPr/>
        </p:nvSpPr>
        <p:spPr>
          <a:xfrm>
            <a:off x="8938031" y="4407408"/>
            <a:ext cx="2705024" cy="658368"/>
          </a:xfrm>
          <a:prstGeom prst="roundRect">
            <a:avLst>
              <a:gd name="adj" fmla="val 8333"/>
            </a:avLst>
          </a:prstGeom>
          <a:solidFill>
            <a:srgbClr val="F4F7F8"/>
          </a:solidFill>
          <a:ln/>
        </p:spPr>
      </p:sp>
      <p:sp>
        <p:nvSpPr>
          <p:cNvPr id="52" name="Shape 49"/>
          <p:cNvSpPr/>
          <p:nvPr/>
        </p:nvSpPr>
        <p:spPr>
          <a:xfrm>
            <a:off x="8938031" y="4407408"/>
            <a:ext cx="45720" cy="658368"/>
          </a:xfrm>
          <a:prstGeom prst="rect">
            <a:avLst/>
          </a:prstGeom>
          <a:solidFill>
            <a:srgbClr val="13232B"/>
          </a:solidFill>
          <a:ln/>
        </p:spPr>
      </p:sp>
      <p:sp>
        <p:nvSpPr>
          <p:cNvPr id="53" name="Text 50"/>
          <p:cNvSpPr/>
          <p:nvPr/>
        </p:nvSpPr>
        <p:spPr>
          <a:xfrm>
            <a:off x="9084335" y="4453128"/>
            <a:ext cx="2467280" cy="237744"/>
          </a:xfrm>
          <a:prstGeom prst="rect">
            <a:avLst/>
          </a:prstGeom>
          <a:noFill/>
          <a:ln/>
        </p:spPr>
        <p:txBody>
          <a:bodyPr wrap="square" lIns="0" tIns="0" rIns="0" bIns="0" rtlCol="0" anchor="t"/>
          <a:lstStyle/>
          <a:p>
            <a:pPr indent="0" marL="0">
              <a:buNone/>
            </a:pPr>
            <a:r>
              <a:rPr lang="en-US" sz="1100" b="1" dirty="0">
                <a:solidFill>
                  <a:srgbClr val="13232B"/>
                </a:solidFill>
                <a:latin typeface="Segoe UI" pitchFamily="34" charset="0"/>
                <a:ea typeface="Segoe UI" pitchFamily="34" charset="-122"/>
                <a:cs typeface="Segoe UI" pitchFamily="34" charset="-120"/>
              </a:rPr>
              <a:t>Alto ante la duda</a:t>
            </a:r>
            <a:endParaRPr lang="en-US" sz="1100" dirty="0"/>
          </a:p>
        </p:txBody>
      </p:sp>
      <p:sp>
        <p:nvSpPr>
          <p:cNvPr id="54" name="Text 51"/>
          <p:cNvSpPr/>
          <p:nvPr/>
        </p:nvSpPr>
        <p:spPr>
          <a:xfrm>
            <a:off x="9084335" y="4690872"/>
            <a:ext cx="2467280" cy="365760"/>
          </a:xfrm>
          <a:prstGeom prst="rect">
            <a:avLst/>
          </a:prstGeom>
          <a:noFill/>
          <a:ln/>
        </p:spPr>
        <p:txBody>
          <a:bodyPr wrap="square" lIns="0" tIns="0" rIns="0" bIns="0" rtlCol="0" anchor="t"/>
          <a:lstStyle/>
          <a:p>
            <a:pPr indent="0" marL="0">
              <a:buNone/>
            </a:pPr>
            <a:r>
              <a:rPr lang="en-US" sz="950" dirty="0">
                <a:solidFill>
                  <a:srgbClr val="56676F"/>
                </a:solidFill>
                <a:latin typeface="Segoe UI" pitchFamily="34" charset="0"/>
                <a:ea typeface="Segoe UI" pitchFamily="34" charset="-122"/>
                <a:cs typeface="Segoe UI" pitchFamily="34" charset="-120"/>
              </a:rPr>
              <a:t>si un problema exige cambiar la spec, el agente se detiene.</a:t>
            </a:r>
            <a:endParaRPr lang="en-US" sz="950" dirty="0"/>
          </a:p>
        </p:txBody>
      </p:sp>
      <p:sp>
        <p:nvSpPr>
          <p:cNvPr id="55" name="Text 52"/>
          <p:cNvSpPr/>
          <p:nvPr/>
        </p:nvSpPr>
        <p:spPr>
          <a:xfrm>
            <a:off x="548640" y="5312664"/>
            <a:ext cx="210312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CICLO DE UN HALLAZGO</a:t>
            </a:r>
            <a:endParaRPr lang="en-US" sz="900" dirty="0"/>
          </a:p>
        </p:txBody>
      </p:sp>
      <p:sp>
        <p:nvSpPr>
          <p:cNvPr id="56" name="Shape 53"/>
          <p:cNvSpPr/>
          <p:nvPr/>
        </p:nvSpPr>
        <p:spPr>
          <a:xfrm>
            <a:off x="2651760" y="5257800"/>
            <a:ext cx="585216" cy="329184"/>
          </a:xfrm>
          <a:prstGeom prst="roundRect">
            <a:avLst>
              <a:gd name="adj" fmla="val 16667"/>
            </a:avLst>
          </a:prstGeom>
          <a:solidFill>
            <a:srgbClr val="F4F7F8"/>
          </a:solidFill>
          <a:ln w="9525">
            <a:solidFill>
              <a:srgbClr val="C8D3D8"/>
            </a:solidFill>
            <a:prstDash val="solid"/>
          </a:ln>
        </p:spPr>
      </p:sp>
      <p:sp>
        <p:nvSpPr>
          <p:cNvPr id="57" name="Text 54"/>
          <p:cNvSpPr/>
          <p:nvPr/>
        </p:nvSpPr>
        <p:spPr>
          <a:xfrm>
            <a:off x="2651760" y="5257800"/>
            <a:ext cx="585216" cy="329184"/>
          </a:xfrm>
          <a:prstGeom prst="rect">
            <a:avLst/>
          </a:prstGeom>
          <a:noFill/>
          <a:ln/>
        </p:spPr>
        <p:txBody>
          <a:bodyPr wrap="square" lIns="0" tIns="0" rIns="0" bIns="0" rtlCol="0" anchor="ctr"/>
          <a:lstStyle/>
          <a:p>
            <a:pPr algn="ctr" indent="0" marL="0">
              <a:buNone/>
            </a:pPr>
            <a:r>
              <a:rPr lang="en-US" sz="950" b="1" dirty="0">
                <a:solidFill>
                  <a:srgbClr val="13232B"/>
                </a:solidFill>
                <a:latin typeface="Consolas" pitchFamily="34" charset="0"/>
                <a:ea typeface="Consolas" pitchFamily="34" charset="-122"/>
                <a:cs typeface="Consolas" pitchFamily="34" charset="-120"/>
              </a:rPr>
              <a:t>OPEN</a:t>
            </a:r>
            <a:endParaRPr lang="en-US" sz="950" dirty="0"/>
          </a:p>
        </p:txBody>
      </p:sp>
      <p:sp>
        <p:nvSpPr>
          <p:cNvPr id="58" name="Shape 55"/>
          <p:cNvSpPr/>
          <p:nvPr/>
        </p:nvSpPr>
        <p:spPr>
          <a:xfrm>
            <a:off x="3282696" y="5422392"/>
            <a:ext cx="228600" cy="914"/>
          </a:xfrm>
          <a:prstGeom prst="line">
            <a:avLst/>
          </a:prstGeom>
          <a:noFill/>
          <a:ln w="19050">
            <a:solidFill>
              <a:srgbClr val="56676F"/>
            </a:solidFill>
            <a:prstDash val="solid"/>
            <a:tailEnd type="triangle"/>
          </a:ln>
        </p:spPr>
      </p:sp>
      <p:sp>
        <p:nvSpPr>
          <p:cNvPr id="59" name="Shape 56"/>
          <p:cNvSpPr/>
          <p:nvPr/>
        </p:nvSpPr>
        <p:spPr>
          <a:xfrm>
            <a:off x="3557016" y="5257800"/>
            <a:ext cx="973836" cy="329184"/>
          </a:xfrm>
          <a:prstGeom prst="roundRect">
            <a:avLst>
              <a:gd name="adj" fmla="val 16667"/>
            </a:avLst>
          </a:prstGeom>
          <a:solidFill>
            <a:srgbClr val="F4F7F8"/>
          </a:solidFill>
          <a:ln w="9525">
            <a:solidFill>
              <a:srgbClr val="C8D3D8"/>
            </a:solidFill>
            <a:prstDash val="solid"/>
          </a:ln>
        </p:spPr>
      </p:sp>
      <p:sp>
        <p:nvSpPr>
          <p:cNvPr id="60" name="Text 57"/>
          <p:cNvSpPr/>
          <p:nvPr/>
        </p:nvSpPr>
        <p:spPr>
          <a:xfrm>
            <a:off x="3557016" y="5257800"/>
            <a:ext cx="973836" cy="329184"/>
          </a:xfrm>
          <a:prstGeom prst="rect">
            <a:avLst/>
          </a:prstGeom>
          <a:noFill/>
          <a:ln/>
        </p:spPr>
        <p:txBody>
          <a:bodyPr wrap="square" lIns="0" tIns="0" rIns="0" bIns="0" rtlCol="0" anchor="ctr"/>
          <a:lstStyle/>
          <a:p>
            <a:pPr algn="ctr" indent="0" marL="0">
              <a:buNone/>
            </a:pPr>
            <a:r>
              <a:rPr lang="en-US" sz="950" b="1" dirty="0">
                <a:solidFill>
                  <a:srgbClr val="13232B"/>
                </a:solidFill>
                <a:latin typeface="Consolas" pitchFamily="34" charset="0"/>
                <a:ea typeface="Consolas" pitchFamily="34" charset="-122"/>
                <a:cs typeface="Consolas" pitchFamily="34" charset="-120"/>
              </a:rPr>
              <a:t>ANALYZING</a:t>
            </a:r>
            <a:endParaRPr lang="en-US" sz="950" dirty="0"/>
          </a:p>
        </p:txBody>
      </p:sp>
      <p:sp>
        <p:nvSpPr>
          <p:cNvPr id="61" name="Shape 58"/>
          <p:cNvSpPr/>
          <p:nvPr/>
        </p:nvSpPr>
        <p:spPr>
          <a:xfrm>
            <a:off x="4576572" y="5422392"/>
            <a:ext cx="228600" cy="914"/>
          </a:xfrm>
          <a:prstGeom prst="line">
            <a:avLst/>
          </a:prstGeom>
          <a:noFill/>
          <a:ln w="19050">
            <a:solidFill>
              <a:srgbClr val="56676F"/>
            </a:solidFill>
            <a:prstDash val="solid"/>
            <a:tailEnd type="triangle"/>
          </a:ln>
        </p:spPr>
      </p:sp>
      <p:sp>
        <p:nvSpPr>
          <p:cNvPr id="62" name="Shape 59"/>
          <p:cNvSpPr/>
          <p:nvPr/>
        </p:nvSpPr>
        <p:spPr>
          <a:xfrm>
            <a:off x="4850892" y="5257800"/>
            <a:ext cx="662940" cy="329184"/>
          </a:xfrm>
          <a:prstGeom prst="roundRect">
            <a:avLst>
              <a:gd name="adj" fmla="val 16667"/>
            </a:avLst>
          </a:prstGeom>
          <a:solidFill>
            <a:srgbClr val="F4F7F8"/>
          </a:solidFill>
          <a:ln w="9525">
            <a:solidFill>
              <a:srgbClr val="C8D3D8"/>
            </a:solidFill>
            <a:prstDash val="solid"/>
          </a:ln>
        </p:spPr>
      </p:sp>
      <p:sp>
        <p:nvSpPr>
          <p:cNvPr id="63" name="Text 60"/>
          <p:cNvSpPr/>
          <p:nvPr/>
        </p:nvSpPr>
        <p:spPr>
          <a:xfrm>
            <a:off x="4850892" y="5257800"/>
            <a:ext cx="662940" cy="329184"/>
          </a:xfrm>
          <a:prstGeom prst="rect">
            <a:avLst/>
          </a:prstGeom>
          <a:noFill/>
          <a:ln/>
        </p:spPr>
        <p:txBody>
          <a:bodyPr wrap="square" lIns="0" tIns="0" rIns="0" bIns="0" rtlCol="0" anchor="ctr"/>
          <a:lstStyle/>
          <a:p>
            <a:pPr algn="ctr" indent="0" marL="0">
              <a:buNone/>
            </a:pPr>
            <a:r>
              <a:rPr lang="en-US" sz="950" b="1" dirty="0">
                <a:solidFill>
                  <a:srgbClr val="13232B"/>
                </a:solidFill>
                <a:latin typeface="Consolas" pitchFamily="34" charset="0"/>
                <a:ea typeface="Consolas" pitchFamily="34" charset="-122"/>
                <a:cs typeface="Consolas" pitchFamily="34" charset="-120"/>
              </a:rPr>
              <a:t>FIXED</a:t>
            </a:r>
            <a:endParaRPr lang="en-US" sz="950" dirty="0"/>
          </a:p>
        </p:txBody>
      </p:sp>
      <p:sp>
        <p:nvSpPr>
          <p:cNvPr id="64" name="Shape 61"/>
          <p:cNvSpPr/>
          <p:nvPr/>
        </p:nvSpPr>
        <p:spPr>
          <a:xfrm>
            <a:off x="5559552" y="5422392"/>
            <a:ext cx="228600" cy="914"/>
          </a:xfrm>
          <a:prstGeom prst="line">
            <a:avLst/>
          </a:prstGeom>
          <a:noFill/>
          <a:ln w="19050">
            <a:solidFill>
              <a:srgbClr val="56676F"/>
            </a:solidFill>
            <a:prstDash val="solid"/>
            <a:tailEnd type="triangle"/>
          </a:ln>
        </p:spPr>
      </p:sp>
      <p:sp>
        <p:nvSpPr>
          <p:cNvPr id="65" name="Shape 62"/>
          <p:cNvSpPr/>
          <p:nvPr/>
        </p:nvSpPr>
        <p:spPr>
          <a:xfrm>
            <a:off x="5833872" y="5257800"/>
            <a:ext cx="973836" cy="329184"/>
          </a:xfrm>
          <a:prstGeom prst="roundRect">
            <a:avLst>
              <a:gd name="adj" fmla="val 16667"/>
            </a:avLst>
          </a:prstGeom>
          <a:solidFill>
            <a:srgbClr val="F4F7F8"/>
          </a:solidFill>
          <a:ln w="9525">
            <a:solidFill>
              <a:srgbClr val="C8D3D8"/>
            </a:solidFill>
            <a:prstDash val="solid"/>
          </a:ln>
        </p:spPr>
      </p:sp>
      <p:sp>
        <p:nvSpPr>
          <p:cNvPr id="66" name="Text 63"/>
          <p:cNvSpPr/>
          <p:nvPr/>
        </p:nvSpPr>
        <p:spPr>
          <a:xfrm>
            <a:off x="5833872" y="5257800"/>
            <a:ext cx="973836" cy="329184"/>
          </a:xfrm>
          <a:prstGeom prst="rect">
            <a:avLst/>
          </a:prstGeom>
          <a:noFill/>
          <a:ln/>
        </p:spPr>
        <p:txBody>
          <a:bodyPr wrap="square" lIns="0" tIns="0" rIns="0" bIns="0" rtlCol="0" anchor="ctr"/>
          <a:lstStyle/>
          <a:p>
            <a:pPr algn="ctr" indent="0" marL="0">
              <a:buNone/>
            </a:pPr>
            <a:r>
              <a:rPr lang="en-US" sz="950" b="1" dirty="0">
                <a:solidFill>
                  <a:srgbClr val="13232B"/>
                </a:solidFill>
                <a:latin typeface="Consolas" pitchFamily="34" charset="0"/>
                <a:ea typeface="Consolas" pitchFamily="34" charset="-122"/>
                <a:cs typeface="Consolas" pitchFamily="34" charset="-120"/>
              </a:rPr>
              <a:t>VALIDATED</a:t>
            </a:r>
            <a:endParaRPr lang="en-US" sz="950" dirty="0"/>
          </a:p>
        </p:txBody>
      </p:sp>
      <p:sp>
        <p:nvSpPr>
          <p:cNvPr id="67" name="Shape 64"/>
          <p:cNvSpPr/>
          <p:nvPr/>
        </p:nvSpPr>
        <p:spPr>
          <a:xfrm>
            <a:off x="6853428" y="5422392"/>
            <a:ext cx="228600" cy="914"/>
          </a:xfrm>
          <a:prstGeom prst="line">
            <a:avLst/>
          </a:prstGeom>
          <a:noFill/>
          <a:ln w="19050">
            <a:solidFill>
              <a:srgbClr val="56676F"/>
            </a:solidFill>
            <a:prstDash val="solid"/>
            <a:tailEnd type="triangle"/>
          </a:ln>
        </p:spPr>
      </p:sp>
      <p:sp>
        <p:nvSpPr>
          <p:cNvPr id="68" name="Shape 65"/>
          <p:cNvSpPr/>
          <p:nvPr/>
        </p:nvSpPr>
        <p:spPr>
          <a:xfrm>
            <a:off x="7127748" y="5257800"/>
            <a:ext cx="740664" cy="329184"/>
          </a:xfrm>
          <a:prstGeom prst="roundRect">
            <a:avLst>
              <a:gd name="adj" fmla="val 16667"/>
            </a:avLst>
          </a:prstGeom>
          <a:solidFill>
            <a:srgbClr val="DFF0E4"/>
          </a:solidFill>
          <a:ln w="9525">
            <a:solidFill>
              <a:srgbClr val="2F7D4A"/>
            </a:solidFill>
            <a:prstDash val="solid"/>
          </a:ln>
        </p:spPr>
      </p:sp>
      <p:sp>
        <p:nvSpPr>
          <p:cNvPr id="69" name="Text 66"/>
          <p:cNvSpPr/>
          <p:nvPr/>
        </p:nvSpPr>
        <p:spPr>
          <a:xfrm>
            <a:off x="7127748" y="5257800"/>
            <a:ext cx="740664" cy="329184"/>
          </a:xfrm>
          <a:prstGeom prst="rect">
            <a:avLst/>
          </a:prstGeom>
          <a:noFill/>
          <a:ln/>
        </p:spPr>
        <p:txBody>
          <a:bodyPr wrap="square" lIns="0" tIns="0" rIns="0" bIns="0" rtlCol="0" anchor="ctr"/>
          <a:lstStyle/>
          <a:p>
            <a:pPr algn="ctr" indent="0" marL="0">
              <a:buNone/>
            </a:pPr>
            <a:r>
              <a:rPr lang="en-US" sz="950" b="1" dirty="0">
                <a:solidFill>
                  <a:srgbClr val="2F7D4A"/>
                </a:solidFill>
                <a:latin typeface="Consolas" pitchFamily="34" charset="0"/>
                <a:ea typeface="Consolas" pitchFamily="34" charset="-122"/>
                <a:cs typeface="Consolas" pitchFamily="34" charset="-120"/>
              </a:rPr>
              <a:t>CLOSED</a:t>
            </a:r>
            <a:endParaRPr lang="en-US" sz="950" dirty="0"/>
          </a:p>
        </p:txBody>
      </p:sp>
      <p:sp>
        <p:nvSpPr>
          <p:cNvPr id="70" name="Text 67"/>
          <p:cNvSpPr/>
          <p:nvPr/>
        </p:nvSpPr>
        <p:spPr>
          <a:xfrm>
            <a:off x="548640" y="5769864"/>
            <a:ext cx="210312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CIERRE DE CADA ENTREGA</a:t>
            </a:r>
            <a:endParaRPr lang="en-US" sz="900" dirty="0"/>
          </a:p>
        </p:txBody>
      </p:sp>
      <p:sp>
        <p:nvSpPr>
          <p:cNvPr id="71" name="Shape 68"/>
          <p:cNvSpPr/>
          <p:nvPr/>
        </p:nvSpPr>
        <p:spPr>
          <a:xfrm>
            <a:off x="2651760" y="5715000"/>
            <a:ext cx="1595628" cy="329184"/>
          </a:xfrm>
          <a:prstGeom prst="roundRect">
            <a:avLst>
              <a:gd name="adj" fmla="val 16667"/>
            </a:avLst>
          </a:prstGeom>
          <a:solidFill>
            <a:srgbClr val="F4F7F8"/>
          </a:solidFill>
          <a:ln w="9525">
            <a:solidFill>
              <a:srgbClr val="C8D3D8"/>
            </a:solidFill>
            <a:prstDash val="solid"/>
          </a:ln>
        </p:spPr>
      </p:sp>
      <p:sp>
        <p:nvSpPr>
          <p:cNvPr id="72" name="Text 69"/>
          <p:cNvSpPr/>
          <p:nvPr/>
        </p:nvSpPr>
        <p:spPr>
          <a:xfrm>
            <a:off x="2651760" y="5715000"/>
            <a:ext cx="1595628" cy="329184"/>
          </a:xfrm>
          <a:prstGeom prst="rect">
            <a:avLst/>
          </a:prstGeom>
          <a:noFill/>
          <a:ln/>
        </p:spPr>
        <p:txBody>
          <a:bodyPr wrap="square" lIns="0" tIns="0" rIns="0" bIns="0" rtlCol="0" anchor="ctr"/>
          <a:lstStyle/>
          <a:p>
            <a:pPr algn="ctr" indent="0" marL="0">
              <a:buNone/>
            </a:pPr>
            <a:r>
              <a:rPr lang="en-US" sz="950" b="1" dirty="0">
                <a:solidFill>
                  <a:srgbClr val="13232B"/>
                </a:solidFill>
                <a:latin typeface="Consolas" pitchFamily="34" charset="0"/>
                <a:ea typeface="Consolas" pitchFamily="34" charset="-122"/>
                <a:cs typeface="Consolas" pitchFamily="34" charset="-120"/>
              </a:rPr>
              <a:t>Validación manual</a:t>
            </a:r>
            <a:endParaRPr lang="en-US" sz="950" dirty="0"/>
          </a:p>
        </p:txBody>
      </p:sp>
      <p:sp>
        <p:nvSpPr>
          <p:cNvPr id="73" name="Shape 70"/>
          <p:cNvSpPr/>
          <p:nvPr/>
        </p:nvSpPr>
        <p:spPr>
          <a:xfrm>
            <a:off x="4293108" y="5879592"/>
            <a:ext cx="228600" cy="914"/>
          </a:xfrm>
          <a:prstGeom prst="line">
            <a:avLst/>
          </a:prstGeom>
          <a:noFill/>
          <a:ln w="19050">
            <a:solidFill>
              <a:srgbClr val="56676F"/>
            </a:solidFill>
            <a:prstDash val="solid"/>
            <a:tailEnd type="triangle"/>
          </a:ln>
        </p:spPr>
      </p:sp>
      <p:sp>
        <p:nvSpPr>
          <p:cNvPr id="74" name="Shape 71"/>
          <p:cNvSpPr/>
          <p:nvPr/>
        </p:nvSpPr>
        <p:spPr>
          <a:xfrm>
            <a:off x="4567428" y="5715000"/>
            <a:ext cx="740664" cy="329184"/>
          </a:xfrm>
          <a:prstGeom prst="roundRect">
            <a:avLst>
              <a:gd name="adj" fmla="val 16667"/>
            </a:avLst>
          </a:prstGeom>
          <a:solidFill>
            <a:srgbClr val="F4F7F8"/>
          </a:solidFill>
          <a:ln w="9525">
            <a:solidFill>
              <a:srgbClr val="C8D3D8"/>
            </a:solidFill>
            <a:prstDash val="solid"/>
          </a:ln>
        </p:spPr>
      </p:sp>
      <p:sp>
        <p:nvSpPr>
          <p:cNvPr id="75" name="Text 72"/>
          <p:cNvSpPr/>
          <p:nvPr/>
        </p:nvSpPr>
        <p:spPr>
          <a:xfrm>
            <a:off x="4567428" y="5715000"/>
            <a:ext cx="740664" cy="329184"/>
          </a:xfrm>
          <a:prstGeom prst="rect">
            <a:avLst/>
          </a:prstGeom>
          <a:noFill/>
          <a:ln/>
        </p:spPr>
        <p:txBody>
          <a:bodyPr wrap="square" lIns="0" tIns="0" rIns="0" bIns="0" rtlCol="0" anchor="ctr"/>
          <a:lstStyle/>
          <a:p>
            <a:pPr algn="ctr" indent="0" marL="0">
              <a:buNone/>
            </a:pPr>
            <a:r>
              <a:rPr lang="en-US" sz="950" b="1" dirty="0">
                <a:solidFill>
                  <a:srgbClr val="13232B"/>
                </a:solidFill>
                <a:latin typeface="Consolas" pitchFamily="34" charset="0"/>
                <a:ea typeface="Consolas" pitchFamily="34" charset="-122"/>
                <a:cs typeface="Consolas" pitchFamily="34" charset="-120"/>
              </a:rPr>
              <a:t>Commit</a:t>
            </a:r>
            <a:endParaRPr lang="en-US" sz="950" dirty="0"/>
          </a:p>
        </p:txBody>
      </p:sp>
      <p:sp>
        <p:nvSpPr>
          <p:cNvPr id="76" name="Shape 73"/>
          <p:cNvSpPr/>
          <p:nvPr/>
        </p:nvSpPr>
        <p:spPr>
          <a:xfrm>
            <a:off x="5353812" y="5879592"/>
            <a:ext cx="228600" cy="914"/>
          </a:xfrm>
          <a:prstGeom prst="line">
            <a:avLst/>
          </a:prstGeom>
          <a:noFill/>
          <a:ln w="19050">
            <a:solidFill>
              <a:srgbClr val="56676F"/>
            </a:solidFill>
            <a:prstDash val="solid"/>
            <a:tailEnd type="triangle"/>
          </a:ln>
        </p:spPr>
      </p:sp>
      <p:sp>
        <p:nvSpPr>
          <p:cNvPr id="77" name="Shape 74"/>
          <p:cNvSpPr/>
          <p:nvPr/>
        </p:nvSpPr>
        <p:spPr>
          <a:xfrm>
            <a:off x="5628132" y="5715000"/>
            <a:ext cx="1207008" cy="329184"/>
          </a:xfrm>
          <a:prstGeom prst="roundRect">
            <a:avLst>
              <a:gd name="adj" fmla="val 16667"/>
            </a:avLst>
          </a:prstGeom>
          <a:solidFill>
            <a:srgbClr val="F4F7F8"/>
          </a:solidFill>
          <a:ln w="9525">
            <a:solidFill>
              <a:srgbClr val="C8D3D8"/>
            </a:solidFill>
            <a:prstDash val="solid"/>
          </a:ln>
        </p:spPr>
      </p:sp>
      <p:sp>
        <p:nvSpPr>
          <p:cNvPr id="78" name="Text 75"/>
          <p:cNvSpPr/>
          <p:nvPr/>
        </p:nvSpPr>
        <p:spPr>
          <a:xfrm>
            <a:off x="5628132" y="5715000"/>
            <a:ext cx="1207008" cy="329184"/>
          </a:xfrm>
          <a:prstGeom prst="rect">
            <a:avLst/>
          </a:prstGeom>
          <a:noFill/>
          <a:ln/>
        </p:spPr>
        <p:txBody>
          <a:bodyPr wrap="square" lIns="0" tIns="0" rIns="0" bIns="0" rtlCol="0" anchor="ctr"/>
          <a:lstStyle/>
          <a:p>
            <a:pPr algn="ctr" indent="0" marL="0">
              <a:buNone/>
            </a:pPr>
            <a:r>
              <a:rPr lang="en-US" sz="950" b="1" dirty="0">
                <a:solidFill>
                  <a:srgbClr val="13232B"/>
                </a:solidFill>
                <a:latin typeface="Consolas" pitchFamily="34" charset="0"/>
                <a:ea typeface="Consolas" pitchFamily="34" charset="-122"/>
                <a:cs typeface="Consolas" pitchFamily="34" charset="-120"/>
              </a:rPr>
              <a:t>Pull Request</a:t>
            </a:r>
            <a:endParaRPr lang="en-US" sz="950" dirty="0"/>
          </a:p>
        </p:txBody>
      </p:sp>
      <p:sp>
        <p:nvSpPr>
          <p:cNvPr id="79" name="Shape 76"/>
          <p:cNvSpPr/>
          <p:nvPr/>
        </p:nvSpPr>
        <p:spPr>
          <a:xfrm>
            <a:off x="6880860" y="5879592"/>
            <a:ext cx="228600" cy="914"/>
          </a:xfrm>
          <a:prstGeom prst="line">
            <a:avLst/>
          </a:prstGeom>
          <a:noFill/>
          <a:ln w="19050">
            <a:solidFill>
              <a:srgbClr val="56676F"/>
            </a:solidFill>
            <a:prstDash val="solid"/>
            <a:tailEnd type="triangle"/>
          </a:ln>
        </p:spPr>
      </p:sp>
      <p:sp>
        <p:nvSpPr>
          <p:cNvPr id="80" name="Shape 77"/>
          <p:cNvSpPr/>
          <p:nvPr/>
        </p:nvSpPr>
        <p:spPr>
          <a:xfrm>
            <a:off x="7155180" y="5715000"/>
            <a:ext cx="662940" cy="329184"/>
          </a:xfrm>
          <a:prstGeom prst="roundRect">
            <a:avLst>
              <a:gd name="adj" fmla="val 16667"/>
            </a:avLst>
          </a:prstGeom>
          <a:solidFill>
            <a:srgbClr val="F4F7F8"/>
          </a:solidFill>
          <a:ln w="9525">
            <a:solidFill>
              <a:srgbClr val="C8D3D8"/>
            </a:solidFill>
            <a:prstDash val="solid"/>
          </a:ln>
        </p:spPr>
      </p:sp>
      <p:sp>
        <p:nvSpPr>
          <p:cNvPr id="81" name="Text 78"/>
          <p:cNvSpPr/>
          <p:nvPr/>
        </p:nvSpPr>
        <p:spPr>
          <a:xfrm>
            <a:off x="7155180" y="5715000"/>
            <a:ext cx="662940" cy="329184"/>
          </a:xfrm>
          <a:prstGeom prst="rect">
            <a:avLst/>
          </a:prstGeom>
          <a:noFill/>
          <a:ln/>
        </p:spPr>
        <p:txBody>
          <a:bodyPr wrap="square" lIns="0" tIns="0" rIns="0" bIns="0" rtlCol="0" anchor="ctr"/>
          <a:lstStyle/>
          <a:p>
            <a:pPr algn="ctr" indent="0" marL="0">
              <a:buNone/>
            </a:pPr>
            <a:r>
              <a:rPr lang="en-US" sz="950" b="1" dirty="0">
                <a:solidFill>
                  <a:srgbClr val="13232B"/>
                </a:solidFill>
                <a:latin typeface="Consolas" pitchFamily="34" charset="0"/>
                <a:ea typeface="Consolas" pitchFamily="34" charset="-122"/>
                <a:cs typeface="Consolas" pitchFamily="34" charset="-120"/>
              </a:rPr>
              <a:t>Merge</a:t>
            </a:r>
            <a:endParaRPr lang="en-US" sz="950" dirty="0"/>
          </a:p>
        </p:txBody>
      </p:sp>
      <p:sp>
        <p:nvSpPr>
          <p:cNvPr id="82" name="Shape 79"/>
          <p:cNvSpPr/>
          <p:nvPr/>
        </p:nvSpPr>
        <p:spPr>
          <a:xfrm>
            <a:off x="7863840" y="5879592"/>
            <a:ext cx="228600" cy="914"/>
          </a:xfrm>
          <a:prstGeom prst="line">
            <a:avLst/>
          </a:prstGeom>
          <a:noFill/>
          <a:ln w="19050">
            <a:solidFill>
              <a:srgbClr val="56676F"/>
            </a:solidFill>
            <a:prstDash val="solid"/>
            <a:tailEnd type="triangle"/>
          </a:ln>
        </p:spPr>
      </p:sp>
      <p:sp>
        <p:nvSpPr>
          <p:cNvPr id="83" name="Shape 80"/>
          <p:cNvSpPr/>
          <p:nvPr/>
        </p:nvSpPr>
        <p:spPr>
          <a:xfrm>
            <a:off x="8138160" y="5715000"/>
            <a:ext cx="740664" cy="329184"/>
          </a:xfrm>
          <a:prstGeom prst="roundRect">
            <a:avLst>
              <a:gd name="adj" fmla="val 16667"/>
            </a:avLst>
          </a:prstGeom>
          <a:solidFill>
            <a:srgbClr val="DFF0E4"/>
          </a:solidFill>
          <a:ln w="9525">
            <a:solidFill>
              <a:srgbClr val="2F7D4A"/>
            </a:solidFill>
            <a:prstDash val="solid"/>
          </a:ln>
        </p:spPr>
      </p:sp>
      <p:sp>
        <p:nvSpPr>
          <p:cNvPr id="84" name="Text 81"/>
          <p:cNvSpPr/>
          <p:nvPr/>
        </p:nvSpPr>
        <p:spPr>
          <a:xfrm>
            <a:off x="8138160" y="5715000"/>
            <a:ext cx="740664" cy="329184"/>
          </a:xfrm>
          <a:prstGeom prst="rect">
            <a:avLst/>
          </a:prstGeom>
          <a:noFill/>
          <a:ln/>
        </p:spPr>
        <p:txBody>
          <a:bodyPr wrap="square" lIns="0" tIns="0" rIns="0" bIns="0" rtlCol="0" anchor="ctr"/>
          <a:lstStyle/>
          <a:p>
            <a:pPr algn="ctr" indent="0" marL="0">
              <a:buNone/>
            </a:pPr>
            <a:r>
              <a:rPr lang="en-US" sz="950" b="1" dirty="0">
                <a:solidFill>
                  <a:srgbClr val="2F7D4A"/>
                </a:solidFill>
                <a:latin typeface="Consolas" pitchFamily="34" charset="0"/>
                <a:ea typeface="Consolas" pitchFamily="34" charset="-122"/>
                <a:cs typeface="Consolas" pitchFamily="34" charset="-120"/>
              </a:rPr>
              <a:t>Cierre</a:t>
            </a:r>
            <a:endParaRPr lang="en-US" sz="950" dirty="0"/>
          </a:p>
        </p:txBody>
      </p:sp>
      <p:sp>
        <p:nvSpPr>
          <p:cNvPr id="85" name="Text 82"/>
          <p:cNvSpPr/>
          <p:nvPr/>
        </p:nvSpPr>
        <p:spPr>
          <a:xfrm>
            <a:off x="9061704" y="5769864"/>
            <a:ext cx="292608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AUTORIZADO POR LA PERSONA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38912" cy="274320"/>
          </a:xfrm>
          <a:prstGeom prst="rect">
            <a:avLst/>
          </a:prstGeom>
          <a:solidFill>
            <a:srgbClr val="F2B233"/>
          </a:solidFill>
          <a:ln/>
        </p:spPr>
      </p:sp>
      <p:sp>
        <p:nvSpPr>
          <p:cNvPr id="3" name="Text 1"/>
          <p:cNvSpPr/>
          <p:nvPr/>
        </p:nvSpPr>
        <p:spPr>
          <a:xfrm>
            <a:off x="548640" y="329184"/>
            <a:ext cx="438912" cy="274320"/>
          </a:xfrm>
          <a:prstGeom prst="rect">
            <a:avLst/>
          </a:prstGeom>
          <a:noFill/>
          <a:ln/>
        </p:spPr>
        <p:txBody>
          <a:bodyPr wrap="square" lIns="0" tIns="0" rIns="0" bIns="0" rtlCol="0" anchor="ctr"/>
          <a:lstStyle/>
          <a:p>
            <a:pPr algn="ctr" indent="0" marL="0">
              <a:buNone/>
            </a:pPr>
            <a:r>
              <a:rPr lang="en-US" sz="1100" b="1" dirty="0">
                <a:solidFill>
                  <a:srgbClr val="13232B"/>
                </a:solidFill>
                <a:latin typeface="Consolas" pitchFamily="34" charset="0"/>
                <a:ea typeface="Consolas" pitchFamily="34" charset="-122"/>
                <a:cs typeface="Consolas" pitchFamily="34" charset="-120"/>
              </a:rPr>
              <a:t>06</a:t>
            </a:r>
            <a:endParaRPr lang="en-US" sz="1100" dirty="0"/>
          </a:p>
        </p:txBody>
      </p:sp>
      <p:sp>
        <p:nvSpPr>
          <p:cNvPr id="4" name="Text 2"/>
          <p:cNvSpPr/>
          <p:nvPr/>
        </p:nvSpPr>
        <p:spPr>
          <a:xfrm>
            <a:off x="1115568" y="329184"/>
            <a:ext cx="5486400" cy="274320"/>
          </a:xfrm>
          <a:prstGeom prst="rect">
            <a:avLst/>
          </a:prstGeom>
          <a:noFill/>
          <a:ln/>
        </p:spPr>
        <p:txBody>
          <a:bodyPr wrap="square" lIns="0" tIns="0" rIns="0" bIns="0" rtlCol="0" anchor="ctr"/>
          <a:lstStyle/>
          <a:p>
            <a:pPr indent="0" marL="0">
              <a:buNone/>
            </a:pPr>
            <a:r>
              <a:rPr lang="en-US" sz="1050" b="1" spc="150" kern="0" dirty="0">
                <a:solidFill>
                  <a:srgbClr val="13232B"/>
                </a:solidFill>
                <a:latin typeface="Consolas" pitchFamily="34" charset="0"/>
                <a:ea typeface="Consolas" pitchFamily="34" charset="-122"/>
                <a:cs typeface="Consolas" pitchFamily="34" charset="-120"/>
              </a:rPr>
              <a:t>FUNCIONALIDADES</a:t>
            </a:r>
            <a:endParaRPr lang="en-US" sz="1050" dirty="0"/>
          </a:p>
        </p:txBody>
      </p:sp>
      <p:sp>
        <p:nvSpPr>
          <p:cNvPr id="5" name="Text 3"/>
          <p:cNvSpPr/>
          <p:nvPr/>
        </p:nvSpPr>
        <p:spPr>
          <a:xfrm>
            <a:off x="6156655" y="329184"/>
            <a:ext cx="5486400" cy="274320"/>
          </a:xfrm>
          <a:prstGeom prst="rect">
            <a:avLst/>
          </a:prstGeom>
          <a:noFill/>
          <a:ln/>
        </p:spPr>
        <p:txBody>
          <a:bodyPr wrap="square" lIns="0" tIns="0" rIns="0" bIns="0" rtlCol="0" anchor="ctr"/>
          <a:lstStyle/>
          <a:p>
            <a:pPr algn="r" indent="0" marL="0">
              <a:buNone/>
            </a:pPr>
            <a:r>
              <a:rPr lang="en-US" sz="950" spc="150" kern="0" dirty="0">
                <a:solidFill>
                  <a:srgbClr val="56676F"/>
                </a:solidFill>
                <a:latin typeface="Consolas" pitchFamily="34" charset="0"/>
                <a:ea typeface="Consolas" pitchFamily="34" charset="-122"/>
                <a:cs typeface="Consolas" pitchFamily="34" charset="-120"/>
              </a:rPr>
              <a:t>10 HISTORIAS DE USUARIO</a:t>
            </a:r>
            <a:endParaRPr lang="en-US" sz="950" dirty="0"/>
          </a:p>
        </p:txBody>
      </p:sp>
      <p:sp>
        <p:nvSpPr>
          <p:cNvPr id="6" name="Text 4"/>
          <p:cNvSpPr/>
          <p:nvPr/>
        </p:nvSpPr>
        <p:spPr>
          <a:xfrm>
            <a:off x="548640" y="6446520"/>
            <a:ext cx="8229600" cy="22860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spec.md · README.md</a:t>
            </a:r>
            <a:endParaRPr lang="en-US" sz="850" dirty="0"/>
          </a:p>
        </p:txBody>
      </p:sp>
      <p:sp>
        <p:nvSpPr>
          <p:cNvPr id="7" name="Text 5"/>
          <p:cNvSpPr/>
          <p:nvPr/>
        </p:nvSpPr>
        <p:spPr>
          <a:xfrm>
            <a:off x="9814255" y="6446520"/>
            <a:ext cx="1828800" cy="228600"/>
          </a:xfrm>
          <a:prstGeom prst="rect">
            <a:avLst/>
          </a:prstGeom>
          <a:noFill/>
          <a:ln/>
        </p:spPr>
        <p:txBody>
          <a:bodyPr wrap="square" lIns="0" tIns="0" rIns="0" bIns="0" rtlCol="0" anchor="t"/>
          <a:lstStyle/>
          <a:p>
            <a:pPr algn="r" indent="0" marL="0">
              <a:buNone/>
            </a:pPr>
            <a:r>
              <a:rPr lang="en-US" sz="850" dirty="0">
                <a:solidFill>
                  <a:srgbClr val="56676F"/>
                </a:solidFill>
                <a:latin typeface="Consolas" pitchFamily="34" charset="0"/>
                <a:ea typeface="Consolas" pitchFamily="34" charset="-122"/>
                <a:cs typeface="Consolas" pitchFamily="34" charset="-120"/>
              </a:rPr>
              <a:t>06 / 11</a:t>
            </a:r>
            <a:endParaRPr lang="en-US" sz="850" dirty="0"/>
          </a:p>
        </p:txBody>
      </p:sp>
      <p:sp>
        <p:nvSpPr>
          <p:cNvPr id="9" name="Text 6"/>
          <p:cNvSpPr/>
          <p:nvPr/>
        </p:nvSpPr>
        <p:spPr>
          <a:xfrm>
            <a:off x="548640" y="777240"/>
            <a:ext cx="11094415" cy="658368"/>
          </a:xfrm>
          <a:prstGeom prst="rect">
            <a:avLst/>
          </a:prstGeom>
          <a:noFill/>
          <a:ln/>
        </p:spPr>
        <p:txBody>
          <a:bodyPr wrap="square" lIns="0" tIns="0" rIns="0" bIns="0" rtlCol="0" anchor="ctr"/>
          <a:lstStyle/>
          <a:p>
            <a:pPr indent="0" marL="0">
              <a:buNone/>
            </a:pPr>
            <a:r>
              <a:rPr lang="en-US" sz="3200" b="1" dirty="0">
                <a:solidFill>
                  <a:srgbClr val="13232B"/>
                </a:solidFill>
                <a:latin typeface="Bahnschrift" pitchFamily="34" charset="0"/>
                <a:ea typeface="Bahnschrift" pitchFamily="34" charset="-122"/>
                <a:cs typeface="Bahnschrift" pitchFamily="34" charset="-120"/>
              </a:rPr>
              <a:t>Qué hace el sistema</a:t>
            </a:r>
            <a:endParaRPr lang="en-US" sz="3200" dirty="0"/>
          </a:p>
        </p:txBody>
      </p:sp>
      <p:sp>
        <p:nvSpPr>
          <p:cNvPr id="10" name="Shape 7"/>
          <p:cNvSpPr/>
          <p:nvPr/>
        </p:nvSpPr>
        <p:spPr>
          <a:xfrm>
            <a:off x="548640" y="1600200"/>
            <a:ext cx="2109155" cy="2103120"/>
          </a:xfrm>
          <a:prstGeom prst="roundRect">
            <a:avLst>
              <a:gd name="adj" fmla="val 2609"/>
            </a:avLst>
          </a:prstGeom>
          <a:solidFill>
            <a:srgbClr val="F4F7F8"/>
          </a:solidFill>
          <a:ln w="9525">
            <a:solidFill>
              <a:srgbClr val="C8D3D8"/>
            </a:solidFill>
            <a:prstDash val="solid"/>
          </a:ln>
        </p:spPr>
      </p:sp>
      <p:sp>
        <p:nvSpPr>
          <p:cNvPr id="11" name="Text 8"/>
          <p:cNvSpPr/>
          <p:nvPr/>
        </p:nvSpPr>
        <p:spPr>
          <a:xfrm>
            <a:off x="694944" y="1728216"/>
            <a:ext cx="1097280" cy="457200"/>
          </a:xfrm>
          <a:prstGeom prst="rect">
            <a:avLst/>
          </a:prstGeom>
          <a:noFill/>
          <a:ln/>
        </p:spPr>
        <p:txBody>
          <a:bodyPr wrap="square" lIns="0" tIns="0" rIns="0" bIns="0" rtlCol="0" anchor="ctr"/>
          <a:lstStyle/>
          <a:p>
            <a:pPr indent="0" marL="0">
              <a:buNone/>
            </a:pPr>
            <a:r>
              <a:rPr lang="en-US" sz="2600" b="1" dirty="0">
                <a:solidFill>
                  <a:srgbClr val="1D6B73"/>
                </a:solidFill>
                <a:latin typeface="Bahnschrift" pitchFamily="34" charset="0"/>
                <a:ea typeface="Bahnschrift" pitchFamily="34" charset="-122"/>
                <a:cs typeface="Bahnschrift" pitchFamily="34" charset="-120"/>
              </a:rPr>
              <a:t>H1</a:t>
            </a:r>
            <a:endParaRPr lang="en-US" sz="2600" dirty="0"/>
          </a:p>
        </p:txBody>
      </p:sp>
      <p:sp>
        <p:nvSpPr>
          <p:cNvPr id="12" name="Shape 9"/>
          <p:cNvSpPr/>
          <p:nvPr/>
        </p:nvSpPr>
        <p:spPr>
          <a:xfrm>
            <a:off x="2145731" y="1819656"/>
            <a:ext cx="365760" cy="219456"/>
          </a:xfrm>
          <a:prstGeom prst="rect">
            <a:avLst/>
          </a:prstGeom>
          <a:solidFill>
            <a:srgbClr val="13232B"/>
          </a:solidFill>
          <a:ln/>
        </p:spPr>
      </p:sp>
      <p:sp>
        <p:nvSpPr>
          <p:cNvPr id="13" name="Text 10"/>
          <p:cNvSpPr/>
          <p:nvPr/>
        </p:nvSpPr>
        <p:spPr>
          <a:xfrm>
            <a:off x="2145731" y="1819656"/>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P1</a:t>
            </a:r>
            <a:endParaRPr lang="en-US" sz="900" dirty="0"/>
          </a:p>
        </p:txBody>
      </p:sp>
      <p:sp>
        <p:nvSpPr>
          <p:cNvPr id="14" name="Text 11"/>
          <p:cNvSpPr/>
          <p:nvPr/>
        </p:nvSpPr>
        <p:spPr>
          <a:xfrm>
            <a:off x="694944" y="2286000"/>
            <a:ext cx="1816547" cy="45720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Inicio de sesión y alcance</a:t>
            </a:r>
            <a:endParaRPr lang="en-US" sz="1500" dirty="0"/>
          </a:p>
        </p:txBody>
      </p:sp>
      <p:sp>
        <p:nvSpPr>
          <p:cNvPr id="15" name="Text 12"/>
          <p:cNvSpPr/>
          <p:nvPr/>
        </p:nvSpPr>
        <p:spPr>
          <a:xfrm>
            <a:off x="694944" y="2770632"/>
            <a:ext cx="1816547" cy="868680"/>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JWT, roles administrativos y alcance por compañía.</a:t>
            </a:r>
            <a:endParaRPr lang="en-US" sz="1050" dirty="0"/>
          </a:p>
        </p:txBody>
      </p:sp>
      <p:sp>
        <p:nvSpPr>
          <p:cNvPr id="16" name="Shape 13"/>
          <p:cNvSpPr/>
          <p:nvPr/>
        </p:nvSpPr>
        <p:spPr>
          <a:xfrm>
            <a:off x="2794955" y="1600200"/>
            <a:ext cx="2109155" cy="2103120"/>
          </a:xfrm>
          <a:prstGeom prst="roundRect">
            <a:avLst>
              <a:gd name="adj" fmla="val 2609"/>
            </a:avLst>
          </a:prstGeom>
          <a:solidFill>
            <a:srgbClr val="F4F7F8"/>
          </a:solidFill>
          <a:ln w="9525">
            <a:solidFill>
              <a:srgbClr val="C8D3D8"/>
            </a:solidFill>
            <a:prstDash val="solid"/>
          </a:ln>
        </p:spPr>
      </p:sp>
      <p:sp>
        <p:nvSpPr>
          <p:cNvPr id="17" name="Text 14"/>
          <p:cNvSpPr/>
          <p:nvPr/>
        </p:nvSpPr>
        <p:spPr>
          <a:xfrm>
            <a:off x="2941259" y="1728216"/>
            <a:ext cx="1097280" cy="457200"/>
          </a:xfrm>
          <a:prstGeom prst="rect">
            <a:avLst/>
          </a:prstGeom>
          <a:noFill/>
          <a:ln/>
        </p:spPr>
        <p:txBody>
          <a:bodyPr wrap="square" lIns="0" tIns="0" rIns="0" bIns="0" rtlCol="0" anchor="ctr"/>
          <a:lstStyle/>
          <a:p>
            <a:pPr indent="0" marL="0">
              <a:buNone/>
            </a:pPr>
            <a:r>
              <a:rPr lang="en-US" sz="2600" b="1" dirty="0">
                <a:solidFill>
                  <a:srgbClr val="1D6B73"/>
                </a:solidFill>
                <a:latin typeface="Bahnschrift" pitchFamily="34" charset="0"/>
                <a:ea typeface="Bahnschrift" pitchFamily="34" charset="-122"/>
                <a:cs typeface="Bahnschrift" pitchFamily="34" charset="-120"/>
              </a:rPr>
              <a:t>H2</a:t>
            </a:r>
            <a:endParaRPr lang="en-US" sz="2600" dirty="0"/>
          </a:p>
        </p:txBody>
      </p:sp>
      <p:sp>
        <p:nvSpPr>
          <p:cNvPr id="18" name="Shape 15"/>
          <p:cNvSpPr/>
          <p:nvPr/>
        </p:nvSpPr>
        <p:spPr>
          <a:xfrm>
            <a:off x="4392046" y="1819656"/>
            <a:ext cx="365760" cy="219456"/>
          </a:xfrm>
          <a:prstGeom prst="rect">
            <a:avLst/>
          </a:prstGeom>
          <a:solidFill>
            <a:srgbClr val="13232B"/>
          </a:solidFill>
          <a:ln/>
        </p:spPr>
      </p:sp>
      <p:sp>
        <p:nvSpPr>
          <p:cNvPr id="19" name="Text 16"/>
          <p:cNvSpPr/>
          <p:nvPr/>
        </p:nvSpPr>
        <p:spPr>
          <a:xfrm>
            <a:off x="4392046" y="1819656"/>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P1</a:t>
            </a:r>
            <a:endParaRPr lang="en-US" sz="900" dirty="0"/>
          </a:p>
        </p:txBody>
      </p:sp>
      <p:sp>
        <p:nvSpPr>
          <p:cNvPr id="20" name="Text 17"/>
          <p:cNvSpPr/>
          <p:nvPr/>
        </p:nvSpPr>
        <p:spPr>
          <a:xfrm>
            <a:off x="2941259" y="2286000"/>
            <a:ext cx="1816547" cy="45720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Compañías y unidades</a:t>
            </a:r>
            <a:endParaRPr lang="en-US" sz="1500" dirty="0"/>
          </a:p>
        </p:txBody>
      </p:sp>
      <p:sp>
        <p:nvSpPr>
          <p:cNvPr id="21" name="Text 18"/>
          <p:cNvSpPr/>
          <p:nvPr/>
        </p:nvSpPr>
        <p:spPr>
          <a:xfrm>
            <a:off x="2941259" y="2770632"/>
            <a:ext cx="1816547" cy="868680"/>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Principales, Contratistas, sus relaciones y el árbol organizativo.</a:t>
            </a:r>
            <a:endParaRPr lang="en-US" sz="1050" dirty="0"/>
          </a:p>
        </p:txBody>
      </p:sp>
      <p:sp>
        <p:nvSpPr>
          <p:cNvPr id="22" name="Shape 19"/>
          <p:cNvSpPr/>
          <p:nvPr/>
        </p:nvSpPr>
        <p:spPr>
          <a:xfrm>
            <a:off x="5041270" y="1600200"/>
            <a:ext cx="2109155" cy="2103120"/>
          </a:xfrm>
          <a:prstGeom prst="roundRect">
            <a:avLst>
              <a:gd name="adj" fmla="val 2609"/>
            </a:avLst>
          </a:prstGeom>
          <a:solidFill>
            <a:srgbClr val="F4F7F8"/>
          </a:solidFill>
          <a:ln w="9525">
            <a:solidFill>
              <a:srgbClr val="C8D3D8"/>
            </a:solidFill>
            <a:prstDash val="solid"/>
          </a:ln>
        </p:spPr>
      </p:sp>
      <p:sp>
        <p:nvSpPr>
          <p:cNvPr id="23" name="Text 20"/>
          <p:cNvSpPr/>
          <p:nvPr/>
        </p:nvSpPr>
        <p:spPr>
          <a:xfrm>
            <a:off x="5187574" y="1728216"/>
            <a:ext cx="1097280" cy="457200"/>
          </a:xfrm>
          <a:prstGeom prst="rect">
            <a:avLst/>
          </a:prstGeom>
          <a:noFill/>
          <a:ln/>
        </p:spPr>
        <p:txBody>
          <a:bodyPr wrap="square" lIns="0" tIns="0" rIns="0" bIns="0" rtlCol="0" anchor="ctr"/>
          <a:lstStyle/>
          <a:p>
            <a:pPr indent="0" marL="0">
              <a:buNone/>
            </a:pPr>
            <a:r>
              <a:rPr lang="en-US" sz="2600" b="1" dirty="0">
                <a:solidFill>
                  <a:srgbClr val="1D6B73"/>
                </a:solidFill>
                <a:latin typeface="Bahnschrift" pitchFamily="34" charset="0"/>
                <a:ea typeface="Bahnschrift" pitchFamily="34" charset="-122"/>
                <a:cs typeface="Bahnschrift" pitchFamily="34" charset="-120"/>
              </a:rPr>
              <a:t>H3</a:t>
            </a:r>
            <a:endParaRPr lang="en-US" sz="2600" dirty="0"/>
          </a:p>
        </p:txBody>
      </p:sp>
      <p:sp>
        <p:nvSpPr>
          <p:cNvPr id="24" name="Shape 21"/>
          <p:cNvSpPr/>
          <p:nvPr/>
        </p:nvSpPr>
        <p:spPr>
          <a:xfrm>
            <a:off x="6638361" y="1819656"/>
            <a:ext cx="365760" cy="219456"/>
          </a:xfrm>
          <a:prstGeom prst="rect">
            <a:avLst/>
          </a:prstGeom>
          <a:solidFill>
            <a:srgbClr val="13232B"/>
          </a:solidFill>
          <a:ln/>
        </p:spPr>
      </p:sp>
      <p:sp>
        <p:nvSpPr>
          <p:cNvPr id="25" name="Text 22"/>
          <p:cNvSpPr/>
          <p:nvPr/>
        </p:nvSpPr>
        <p:spPr>
          <a:xfrm>
            <a:off x="6638361" y="1819656"/>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P1</a:t>
            </a:r>
            <a:endParaRPr lang="en-US" sz="900" dirty="0"/>
          </a:p>
        </p:txBody>
      </p:sp>
      <p:sp>
        <p:nvSpPr>
          <p:cNvPr id="26" name="Text 23"/>
          <p:cNvSpPr/>
          <p:nvPr/>
        </p:nvSpPr>
        <p:spPr>
          <a:xfrm>
            <a:off x="5187574" y="2286000"/>
            <a:ext cx="1816547" cy="45720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Datos maestros</a:t>
            </a:r>
            <a:endParaRPr lang="en-US" sz="1500" dirty="0"/>
          </a:p>
        </p:txBody>
      </p:sp>
      <p:sp>
        <p:nvSpPr>
          <p:cNvPr id="27" name="Text 24"/>
          <p:cNvSpPr/>
          <p:nvPr/>
        </p:nvSpPr>
        <p:spPr>
          <a:xfrm>
            <a:off x="5187574" y="2770632"/>
            <a:ext cx="1816547" cy="868680"/>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Catálogos para Perú: documento, sangre, género, perfiles, credenciales.</a:t>
            </a:r>
            <a:endParaRPr lang="en-US" sz="1050" dirty="0"/>
          </a:p>
        </p:txBody>
      </p:sp>
      <p:sp>
        <p:nvSpPr>
          <p:cNvPr id="28" name="Shape 25"/>
          <p:cNvSpPr/>
          <p:nvPr/>
        </p:nvSpPr>
        <p:spPr>
          <a:xfrm>
            <a:off x="7287585" y="1600200"/>
            <a:ext cx="2109155" cy="2103120"/>
          </a:xfrm>
          <a:prstGeom prst="roundRect">
            <a:avLst>
              <a:gd name="adj" fmla="val 2609"/>
            </a:avLst>
          </a:prstGeom>
          <a:solidFill>
            <a:srgbClr val="F4F7F8"/>
          </a:solidFill>
          <a:ln w="9525">
            <a:solidFill>
              <a:srgbClr val="C8D3D8"/>
            </a:solidFill>
            <a:prstDash val="solid"/>
          </a:ln>
        </p:spPr>
      </p:sp>
      <p:sp>
        <p:nvSpPr>
          <p:cNvPr id="29" name="Text 26"/>
          <p:cNvSpPr/>
          <p:nvPr/>
        </p:nvSpPr>
        <p:spPr>
          <a:xfrm>
            <a:off x="7433889" y="1728216"/>
            <a:ext cx="1097280" cy="457200"/>
          </a:xfrm>
          <a:prstGeom prst="rect">
            <a:avLst/>
          </a:prstGeom>
          <a:noFill/>
          <a:ln/>
        </p:spPr>
        <p:txBody>
          <a:bodyPr wrap="square" lIns="0" tIns="0" rIns="0" bIns="0" rtlCol="0" anchor="ctr"/>
          <a:lstStyle/>
          <a:p>
            <a:pPr indent="0" marL="0">
              <a:buNone/>
            </a:pPr>
            <a:r>
              <a:rPr lang="en-US" sz="2600" b="1" dirty="0">
                <a:solidFill>
                  <a:srgbClr val="1D6B73"/>
                </a:solidFill>
                <a:latin typeface="Bahnschrift" pitchFamily="34" charset="0"/>
                <a:ea typeface="Bahnschrift" pitchFamily="34" charset="-122"/>
                <a:cs typeface="Bahnschrift" pitchFamily="34" charset="-120"/>
              </a:rPr>
              <a:t>H4</a:t>
            </a:r>
            <a:endParaRPr lang="en-US" sz="2600" dirty="0"/>
          </a:p>
        </p:txBody>
      </p:sp>
      <p:sp>
        <p:nvSpPr>
          <p:cNvPr id="30" name="Shape 27"/>
          <p:cNvSpPr/>
          <p:nvPr/>
        </p:nvSpPr>
        <p:spPr>
          <a:xfrm>
            <a:off x="8884676" y="1819656"/>
            <a:ext cx="365760" cy="219456"/>
          </a:xfrm>
          <a:prstGeom prst="rect">
            <a:avLst/>
          </a:prstGeom>
          <a:solidFill>
            <a:srgbClr val="13232B"/>
          </a:solidFill>
          <a:ln/>
        </p:spPr>
      </p:sp>
      <p:sp>
        <p:nvSpPr>
          <p:cNvPr id="31" name="Text 28"/>
          <p:cNvSpPr/>
          <p:nvPr/>
        </p:nvSpPr>
        <p:spPr>
          <a:xfrm>
            <a:off x="8884676" y="1819656"/>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P1</a:t>
            </a:r>
            <a:endParaRPr lang="en-US" sz="900" dirty="0"/>
          </a:p>
        </p:txBody>
      </p:sp>
      <p:sp>
        <p:nvSpPr>
          <p:cNvPr id="32" name="Text 29"/>
          <p:cNvSpPr/>
          <p:nvPr/>
        </p:nvSpPr>
        <p:spPr>
          <a:xfrm>
            <a:off x="7433889" y="2286000"/>
            <a:ext cx="1816547" cy="45720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Personas</a:t>
            </a:r>
            <a:endParaRPr lang="en-US" sz="1500" dirty="0"/>
          </a:p>
        </p:txBody>
      </p:sp>
      <p:sp>
        <p:nvSpPr>
          <p:cNvPr id="33" name="Text 30"/>
          <p:cNvSpPr/>
          <p:nvPr/>
        </p:nvSpPr>
        <p:spPr>
          <a:xfrm>
            <a:off x="7433889" y="2770632"/>
            <a:ext cx="1816547" cy="868680"/>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Identificación, contacto y datos de emergencia.</a:t>
            </a:r>
            <a:endParaRPr lang="en-US" sz="1050" dirty="0"/>
          </a:p>
        </p:txBody>
      </p:sp>
      <p:sp>
        <p:nvSpPr>
          <p:cNvPr id="34" name="Shape 31"/>
          <p:cNvSpPr/>
          <p:nvPr/>
        </p:nvSpPr>
        <p:spPr>
          <a:xfrm>
            <a:off x="9533900" y="1600200"/>
            <a:ext cx="2109155" cy="2103120"/>
          </a:xfrm>
          <a:prstGeom prst="roundRect">
            <a:avLst>
              <a:gd name="adj" fmla="val 2609"/>
            </a:avLst>
          </a:prstGeom>
          <a:solidFill>
            <a:srgbClr val="F4F7F8"/>
          </a:solidFill>
          <a:ln w="9525">
            <a:solidFill>
              <a:srgbClr val="C8D3D8"/>
            </a:solidFill>
            <a:prstDash val="solid"/>
          </a:ln>
        </p:spPr>
      </p:sp>
      <p:sp>
        <p:nvSpPr>
          <p:cNvPr id="35" name="Text 32"/>
          <p:cNvSpPr/>
          <p:nvPr/>
        </p:nvSpPr>
        <p:spPr>
          <a:xfrm>
            <a:off x="9680204" y="1728216"/>
            <a:ext cx="1097280" cy="457200"/>
          </a:xfrm>
          <a:prstGeom prst="rect">
            <a:avLst/>
          </a:prstGeom>
          <a:noFill/>
          <a:ln/>
        </p:spPr>
        <p:txBody>
          <a:bodyPr wrap="square" lIns="0" tIns="0" rIns="0" bIns="0" rtlCol="0" anchor="ctr"/>
          <a:lstStyle/>
          <a:p>
            <a:pPr indent="0" marL="0">
              <a:buNone/>
            </a:pPr>
            <a:r>
              <a:rPr lang="en-US" sz="2600" b="1" dirty="0">
                <a:solidFill>
                  <a:srgbClr val="1D6B73"/>
                </a:solidFill>
                <a:latin typeface="Bahnschrift" pitchFamily="34" charset="0"/>
                <a:ea typeface="Bahnschrift" pitchFamily="34" charset="-122"/>
                <a:cs typeface="Bahnschrift" pitchFamily="34" charset="-120"/>
              </a:rPr>
              <a:t>H5</a:t>
            </a:r>
            <a:endParaRPr lang="en-US" sz="2600" dirty="0"/>
          </a:p>
        </p:txBody>
      </p:sp>
      <p:sp>
        <p:nvSpPr>
          <p:cNvPr id="36" name="Shape 33"/>
          <p:cNvSpPr/>
          <p:nvPr/>
        </p:nvSpPr>
        <p:spPr>
          <a:xfrm>
            <a:off x="11130991" y="1819656"/>
            <a:ext cx="365760" cy="219456"/>
          </a:xfrm>
          <a:prstGeom prst="rect">
            <a:avLst/>
          </a:prstGeom>
          <a:solidFill>
            <a:srgbClr val="13232B"/>
          </a:solidFill>
          <a:ln/>
        </p:spPr>
      </p:sp>
      <p:sp>
        <p:nvSpPr>
          <p:cNvPr id="37" name="Text 34"/>
          <p:cNvSpPr/>
          <p:nvPr/>
        </p:nvSpPr>
        <p:spPr>
          <a:xfrm>
            <a:off x="11130991" y="1819656"/>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P1</a:t>
            </a:r>
            <a:endParaRPr lang="en-US" sz="900" dirty="0"/>
          </a:p>
        </p:txBody>
      </p:sp>
      <p:sp>
        <p:nvSpPr>
          <p:cNvPr id="38" name="Text 35"/>
          <p:cNvSpPr/>
          <p:nvPr/>
        </p:nvSpPr>
        <p:spPr>
          <a:xfrm>
            <a:off x="9680204" y="2286000"/>
            <a:ext cx="1816547" cy="45720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Históricos y contextos</a:t>
            </a:r>
            <a:endParaRPr lang="en-US" sz="1500" dirty="0"/>
          </a:p>
        </p:txBody>
      </p:sp>
      <p:sp>
        <p:nvSpPr>
          <p:cNvPr id="39" name="Text 36"/>
          <p:cNvSpPr/>
          <p:nvPr/>
        </p:nvSpPr>
        <p:spPr>
          <a:xfrm>
            <a:off x="9680204" y="2770632"/>
            <a:ext cx="1816547" cy="868680"/>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Pertenencia, contexto por Principal, unidad y perfil, con revocación automática.</a:t>
            </a:r>
            <a:endParaRPr lang="en-US" sz="1050" dirty="0"/>
          </a:p>
        </p:txBody>
      </p:sp>
      <p:sp>
        <p:nvSpPr>
          <p:cNvPr id="40" name="Shape 37"/>
          <p:cNvSpPr/>
          <p:nvPr/>
        </p:nvSpPr>
        <p:spPr>
          <a:xfrm>
            <a:off x="548640" y="3886200"/>
            <a:ext cx="2109155" cy="2103120"/>
          </a:xfrm>
          <a:prstGeom prst="roundRect">
            <a:avLst>
              <a:gd name="adj" fmla="val 2609"/>
            </a:avLst>
          </a:prstGeom>
          <a:solidFill>
            <a:srgbClr val="F4F7F8"/>
          </a:solidFill>
          <a:ln w="9525">
            <a:solidFill>
              <a:srgbClr val="C8D3D8"/>
            </a:solidFill>
            <a:prstDash val="solid"/>
          </a:ln>
        </p:spPr>
      </p:sp>
      <p:sp>
        <p:nvSpPr>
          <p:cNvPr id="41" name="Text 38"/>
          <p:cNvSpPr/>
          <p:nvPr/>
        </p:nvSpPr>
        <p:spPr>
          <a:xfrm>
            <a:off x="694944" y="4014216"/>
            <a:ext cx="1097280" cy="457200"/>
          </a:xfrm>
          <a:prstGeom prst="rect">
            <a:avLst/>
          </a:prstGeom>
          <a:noFill/>
          <a:ln/>
        </p:spPr>
        <p:txBody>
          <a:bodyPr wrap="square" lIns="0" tIns="0" rIns="0" bIns="0" rtlCol="0" anchor="ctr"/>
          <a:lstStyle/>
          <a:p>
            <a:pPr indent="0" marL="0">
              <a:buNone/>
            </a:pPr>
            <a:r>
              <a:rPr lang="en-US" sz="2600" b="1" dirty="0">
                <a:solidFill>
                  <a:srgbClr val="1D6B73"/>
                </a:solidFill>
                <a:latin typeface="Bahnschrift" pitchFamily="34" charset="0"/>
                <a:ea typeface="Bahnschrift" pitchFamily="34" charset="-122"/>
                <a:cs typeface="Bahnschrift" pitchFamily="34" charset="-120"/>
              </a:rPr>
              <a:t>H6</a:t>
            </a:r>
            <a:endParaRPr lang="en-US" sz="2600" dirty="0"/>
          </a:p>
        </p:txBody>
      </p:sp>
      <p:sp>
        <p:nvSpPr>
          <p:cNvPr id="42" name="Shape 39"/>
          <p:cNvSpPr/>
          <p:nvPr/>
        </p:nvSpPr>
        <p:spPr>
          <a:xfrm>
            <a:off x="2145731" y="4105656"/>
            <a:ext cx="365760" cy="219456"/>
          </a:xfrm>
          <a:prstGeom prst="rect">
            <a:avLst/>
          </a:prstGeom>
          <a:solidFill>
            <a:srgbClr val="13232B"/>
          </a:solidFill>
          <a:ln/>
        </p:spPr>
      </p:sp>
      <p:sp>
        <p:nvSpPr>
          <p:cNvPr id="43" name="Text 40"/>
          <p:cNvSpPr/>
          <p:nvPr/>
        </p:nvSpPr>
        <p:spPr>
          <a:xfrm>
            <a:off x="2145731" y="4105656"/>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P1</a:t>
            </a:r>
            <a:endParaRPr lang="en-US" sz="900" dirty="0"/>
          </a:p>
        </p:txBody>
      </p:sp>
      <p:sp>
        <p:nvSpPr>
          <p:cNvPr id="44" name="Text 41"/>
          <p:cNvSpPr/>
          <p:nvPr/>
        </p:nvSpPr>
        <p:spPr>
          <a:xfrm>
            <a:off x="694944" y="4572000"/>
            <a:ext cx="1816547" cy="45720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Áreas de acceso</a:t>
            </a:r>
            <a:endParaRPr lang="en-US" sz="1500" dirty="0"/>
          </a:p>
        </p:txBody>
      </p:sp>
      <p:sp>
        <p:nvSpPr>
          <p:cNvPr id="45" name="Text 42"/>
          <p:cNvSpPr/>
          <p:nvPr/>
        </p:nvSpPr>
        <p:spPr>
          <a:xfrm>
            <a:off x="694944" y="5056632"/>
            <a:ext cx="1816547" cy="868680"/>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Árbol de áreas físicas sin ciclos, navegable por teclado y ratón.</a:t>
            </a:r>
            <a:endParaRPr lang="en-US" sz="1050" dirty="0"/>
          </a:p>
        </p:txBody>
      </p:sp>
      <p:sp>
        <p:nvSpPr>
          <p:cNvPr id="46" name="Shape 43"/>
          <p:cNvSpPr/>
          <p:nvPr/>
        </p:nvSpPr>
        <p:spPr>
          <a:xfrm>
            <a:off x="2794955" y="3886200"/>
            <a:ext cx="2109155" cy="2103120"/>
          </a:xfrm>
          <a:prstGeom prst="roundRect">
            <a:avLst>
              <a:gd name="adj" fmla="val 2609"/>
            </a:avLst>
          </a:prstGeom>
          <a:solidFill>
            <a:srgbClr val="F4F7F8"/>
          </a:solidFill>
          <a:ln w="9525">
            <a:solidFill>
              <a:srgbClr val="C8D3D8"/>
            </a:solidFill>
            <a:prstDash val="solid"/>
          </a:ln>
        </p:spPr>
      </p:sp>
      <p:sp>
        <p:nvSpPr>
          <p:cNvPr id="47" name="Text 44"/>
          <p:cNvSpPr/>
          <p:nvPr/>
        </p:nvSpPr>
        <p:spPr>
          <a:xfrm>
            <a:off x="2941259" y="4014216"/>
            <a:ext cx="1097280" cy="457200"/>
          </a:xfrm>
          <a:prstGeom prst="rect">
            <a:avLst/>
          </a:prstGeom>
          <a:noFill/>
          <a:ln/>
        </p:spPr>
        <p:txBody>
          <a:bodyPr wrap="square" lIns="0" tIns="0" rIns="0" bIns="0" rtlCol="0" anchor="ctr"/>
          <a:lstStyle/>
          <a:p>
            <a:pPr indent="0" marL="0">
              <a:buNone/>
            </a:pPr>
            <a:r>
              <a:rPr lang="en-US" sz="2600" b="1" dirty="0">
                <a:solidFill>
                  <a:srgbClr val="1D6B73"/>
                </a:solidFill>
                <a:latin typeface="Bahnschrift" pitchFamily="34" charset="0"/>
                <a:ea typeface="Bahnschrift" pitchFamily="34" charset="-122"/>
                <a:cs typeface="Bahnschrift" pitchFamily="34" charset="-120"/>
              </a:rPr>
              <a:t>H7</a:t>
            </a:r>
            <a:endParaRPr lang="en-US" sz="2600" dirty="0"/>
          </a:p>
        </p:txBody>
      </p:sp>
      <p:sp>
        <p:nvSpPr>
          <p:cNvPr id="48" name="Shape 45"/>
          <p:cNvSpPr/>
          <p:nvPr/>
        </p:nvSpPr>
        <p:spPr>
          <a:xfrm>
            <a:off x="4392046" y="4105656"/>
            <a:ext cx="365760" cy="219456"/>
          </a:xfrm>
          <a:prstGeom prst="rect">
            <a:avLst/>
          </a:prstGeom>
          <a:solidFill>
            <a:srgbClr val="13232B"/>
          </a:solidFill>
          <a:ln/>
        </p:spPr>
      </p:sp>
      <p:sp>
        <p:nvSpPr>
          <p:cNvPr id="49" name="Text 46"/>
          <p:cNvSpPr/>
          <p:nvPr/>
        </p:nvSpPr>
        <p:spPr>
          <a:xfrm>
            <a:off x="4392046" y="4105656"/>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P1</a:t>
            </a:r>
            <a:endParaRPr lang="en-US" sz="900" dirty="0"/>
          </a:p>
        </p:txBody>
      </p:sp>
      <p:sp>
        <p:nvSpPr>
          <p:cNvPr id="50" name="Text 47"/>
          <p:cNvSpPr/>
          <p:nvPr/>
        </p:nvSpPr>
        <p:spPr>
          <a:xfrm>
            <a:off x="2941259" y="4572000"/>
            <a:ext cx="1816547" cy="45720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Perfiles por área</a:t>
            </a:r>
            <a:endParaRPr lang="en-US" sz="1500" dirty="0"/>
          </a:p>
        </p:txBody>
      </p:sp>
      <p:sp>
        <p:nvSpPr>
          <p:cNvPr id="51" name="Text 48"/>
          <p:cNvSpPr/>
          <p:nvPr/>
        </p:nvSpPr>
        <p:spPr>
          <a:xfrm>
            <a:off x="2941259" y="5056632"/>
            <a:ext cx="1816547" cy="868680"/>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Qué tipos de persona pueden entrar a cada área.</a:t>
            </a:r>
            <a:endParaRPr lang="en-US" sz="1050" dirty="0"/>
          </a:p>
        </p:txBody>
      </p:sp>
      <p:sp>
        <p:nvSpPr>
          <p:cNvPr id="52" name="Shape 49"/>
          <p:cNvSpPr/>
          <p:nvPr/>
        </p:nvSpPr>
        <p:spPr>
          <a:xfrm>
            <a:off x="5041270" y="3886200"/>
            <a:ext cx="2109155" cy="2103120"/>
          </a:xfrm>
          <a:prstGeom prst="roundRect">
            <a:avLst>
              <a:gd name="adj" fmla="val 2609"/>
            </a:avLst>
          </a:prstGeom>
          <a:solidFill>
            <a:srgbClr val="F4F7F8"/>
          </a:solidFill>
          <a:ln w="9525">
            <a:solidFill>
              <a:srgbClr val="C8D3D8"/>
            </a:solidFill>
            <a:prstDash val="solid"/>
          </a:ln>
        </p:spPr>
      </p:sp>
      <p:sp>
        <p:nvSpPr>
          <p:cNvPr id="53" name="Text 50"/>
          <p:cNvSpPr/>
          <p:nvPr/>
        </p:nvSpPr>
        <p:spPr>
          <a:xfrm>
            <a:off x="5187574" y="4014216"/>
            <a:ext cx="1097280" cy="457200"/>
          </a:xfrm>
          <a:prstGeom prst="rect">
            <a:avLst/>
          </a:prstGeom>
          <a:noFill/>
          <a:ln/>
        </p:spPr>
        <p:txBody>
          <a:bodyPr wrap="square" lIns="0" tIns="0" rIns="0" bIns="0" rtlCol="0" anchor="ctr"/>
          <a:lstStyle/>
          <a:p>
            <a:pPr indent="0" marL="0">
              <a:buNone/>
            </a:pPr>
            <a:r>
              <a:rPr lang="en-US" sz="2600" b="1" dirty="0">
                <a:solidFill>
                  <a:srgbClr val="1D6B73"/>
                </a:solidFill>
                <a:latin typeface="Bahnschrift" pitchFamily="34" charset="0"/>
                <a:ea typeface="Bahnschrift" pitchFamily="34" charset="-122"/>
                <a:cs typeface="Bahnschrift" pitchFamily="34" charset="-120"/>
              </a:rPr>
              <a:t>H8</a:t>
            </a:r>
            <a:endParaRPr lang="en-US" sz="2600" dirty="0"/>
          </a:p>
        </p:txBody>
      </p:sp>
      <p:sp>
        <p:nvSpPr>
          <p:cNvPr id="54" name="Shape 51"/>
          <p:cNvSpPr/>
          <p:nvPr/>
        </p:nvSpPr>
        <p:spPr>
          <a:xfrm>
            <a:off x="6638361" y="4105656"/>
            <a:ext cx="365760" cy="219456"/>
          </a:xfrm>
          <a:prstGeom prst="rect">
            <a:avLst/>
          </a:prstGeom>
          <a:solidFill>
            <a:srgbClr val="13232B"/>
          </a:solidFill>
          <a:ln/>
        </p:spPr>
      </p:sp>
      <p:sp>
        <p:nvSpPr>
          <p:cNvPr id="55" name="Text 52"/>
          <p:cNvSpPr/>
          <p:nvPr/>
        </p:nvSpPr>
        <p:spPr>
          <a:xfrm>
            <a:off x="6638361" y="4105656"/>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P1</a:t>
            </a:r>
            <a:endParaRPr lang="en-US" sz="900" dirty="0"/>
          </a:p>
        </p:txBody>
      </p:sp>
      <p:sp>
        <p:nvSpPr>
          <p:cNvPr id="56" name="Text 53"/>
          <p:cNvSpPr/>
          <p:nvPr/>
        </p:nvSpPr>
        <p:spPr>
          <a:xfrm>
            <a:off x="5187574" y="4572000"/>
            <a:ext cx="1816547" cy="45720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Permisos y evaluación</a:t>
            </a:r>
            <a:endParaRPr lang="en-US" sz="1500" dirty="0"/>
          </a:p>
        </p:txBody>
      </p:sp>
      <p:sp>
        <p:nvSpPr>
          <p:cNvPr id="57" name="Text 54"/>
          <p:cNvSpPr/>
          <p:nvPr/>
        </p:nvSpPr>
        <p:spPr>
          <a:xfrm>
            <a:off x="5187574" y="5056632"/>
            <a:ext cx="1816547" cy="868680"/>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Vigencia diaria, bloques horarios y motor de acceso de 15 pasos.</a:t>
            </a:r>
            <a:endParaRPr lang="en-US" sz="1050" dirty="0"/>
          </a:p>
        </p:txBody>
      </p:sp>
      <p:sp>
        <p:nvSpPr>
          <p:cNvPr id="58" name="Shape 55"/>
          <p:cNvSpPr/>
          <p:nvPr/>
        </p:nvSpPr>
        <p:spPr>
          <a:xfrm>
            <a:off x="7287585" y="3886200"/>
            <a:ext cx="2109155" cy="2103120"/>
          </a:xfrm>
          <a:prstGeom prst="roundRect">
            <a:avLst>
              <a:gd name="adj" fmla="val 2609"/>
            </a:avLst>
          </a:prstGeom>
          <a:solidFill>
            <a:srgbClr val="F4F7F8"/>
          </a:solidFill>
          <a:ln w="9525">
            <a:solidFill>
              <a:srgbClr val="C8D3D8"/>
            </a:solidFill>
            <a:prstDash val="solid"/>
          </a:ln>
        </p:spPr>
      </p:sp>
      <p:sp>
        <p:nvSpPr>
          <p:cNvPr id="59" name="Text 56"/>
          <p:cNvSpPr/>
          <p:nvPr/>
        </p:nvSpPr>
        <p:spPr>
          <a:xfrm>
            <a:off x="7433889" y="4014216"/>
            <a:ext cx="1097280" cy="457200"/>
          </a:xfrm>
          <a:prstGeom prst="rect">
            <a:avLst/>
          </a:prstGeom>
          <a:noFill/>
          <a:ln/>
        </p:spPr>
        <p:txBody>
          <a:bodyPr wrap="square" lIns="0" tIns="0" rIns="0" bIns="0" rtlCol="0" anchor="ctr"/>
          <a:lstStyle/>
          <a:p>
            <a:pPr indent="0" marL="0">
              <a:buNone/>
            </a:pPr>
            <a:r>
              <a:rPr lang="en-US" sz="2600" b="1" dirty="0">
                <a:solidFill>
                  <a:srgbClr val="1D6B73"/>
                </a:solidFill>
                <a:latin typeface="Bahnschrift" pitchFamily="34" charset="0"/>
                <a:ea typeface="Bahnschrift" pitchFamily="34" charset="-122"/>
                <a:cs typeface="Bahnschrift" pitchFamily="34" charset="-120"/>
              </a:rPr>
              <a:t>H9</a:t>
            </a:r>
            <a:endParaRPr lang="en-US" sz="2600" dirty="0"/>
          </a:p>
        </p:txBody>
      </p:sp>
      <p:sp>
        <p:nvSpPr>
          <p:cNvPr id="60" name="Shape 57"/>
          <p:cNvSpPr/>
          <p:nvPr/>
        </p:nvSpPr>
        <p:spPr>
          <a:xfrm>
            <a:off x="8884676" y="4105656"/>
            <a:ext cx="365760" cy="219456"/>
          </a:xfrm>
          <a:prstGeom prst="rect">
            <a:avLst/>
          </a:prstGeom>
          <a:solidFill>
            <a:srgbClr val="C8D3D8"/>
          </a:solidFill>
          <a:ln/>
        </p:spPr>
      </p:sp>
      <p:sp>
        <p:nvSpPr>
          <p:cNvPr id="61" name="Text 58"/>
          <p:cNvSpPr/>
          <p:nvPr/>
        </p:nvSpPr>
        <p:spPr>
          <a:xfrm>
            <a:off x="8884676" y="4105656"/>
            <a:ext cx="365760" cy="219456"/>
          </a:xfrm>
          <a:prstGeom prst="rect">
            <a:avLst/>
          </a:prstGeom>
          <a:noFill/>
          <a:ln/>
        </p:spPr>
        <p:txBody>
          <a:bodyPr wrap="square" lIns="0" tIns="0" rIns="0" bIns="0" rtlCol="0" anchor="ctr"/>
          <a:lstStyle/>
          <a:p>
            <a:pPr algn="ctr" indent="0" marL="0">
              <a:buNone/>
            </a:pPr>
            <a:r>
              <a:rPr lang="en-US" sz="900" b="1" dirty="0">
                <a:solidFill>
                  <a:srgbClr val="13232B"/>
                </a:solidFill>
                <a:latin typeface="Consolas" pitchFamily="34" charset="0"/>
                <a:ea typeface="Consolas" pitchFamily="34" charset="-122"/>
                <a:cs typeface="Consolas" pitchFamily="34" charset="-120"/>
              </a:rPr>
              <a:t>P2</a:t>
            </a:r>
            <a:endParaRPr lang="en-US" sz="900" dirty="0"/>
          </a:p>
        </p:txBody>
      </p:sp>
      <p:sp>
        <p:nvSpPr>
          <p:cNvPr id="62" name="Text 59"/>
          <p:cNvSpPr/>
          <p:nvPr/>
        </p:nvSpPr>
        <p:spPr>
          <a:xfrm>
            <a:off x="7433889" y="4572000"/>
            <a:ext cx="1816547" cy="45720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Credencial · fotocheck</a:t>
            </a:r>
            <a:endParaRPr lang="en-US" sz="1500" dirty="0"/>
          </a:p>
        </p:txBody>
      </p:sp>
      <p:sp>
        <p:nvSpPr>
          <p:cNvPr id="63" name="Text 60"/>
          <p:cNvSpPr/>
          <p:nvPr/>
        </p:nvSpPr>
        <p:spPr>
          <a:xfrm>
            <a:off x="7433889" y="5056632"/>
            <a:ext cx="1816547" cy="868680"/>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Asignación por Principal, con vigencia y estados.</a:t>
            </a:r>
            <a:endParaRPr lang="en-US" sz="1050" dirty="0"/>
          </a:p>
        </p:txBody>
      </p:sp>
      <p:sp>
        <p:nvSpPr>
          <p:cNvPr id="64" name="Shape 61"/>
          <p:cNvSpPr/>
          <p:nvPr/>
        </p:nvSpPr>
        <p:spPr>
          <a:xfrm>
            <a:off x="9533900" y="3886200"/>
            <a:ext cx="2109155" cy="2103120"/>
          </a:xfrm>
          <a:prstGeom prst="roundRect">
            <a:avLst>
              <a:gd name="adj" fmla="val 2609"/>
            </a:avLst>
          </a:prstGeom>
          <a:solidFill>
            <a:srgbClr val="F4F7F8"/>
          </a:solidFill>
          <a:ln w="9525">
            <a:solidFill>
              <a:srgbClr val="C8D3D8"/>
            </a:solidFill>
            <a:prstDash val="solid"/>
          </a:ln>
        </p:spPr>
      </p:sp>
      <p:sp>
        <p:nvSpPr>
          <p:cNvPr id="65" name="Text 62"/>
          <p:cNvSpPr/>
          <p:nvPr/>
        </p:nvSpPr>
        <p:spPr>
          <a:xfrm>
            <a:off x="9680204" y="4014216"/>
            <a:ext cx="1097280" cy="457200"/>
          </a:xfrm>
          <a:prstGeom prst="rect">
            <a:avLst/>
          </a:prstGeom>
          <a:noFill/>
          <a:ln/>
        </p:spPr>
        <p:txBody>
          <a:bodyPr wrap="square" lIns="0" tIns="0" rIns="0" bIns="0" rtlCol="0" anchor="ctr"/>
          <a:lstStyle/>
          <a:p>
            <a:pPr indent="0" marL="0">
              <a:buNone/>
            </a:pPr>
            <a:r>
              <a:rPr lang="en-US" sz="2600" b="1" dirty="0">
                <a:solidFill>
                  <a:srgbClr val="1D6B73"/>
                </a:solidFill>
                <a:latin typeface="Bahnschrift" pitchFamily="34" charset="0"/>
                <a:ea typeface="Bahnschrift" pitchFamily="34" charset="-122"/>
                <a:cs typeface="Bahnschrift" pitchFamily="34" charset="-120"/>
              </a:rPr>
              <a:t>H10</a:t>
            </a:r>
            <a:endParaRPr lang="en-US" sz="2600" dirty="0"/>
          </a:p>
        </p:txBody>
      </p:sp>
      <p:sp>
        <p:nvSpPr>
          <p:cNvPr id="66" name="Shape 63"/>
          <p:cNvSpPr/>
          <p:nvPr/>
        </p:nvSpPr>
        <p:spPr>
          <a:xfrm>
            <a:off x="11130991" y="4105656"/>
            <a:ext cx="365760" cy="219456"/>
          </a:xfrm>
          <a:prstGeom prst="rect">
            <a:avLst/>
          </a:prstGeom>
          <a:solidFill>
            <a:srgbClr val="C8D3D8"/>
          </a:solidFill>
          <a:ln/>
        </p:spPr>
      </p:sp>
      <p:sp>
        <p:nvSpPr>
          <p:cNvPr id="67" name="Text 64"/>
          <p:cNvSpPr/>
          <p:nvPr/>
        </p:nvSpPr>
        <p:spPr>
          <a:xfrm>
            <a:off x="11130991" y="4105656"/>
            <a:ext cx="365760" cy="219456"/>
          </a:xfrm>
          <a:prstGeom prst="rect">
            <a:avLst/>
          </a:prstGeom>
          <a:noFill/>
          <a:ln/>
        </p:spPr>
        <p:txBody>
          <a:bodyPr wrap="square" lIns="0" tIns="0" rIns="0" bIns="0" rtlCol="0" anchor="ctr"/>
          <a:lstStyle/>
          <a:p>
            <a:pPr algn="ctr" indent="0" marL="0">
              <a:buNone/>
            </a:pPr>
            <a:r>
              <a:rPr lang="en-US" sz="900" b="1" dirty="0">
                <a:solidFill>
                  <a:srgbClr val="13232B"/>
                </a:solidFill>
                <a:latin typeface="Consolas" pitchFamily="34" charset="0"/>
                <a:ea typeface="Consolas" pitchFamily="34" charset="-122"/>
                <a:cs typeface="Consolas" pitchFamily="34" charset="-120"/>
              </a:rPr>
              <a:t>P2</a:t>
            </a:r>
            <a:endParaRPr lang="en-US" sz="900" dirty="0"/>
          </a:p>
        </p:txBody>
      </p:sp>
      <p:sp>
        <p:nvSpPr>
          <p:cNvPr id="68" name="Text 65"/>
          <p:cNvSpPr/>
          <p:nvPr/>
        </p:nvSpPr>
        <p:spPr>
          <a:xfrm>
            <a:off x="9680204" y="4572000"/>
            <a:ext cx="1816547" cy="45720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Auditoría</a:t>
            </a:r>
            <a:endParaRPr lang="en-US" sz="1500" dirty="0"/>
          </a:p>
        </p:txBody>
      </p:sp>
      <p:sp>
        <p:nvSpPr>
          <p:cNvPr id="69" name="Text 66"/>
          <p:cNvSpPr/>
          <p:nvPr/>
        </p:nvSpPr>
        <p:spPr>
          <a:xfrm>
            <a:off x="9680204" y="5056632"/>
            <a:ext cx="1816547" cy="868680"/>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Automática por entidad; las consultas transversales quedaron fuera del alcance del proyecto.</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38912" cy="274320"/>
          </a:xfrm>
          <a:prstGeom prst="rect">
            <a:avLst/>
          </a:prstGeom>
          <a:solidFill>
            <a:srgbClr val="F2B233"/>
          </a:solidFill>
          <a:ln/>
        </p:spPr>
      </p:sp>
      <p:sp>
        <p:nvSpPr>
          <p:cNvPr id="3" name="Text 1"/>
          <p:cNvSpPr/>
          <p:nvPr/>
        </p:nvSpPr>
        <p:spPr>
          <a:xfrm>
            <a:off x="548640" y="329184"/>
            <a:ext cx="438912" cy="274320"/>
          </a:xfrm>
          <a:prstGeom prst="rect">
            <a:avLst/>
          </a:prstGeom>
          <a:noFill/>
          <a:ln/>
        </p:spPr>
        <p:txBody>
          <a:bodyPr wrap="square" lIns="0" tIns="0" rIns="0" bIns="0" rtlCol="0" anchor="ctr"/>
          <a:lstStyle/>
          <a:p>
            <a:pPr algn="ctr" indent="0" marL="0">
              <a:buNone/>
            </a:pPr>
            <a:r>
              <a:rPr lang="en-US" sz="1100" b="1" dirty="0">
                <a:solidFill>
                  <a:srgbClr val="13232B"/>
                </a:solidFill>
                <a:latin typeface="Consolas" pitchFamily="34" charset="0"/>
                <a:ea typeface="Consolas" pitchFamily="34" charset="-122"/>
                <a:cs typeface="Consolas" pitchFamily="34" charset="-120"/>
              </a:rPr>
              <a:t>07</a:t>
            </a:r>
            <a:endParaRPr lang="en-US" sz="1100" dirty="0"/>
          </a:p>
        </p:txBody>
      </p:sp>
      <p:sp>
        <p:nvSpPr>
          <p:cNvPr id="4" name="Text 2"/>
          <p:cNvSpPr/>
          <p:nvPr/>
        </p:nvSpPr>
        <p:spPr>
          <a:xfrm>
            <a:off x="1115568" y="329184"/>
            <a:ext cx="5486400" cy="274320"/>
          </a:xfrm>
          <a:prstGeom prst="rect">
            <a:avLst/>
          </a:prstGeom>
          <a:noFill/>
          <a:ln/>
        </p:spPr>
        <p:txBody>
          <a:bodyPr wrap="square" lIns="0" tIns="0" rIns="0" bIns="0" rtlCol="0" anchor="ctr"/>
          <a:lstStyle/>
          <a:p>
            <a:pPr indent="0" marL="0">
              <a:buNone/>
            </a:pPr>
            <a:r>
              <a:rPr lang="en-US" sz="1050" b="1" spc="150" kern="0" dirty="0">
                <a:solidFill>
                  <a:srgbClr val="13232B"/>
                </a:solidFill>
                <a:latin typeface="Consolas" pitchFamily="34" charset="0"/>
                <a:ea typeface="Consolas" pitchFamily="34" charset="-122"/>
                <a:cs typeface="Consolas" pitchFamily="34" charset="-120"/>
              </a:rPr>
              <a:t>FUNCIONALIDAD CENTRAL</a:t>
            </a:r>
            <a:endParaRPr lang="en-US" sz="1050" dirty="0"/>
          </a:p>
        </p:txBody>
      </p:sp>
      <p:sp>
        <p:nvSpPr>
          <p:cNvPr id="5" name="Text 3"/>
          <p:cNvSpPr/>
          <p:nvPr/>
        </p:nvSpPr>
        <p:spPr>
          <a:xfrm>
            <a:off x="6156655" y="329184"/>
            <a:ext cx="5486400" cy="274320"/>
          </a:xfrm>
          <a:prstGeom prst="rect">
            <a:avLst/>
          </a:prstGeom>
          <a:noFill/>
          <a:ln/>
        </p:spPr>
        <p:txBody>
          <a:bodyPr wrap="square" lIns="0" tIns="0" rIns="0" bIns="0" rtlCol="0" anchor="ctr"/>
          <a:lstStyle/>
          <a:p>
            <a:pPr algn="r" indent="0" marL="0">
              <a:buNone/>
            </a:pPr>
            <a:r>
              <a:rPr lang="en-US" sz="950" spc="150" kern="0" dirty="0">
                <a:solidFill>
                  <a:srgbClr val="56676F"/>
                </a:solidFill>
                <a:latin typeface="Consolas" pitchFamily="34" charset="0"/>
                <a:ea typeface="Consolas" pitchFamily="34" charset="-122"/>
                <a:cs typeface="Consolas" pitchFamily="34" charset="-120"/>
              </a:rPr>
              <a:t>HISTORIA 8 · EVALUACIÓN DE ACCESO</a:t>
            </a:r>
            <a:endParaRPr lang="en-US" sz="950" dirty="0"/>
          </a:p>
        </p:txBody>
      </p:sp>
      <p:sp>
        <p:nvSpPr>
          <p:cNvPr id="6" name="Text 4"/>
          <p:cNvSpPr/>
          <p:nvPr/>
        </p:nvSpPr>
        <p:spPr>
          <a:xfrm>
            <a:off x="548640" y="6446520"/>
            <a:ext cx="8229600" cy="22860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EvaluadorDeAcceso · contracts/access-evaluation.yaml</a:t>
            </a:r>
            <a:endParaRPr lang="en-US" sz="850" dirty="0"/>
          </a:p>
        </p:txBody>
      </p:sp>
      <p:sp>
        <p:nvSpPr>
          <p:cNvPr id="7" name="Text 5"/>
          <p:cNvSpPr/>
          <p:nvPr/>
        </p:nvSpPr>
        <p:spPr>
          <a:xfrm>
            <a:off x="9814255" y="6446520"/>
            <a:ext cx="1828800" cy="228600"/>
          </a:xfrm>
          <a:prstGeom prst="rect">
            <a:avLst/>
          </a:prstGeom>
          <a:noFill/>
          <a:ln/>
        </p:spPr>
        <p:txBody>
          <a:bodyPr wrap="square" lIns="0" tIns="0" rIns="0" bIns="0" rtlCol="0" anchor="t"/>
          <a:lstStyle/>
          <a:p>
            <a:pPr algn="r" indent="0" marL="0">
              <a:buNone/>
            </a:pPr>
            <a:r>
              <a:rPr lang="en-US" sz="850" dirty="0">
                <a:solidFill>
                  <a:srgbClr val="56676F"/>
                </a:solidFill>
                <a:latin typeface="Consolas" pitchFamily="34" charset="0"/>
                <a:ea typeface="Consolas" pitchFamily="34" charset="-122"/>
                <a:cs typeface="Consolas" pitchFamily="34" charset="-120"/>
              </a:rPr>
              <a:t>07 / 11</a:t>
            </a:r>
            <a:endParaRPr lang="en-US" sz="850" dirty="0"/>
          </a:p>
        </p:txBody>
      </p:sp>
      <p:sp>
        <p:nvSpPr>
          <p:cNvPr id="9" name="Text 6"/>
          <p:cNvSpPr/>
          <p:nvPr/>
        </p:nvSpPr>
        <p:spPr>
          <a:xfrm>
            <a:off x="548640" y="777240"/>
            <a:ext cx="11094415" cy="658368"/>
          </a:xfrm>
          <a:prstGeom prst="rect">
            <a:avLst/>
          </a:prstGeom>
          <a:noFill/>
          <a:ln/>
        </p:spPr>
        <p:txBody>
          <a:bodyPr wrap="square" lIns="0" tIns="0" rIns="0" bIns="0" rtlCol="0" anchor="ctr"/>
          <a:lstStyle/>
          <a:p>
            <a:pPr indent="0" marL="0">
              <a:buNone/>
            </a:pPr>
            <a:r>
              <a:rPr lang="en-US" sz="3200" b="1" dirty="0">
                <a:solidFill>
                  <a:srgbClr val="13232B"/>
                </a:solidFill>
                <a:latin typeface="Bahnschrift" pitchFamily="34" charset="0"/>
                <a:ea typeface="Bahnschrift" pitchFamily="34" charset="-122"/>
                <a:cs typeface="Bahnschrift" pitchFamily="34" charset="-120"/>
              </a:rPr>
              <a:t>¿Puede esta persona entrar a esta área ahora?</a:t>
            </a:r>
            <a:endParaRPr lang="en-US" sz="3200" dirty="0"/>
          </a:p>
        </p:txBody>
      </p:sp>
      <p:sp>
        <p:nvSpPr>
          <p:cNvPr id="10" name="Text 7"/>
          <p:cNvSpPr/>
          <p:nvPr/>
        </p:nvSpPr>
        <p:spPr>
          <a:xfrm>
            <a:off x="548640" y="1453896"/>
            <a:ext cx="9601200" cy="365760"/>
          </a:xfrm>
          <a:prstGeom prst="rect">
            <a:avLst/>
          </a:prstGeom>
          <a:noFill/>
          <a:ln/>
        </p:spPr>
        <p:txBody>
          <a:bodyPr wrap="square" lIns="0" tIns="0" rIns="0" bIns="0" rtlCol="0" anchor="t"/>
          <a:lstStyle/>
          <a:p>
            <a:pPr indent="0" marL="0">
              <a:buNone/>
            </a:pPr>
            <a:r>
              <a:rPr lang="en-US" sz="1300" dirty="0">
                <a:solidFill>
                  <a:srgbClr val="56676F"/>
                </a:solidFill>
                <a:latin typeface="Segoe UI" pitchFamily="34" charset="0"/>
                <a:ea typeface="Segoe UI" pitchFamily="34" charset="-122"/>
                <a:cs typeface="Segoe UI" pitchFamily="34" charset="-120"/>
              </a:rPr>
              <a:t>El motor recorre en orden estas puertas. Cada una que falla devuelve un motivo explícito; solo si todas pasan se concede el acceso.</a:t>
            </a:r>
            <a:endParaRPr lang="en-US" sz="1300" dirty="0"/>
          </a:p>
        </p:txBody>
      </p:sp>
      <p:sp>
        <p:nvSpPr>
          <p:cNvPr id="11" name="Shape 8"/>
          <p:cNvSpPr/>
          <p:nvPr/>
        </p:nvSpPr>
        <p:spPr>
          <a:xfrm>
            <a:off x="548640" y="2011680"/>
            <a:ext cx="2014057" cy="1325880"/>
          </a:xfrm>
          <a:prstGeom prst="roundRect">
            <a:avLst>
              <a:gd name="adj" fmla="val 4138"/>
            </a:avLst>
          </a:prstGeom>
          <a:solidFill>
            <a:srgbClr val="F4F7F8"/>
          </a:solidFill>
          <a:ln w="9525">
            <a:solidFill>
              <a:srgbClr val="C8D3D8"/>
            </a:solidFill>
            <a:prstDash val="solid"/>
          </a:ln>
        </p:spPr>
      </p:sp>
      <p:sp>
        <p:nvSpPr>
          <p:cNvPr id="12" name="Text 9"/>
          <p:cNvSpPr/>
          <p:nvPr/>
        </p:nvSpPr>
        <p:spPr>
          <a:xfrm>
            <a:off x="667512" y="2103120"/>
            <a:ext cx="1776313" cy="219456"/>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PASO 1</a:t>
            </a:r>
            <a:endParaRPr lang="en-US" sz="850" dirty="0"/>
          </a:p>
        </p:txBody>
      </p:sp>
      <p:sp>
        <p:nvSpPr>
          <p:cNvPr id="13" name="Text 10"/>
          <p:cNvSpPr/>
          <p:nvPr/>
        </p:nvSpPr>
        <p:spPr>
          <a:xfrm>
            <a:off x="667512" y="2322576"/>
            <a:ext cx="1776313"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Alcance del usuario</a:t>
            </a:r>
            <a:endParaRPr lang="en-US" sz="1500" dirty="0"/>
          </a:p>
        </p:txBody>
      </p:sp>
      <p:sp>
        <p:nvSpPr>
          <p:cNvPr id="14" name="Shape 11"/>
          <p:cNvSpPr/>
          <p:nvPr/>
        </p:nvSpPr>
        <p:spPr>
          <a:xfrm>
            <a:off x="667512" y="2880360"/>
            <a:ext cx="1776313" cy="347472"/>
          </a:xfrm>
          <a:prstGeom prst="roundRect">
            <a:avLst>
              <a:gd name="adj" fmla="val 7895"/>
            </a:avLst>
          </a:prstGeom>
          <a:solidFill>
            <a:srgbClr val="F8E1DE"/>
          </a:solidFill>
          <a:ln/>
        </p:spPr>
      </p:sp>
      <p:sp>
        <p:nvSpPr>
          <p:cNvPr id="15" name="Text 12"/>
          <p:cNvSpPr/>
          <p:nvPr/>
        </p:nvSpPr>
        <p:spPr>
          <a:xfrm>
            <a:off x="704088" y="2880360"/>
            <a:ext cx="1703161" cy="347472"/>
          </a:xfrm>
          <a:prstGeom prst="rect">
            <a:avLst/>
          </a:prstGeom>
          <a:noFill/>
          <a:ln/>
        </p:spPr>
        <p:txBody>
          <a:bodyPr wrap="square" lIns="0" tIns="0" rIns="0" bIns="0" rtlCol="0" anchor="ctr"/>
          <a:lstStyle/>
          <a:p>
            <a:pPr indent="0" marL="0">
              <a:buNone/>
            </a:pPr>
            <a:r>
              <a:rPr lang="en-US" sz="750" dirty="0">
                <a:solidFill>
                  <a:srgbClr val="B23A2E"/>
                </a:solidFill>
                <a:latin typeface="Consolas" pitchFamily="34" charset="0"/>
                <a:ea typeface="Consolas" pitchFamily="34" charset="-122"/>
                <a:cs typeface="Consolas" pitchFamily="34" charset="-120"/>
              </a:rPr>
              <a:t>FUERA_DE_ALCANCE_USUARIO</a:t>
            </a:r>
            <a:endParaRPr lang="en-US" sz="750" dirty="0"/>
          </a:p>
        </p:txBody>
      </p:sp>
      <p:sp>
        <p:nvSpPr>
          <p:cNvPr id="16" name="Shape 13"/>
          <p:cNvSpPr/>
          <p:nvPr/>
        </p:nvSpPr>
        <p:spPr>
          <a:xfrm>
            <a:off x="2580985" y="2674620"/>
            <a:ext cx="219456" cy="914"/>
          </a:xfrm>
          <a:prstGeom prst="line">
            <a:avLst/>
          </a:prstGeom>
          <a:noFill/>
          <a:ln w="19050">
            <a:solidFill>
              <a:srgbClr val="56676F"/>
            </a:solidFill>
            <a:prstDash val="solid"/>
            <a:tailEnd type="triangle"/>
          </a:ln>
        </p:spPr>
      </p:sp>
      <p:sp>
        <p:nvSpPr>
          <p:cNvPr id="17" name="Shape 14"/>
          <p:cNvSpPr/>
          <p:nvPr/>
        </p:nvSpPr>
        <p:spPr>
          <a:xfrm>
            <a:off x="2818729" y="2011680"/>
            <a:ext cx="2014057" cy="1325880"/>
          </a:xfrm>
          <a:prstGeom prst="roundRect">
            <a:avLst>
              <a:gd name="adj" fmla="val 4138"/>
            </a:avLst>
          </a:prstGeom>
          <a:solidFill>
            <a:srgbClr val="F4F7F8"/>
          </a:solidFill>
          <a:ln w="9525">
            <a:solidFill>
              <a:srgbClr val="C8D3D8"/>
            </a:solidFill>
            <a:prstDash val="solid"/>
          </a:ln>
        </p:spPr>
      </p:sp>
      <p:sp>
        <p:nvSpPr>
          <p:cNvPr id="18" name="Text 15"/>
          <p:cNvSpPr/>
          <p:nvPr/>
        </p:nvSpPr>
        <p:spPr>
          <a:xfrm>
            <a:off x="2937601" y="2103120"/>
            <a:ext cx="1776313" cy="219456"/>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PASOS 4–5</a:t>
            </a:r>
            <a:endParaRPr lang="en-US" sz="850" dirty="0"/>
          </a:p>
        </p:txBody>
      </p:sp>
      <p:sp>
        <p:nvSpPr>
          <p:cNvPr id="19" name="Text 16"/>
          <p:cNvSpPr/>
          <p:nvPr/>
        </p:nvSpPr>
        <p:spPr>
          <a:xfrm>
            <a:off x="2937601" y="2322576"/>
            <a:ext cx="1776313"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Principal activa</a:t>
            </a:r>
            <a:endParaRPr lang="en-US" sz="1500" dirty="0"/>
          </a:p>
        </p:txBody>
      </p:sp>
      <p:sp>
        <p:nvSpPr>
          <p:cNvPr id="20" name="Shape 17"/>
          <p:cNvSpPr/>
          <p:nvPr/>
        </p:nvSpPr>
        <p:spPr>
          <a:xfrm>
            <a:off x="2937601" y="2880360"/>
            <a:ext cx="1776313" cy="347472"/>
          </a:xfrm>
          <a:prstGeom prst="roundRect">
            <a:avLst>
              <a:gd name="adj" fmla="val 7895"/>
            </a:avLst>
          </a:prstGeom>
          <a:solidFill>
            <a:srgbClr val="F8E1DE"/>
          </a:solidFill>
          <a:ln/>
        </p:spPr>
      </p:sp>
      <p:sp>
        <p:nvSpPr>
          <p:cNvPr id="21" name="Text 18"/>
          <p:cNvSpPr/>
          <p:nvPr/>
        </p:nvSpPr>
        <p:spPr>
          <a:xfrm>
            <a:off x="2974177" y="2880360"/>
            <a:ext cx="1703161" cy="347472"/>
          </a:xfrm>
          <a:prstGeom prst="rect">
            <a:avLst/>
          </a:prstGeom>
          <a:noFill/>
          <a:ln/>
        </p:spPr>
        <p:txBody>
          <a:bodyPr wrap="square" lIns="0" tIns="0" rIns="0" bIns="0" rtlCol="0" anchor="ctr"/>
          <a:lstStyle/>
          <a:p>
            <a:pPr indent="0" marL="0">
              <a:buNone/>
            </a:pPr>
            <a:r>
              <a:rPr lang="en-US" sz="750" dirty="0">
                <a:solidFill>
                  <a:srgbClr val="B23A2E"/>
                </a:solidFill>
                <a:latin typeface="Consolas" pitchFamily="34" charset="0"/>
                <a:ea typeface="Consolas" pitchFamily="34" charset="-122"/>
                <a:cs typeface="Consolas" pitchFamily="34" charset="-120"/>
              </a:rPr>
              <a:t>COMPANIA_INACTIVA</a:t>
            </a:r>
            <a:endParaRPr lang="en-US" sz="750" dirty="0"/>
          </a:p>
        </p:txBody>
      </p:sp>
      <p:sp>
        <p:nvSpPr>
          <p:cNvPr id="22" name="Shape 19"/>
          <p:cNvSpPr/>
          <p:nvPr/>
        </p:nvSpPr>
        <p:spPr>
          <a:xfrm>
            <a:off x="4851075" y="2674620"/>
            <a:ext cx="219456" cy="914"/>
          </a:xfrm>
          <a:prstGeom prst="line">
            <a:avLst/>
          </a:prstGeom>
          <a:noFill/>
          <a:ln w="19050">
            <a:solidFill>
              <a:srgbClr val="56676F"/>
            </a:solidFill>
            <a:prstDash val="solid"/>
            <a:tailEnd type="triangle"/>
          </a:ln>
        </p:spPr>
      </p:sp>
      <p:sp>
        <p:nvSpPr>
          <p:cNvPr id="23" name="Shape 20"/>
          <p:cNvSpPr/>
          <p:nvPr/>
        </p:nvSpPr>
        <p:spPr>
          <a:xfrm>
            <a:off x="5088819" y="2011680"/>
            <a:ext cx="2014057" cy="1325880"/>
          </a:xfrm>
          <a:prstGeom prst="roundRect">
            <a:avLst>
              <a:gd name="adj" fmla="val 4138"/>
            </a:avLst>
          </a:prstGeom>
          <a:solidFill>
            <a:srgbClr val="F4F7F8"/>
          </a:solidFill>
          <a:ln w="9525">
            <a:solidFill>
              <a:srgbClr val="C8D3D8"/>
            </a:solidFill>
            <a:prstDash val="solid"/>
          </a:ln>
        </p:spPr>
      </p:sp>
      <p:sp>
        <p:nvSpPr>
          <p:cNvPr id="24" name="Text 21"/>
          <p:cNvSpPr/>
          <p:nvPr/>
        </p:nvSpPr>
        <p:spPr>
          <a:xfrm>
            <a:off x="5207691" y="2103120"/>
            <a:ext cx="1776313" cy="219456"/>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PASO 6</a:t>
            </a:r>
            <a:endParaRPr lang="en-US" sz="850" dirty="0"/>
          </a:p>
        </p:txBody>
      </p:sp>
      <p:sp>
        <p:nvSpPr>
          <p:cNvPr id="25" name="Text 22"/>
          <p:cNvSpPr/>
          <p:nvPr/>
        </p:nvSpPr>
        <p:spPr>
          <a:xfrm>
            <a:off x="5207691" y="2322576"/>
            <a:ext cx="1776313"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Contexto operativo legítimo</a:t>
            </a:r>
            <a:endParaRPr lang="en-US" sz="1500" dirty="0"/>
          </a:p>
        </p:txBody>
      </p:sp>
      <p:sp>
        <p:nvSpPr>
          <p:cNvPr id="26" name="Shape 23"/>
          <p:cNvSpPr/>
          <p:nvPr/>
        </p:nvSpPr>
        <p:spPr>
          <a:xfrm>
            <a:off x="5207691" y="2880360"/>
            <a:ext cx="1776313" cy="347472"/>
          </a:xfrm>
          <a:prstGeom prst="roundRect">
            <a:avLst>
              <a:gd name="adj" fmla="val 7895"/>
            </a:avLst>
          </a:prstGeom>
          <a:solidFill>
            <a:srgbClr val="F8E1DE"/>
          </a:solidFill>
          <a:ln/>
        </p:spPr>
      </p:sp>
      <p:sp>
        <p:nvSpPr>
          <p:cNvPr id="27" name="Text 24"/>
          <p:cNvSpPr/>
          <p:nvPr/>
        </p:nvSpPr>
        <p:spPr>
          <a:xfrm>
            <a:off x="5244267" y="2880360"/>
            <a:ext cx="1703161" cy="347472"/>
          </a:xfrm>
          <a:prstGeom prst="rect">
            <a:avLst/>
          </a:prstGeom>
          <a:noFill/>
          <a:ln/>
        </p:spPr>
        <p:txBody>
          <a:bodyPr wrap="square" lIns="0" tIns="0" rIns="0" bIns="0" rtlCol="0" anchor="ctr"/>
          <a:lstStyle/>
          <a:p>
            <a:pPr indent="0" marL="0">
              <a:buNone/>
            </a:pPr>
            <a:r>
              <a:rPr lang="en-US" sz="750" dirty="0">
                <a:solidFill>
                  <a:srgbClr val="B23A2E"/>
                </a:solidFill>
                <a:latin typeface="Consolas" pitchFamily="34" charset="0"/>
                <a:ea typeface="Consolas" pitchFamily="34" charset="-122"/>
                <a:cs typeface="Consolas" pitchFamily="34" charset="-120"/>
              </a:rPr>
              <a:t>SIN_CONTEXTO_OPERATIVO_VIGENTE</a:t>
            </a:r>
            <a:endParaRPr lang="en-US" sz="750" dirty="0"/>
          </a:p>
        </p:txBody>
      </p:sp>
      <p:sp>
        <p:nvSpPr>
          <p:cNvPr id="28" name="Shape 25"/>
          <p:cNvSpPr/>
          <p:nvPr/>
        </p:nvSpPr>
        <p:spPr>
          <a:xfrm>
            <a:off x="7121164" y="2674620"/>
            <a:ext cx="219456" cy="914"/>
          </a:xfrm>
          <a:prstGeom prst="line">
            <a:avLst/>
          </a:prstGeom>
          <a:noFill/>
          <a:ln w="19050">
            <a:solidFill>
              <a:srgbClr val="56676F"/>
            </a:solidFill>
            <a:prstDash val="solid"/>
            <a:tailEnd type="triangle"/>
          </a:ln>
        </p:spPr>
      </p:sp>
      <p:sp>
        <p:nvSpPr>
          <p:cNvPr id="29" name="Shape 26"/>
          <p:cNvSpPr/>
          <p:nvPr/>
        </p:nvSpPr>
        <p:spPr>
          <a:xfrm>
            <a:off x="7358908" y="2011680"/>
            <a:ext cx="2014057" cy="1325880"/>
          </a:xfrm>
          <a:prstGeom prst="roundRect">
            <a:avLst>
              <a:gd name="adj" fmla="val 4138"/>
            </a:avLst>
          </a:prstGeom>
          <a:solidFill>
            <a:srgbClr val="F4F7F8"/>
          </a:solidFill>
          <a:ln w="9525">
            <a:solidFill>
              <a:srgbClr val="C8D3D8"/>
            </a:solidFill>
            <a:prstDash val="solid"/>
          </a:ln>
        </p:spPr>
      </p:sp>
      <p:sp>
        <p:nvSpPr>
          <p:cNvPr id="30" name="Text 27"/>
          <p:cNvSpPr/>
          <p:nvPr/>
        </p:nvSpPr>
        <p:spPr>
          <a:xfrm>
            <a:off x="7477780" y="2103120"/>
            <a:ext cx="1776313" cy="219456"/>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PASO 7</a:t>
            </a:r>
            <a:endParaRPr lang="en-US" sz="850" dirty="0"/>
          </a:p>
        </p:txBody>
      </p:sp>
      <p:sp>
        <p:nvSpPr>
          <p:cNvPr id="31" name="Text 28"/>
          <p:cNvSpPr/>
          <p:nvPr/>
        </p:nvSpPr>
        <p:spPr>
          <a:xfrm>
            <a:off x="7477780" y="2322576"/>
            <a:ext cx="1776313"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Credencial vigente</a:t>
            </a:r>
            <a:endParaRPr lang="en-US" sz="1500" dirty="0"/>
          </a:p>
        </p:txBody>
      </p:sp>
      <p:sp>
        <p:nvSpPr>
          <p:cNvPr id="32" name="Shape 29"/>
          <p:cNvSpPr/>
          <p:nvPr/>
        </p:nvSpPr>
        <p:spPr>
          <a:xfrm>
            <a:off x="7477780" y="2880360"/>
            <a:ext cx="1776313" cy="347472"/>
          </a:xfrm>
          <a:prstGeom prst="roundRect">
            <a:avLst>
              <a:gd name="adj" fmla="val 7895"/>
            </a:avLst>
          </a:prstGeom>
          <a:solidFill>
            <a:srgbClr val="F8E1DE"/>
          </a:solidFill>
          <a:ln/>
        </p:spPr>
      </p:sp>
      <p:sp>
        <p:nvSpPr>
          <p:cNvPr id="33" name="Text 30"/>
          <p:cNvSpPr/>
          <p:nvPr/>
        </p:nvSpPr>
        <p:spPr>
          <a:xfrm>
            <a:off x="7514356" y="2880360"/>
            <a:ext cx="1703161" cy="347472"/>
          </a:xfrm>
          <a:prstGeom prst="rect">
            <a:avLst/>
          </a:prstGeom>
          <a:noFill/>
          <a:ln/>
        </p:spPr>
        <p:txBody>
          <a:bodyPr wrap="square" lIns="0" tIns="0" rIns="0" bIns="0" rtlCol="0" anchor="ctr"/>
          <a:lstStyle/>
          <a:p>
            <a:pPr indent="0" marL="0">
              <a:buNone/>
            </a:pPr>
            <a:r>
              <a:rPr lang="en-US" sz="750" dirty="0">
                <a:solidFill>
                  <a:srgbClr val="B23A2E"/>
                </a:solidFill>
                <a:latin typeface="Consolas" pitchFamily="34" charset="0"/>
                <a:ea typeface="Consolas" pitchFamily="34" charset="-122"/>
                <a:cs typeface="Consolas" pitchFamily="34" charset="-120"/>
              </a:rPr>
              <a:t>SIN_CREDENCIAL_VIGENTE</a:t>
            </a:r>
            <a:endParaRPr lang="en-US" sz="750" dirty="0"/>
          </a:p>
        </p:txBody>
      </p:sp>
      <p:sp>
        <p:nvSpPr>
          <p:cNvPr id="34" name="Shape 31"/>
          <p:cNvSpPr/>
          <p:nvPr/>
        </p:nvSpPr>
        <p:spPr>
          <a:xfrm>
            <a:off x="9391254" y="2674620"/>
            <a:ext cx="219456" cy="914"/>
          </a:xfrm>
          <a:prstGeom prst="line">
            <a:avLst/>
          </a:prstGeom>
          <a:noFill/>
          <a:ln w="19050">
            <a:solidFill>
              <a:srgbClr val="56676F"/>
            </a:solidFill>
            <a:prstDash val="solid"/>
            <a:tailEnd type="triangle"/>
          </a:ln>
        </p:spPr>
      </p:sp>
      <p:sp>
        <p:nvSpPr>
          <p:cNvPr id="35" name="Shape 32"/>
          <p:cNvSpPr/>
          <p:nvPr/>
        </p:nvSpPr>
        <p:spPr>
          <a:xfrm>
            <a:off x="9628998" y="2011680"/>
            <a:ext cx="2014057" cy="1325880"/>
          </a:xfrm>
          <a:prstGeom prst="roundRect">
            <a:avLst>
              <a:gd name="adj" fmla="val 4138"/>
            </a:avLst>
          </a:prstGeom>
          <a:solidFill>
            <a:srgbClr val="F4F7F8"/>
          </a:solidFill>
          <a:ln w="9525">
            <a:solidFill>
              <a:srgbClr val="C8D3D8"/>
            </a:solidFill>
            <a:prstDash val="solid"/>
          </a:ln>
        </p:spPr>
      </p:sp>
      <p:sp>
        <p:nvSpPr>
          <p:cNvPr id="36" name="Text 33"/>
          <p:cNvSpPr/>
          <p:nvPr/>
        </p:nvSpPr>
        <p:spPr>
          <a:xfrm>
            <a:off x="9747870" y="2103120"/>
            <a:ext cx="1776313" cy="219456"/>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PASO 8</a:t>
            </a:r>
            <a:endParaRPr lang="en-US" sz="850" dirty="0"/>
          </a:p>
        </p:txBody>
      </p:sp>
      <p:sp>
        <p:nvSpPr>
          <p:cNvPr id="37" name="Text 34"/>
          <p:cNvSpPr/>
          <p:nvPr/>
        </p:nvSpPr>
        <p:spPr>
          <a:xfrm>
            <a:off x="9747870" y="2322576"/>
            <a:ext cx="1776313"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Área activa</a:t>
            </a:r>
            <a:endParaRPr lang="en-US" sz="1500" dirty="0"/>
          </a:p>
        </p:txBody>
      </p:sp>
      <p:sp>
        <p:nvSpPr>
          <p:cNvPr id="38" name="Shape 35"/>
          <p:cNvSpPr/>
          <p:nvPr/>
        </p:nvSpPr>
        <p:spPr>
          <a:xfrm>
            <a:off x="9747870" y="2880360"/>
            <a:ext cx="1776313" cy="347472"/>
          </a:xfrm>
          <a:prstGeom prst="roundRect">
            <a:avLst>
              <a:gd name="adj" fmla="val 7895"/>
            </a:avLst>
          </a:prstGeom>
          <a:solidFill>
            <a:srgbClr val="F8E1DE"/>
          </a:solidFill>
          <a:ln/>
        </p:spPr>
      </p:sp>
      <p:sp>
        <p:nvSpPr>
          <p:cNvPr id="39" name="Text 36"/>
          <p:cNvSpPr/>
          <p:nvPr/>
        </p:nvSpPr>
        <p:spPr>
          <a:xfrm>
            <a:off x="9784446" y="2880360"/>
            <a:ext cx="1703161" cy="347472"/>
          </a:xfrm>
          <a:prstGeom prst="rect">
            <a:avLst/>
          </a:prstGeom>
          <a:noFill/>
          <a:ln/>
        </p:spPr>
        <p:txBody>
          <a:bodyPr wrap="square" lIns="0" tIns="0" rIns="0" bIns="0" rtlCol="0" anchor="ctr"/>
          <a:lstStyle/>
          <a:p>
            <a:pPr indent="0" marL="0">
              <a:buNone/>
            </a:pPr>
            <a:r>
              <a:rPr lang="en-US" sz="750" dirty="0">
                <a:solidFill>
                  <a:srgbClr val="B23A2E"/>
                </a:solidFill>
                <a:latin typeface="Consolas" pitchFamily="34" charset="0"/>
                <a:ea typeface="Consolas" pitchFamily="34" charset="-122"/>
                <a:cs typeface="Consolas" pitchFamily="34" charset="-120"/>
              </a:rPr>
              <a:t>AREA_INACTIVA</a:t>
            </a:r>
            <a:endParaRPr lang="en-US" sz="750" dirty="0"/>
          </a:p>
        </p:txBody>
      </p:sp>
      <p:sp>
        <p:nvSpPr>
          <p:cNvPr id="40" name="Shape 37"/>
          <p:cNvSpPr/>
          <p:nvPr/>
        </p:nvSpPr>
        <p:spPr>
          <a:xfrm>
            <a:off x="548640" y="3611880"/>
            <a:ext cx="2014057" cy="1325880"/>
          </a:xfrm>
          <a:prstGeom prst="roundRect">
            <a:avLst>
              <a:gd name="adj" fmla="val 4138"/>
            </a:avLst>
          </a:prstGeom>
          <a:solidFill>
            <a:srgbClr val="F4F7F8"/>
          </a:solidFill>
          <a:ln w="9525">
            <a:solidFill>
              <a:srgbClr val="C8D3D8"/>
            </a:solidFill>
            <a:prstDash val="solid"/>
          </a:ln>
        </p:spPr>
      </p:sp>
      <p:sp>
        <p:nvSpPr>
          <p:cNvPr id="41" name="Text 38"/>
          <p:cNvSpPr/>
          <p:nvPr/>
        </p:nvSpPr>
        <p:spPr>
          <a:xfrm>
            <a:off x="667512" y="3703320"/>
            <a:ext cx="1776313" cy="219456"/>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PASO 9</a:t>
            </a:r>
            <a:endParaRPr lang="en-US" sz="850" dirty="0"/>
          </a:p>
        </p:txBody>
      </p:sp>
      <p:sp>
        <p:nvSpPr>
          <p:cNvPr id="42" name="Text 39"/>
          <p:cNvSpPr/>
          <p:nvPr/>
        </p:nvSpPr>
        <p:spPr>
          <a:xfrm>
            <a:off x="667512" y="3922776"/>
            <a:ext cx="1776313"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Perfil autorizado</a:t>
            </a:r>
            <a:endParaRPr lang="en-US" sz="1500" dirty="0"/>
          </a:p>
        </p:txBody>
      </p:sp>
      <p:sp>
        <p:nvSpPr>
          <p:cNvPr id="43" name="Shape 40"/>
          <p:cNvSpPr/>
          <p:nvPr/>
        </p:nvSpPr>
        <p:spPr>
          <a:xfrm>
            <a:off x="667512" y="4480560"/>
            <a:ext cx="1776313" cy="347472"/>
          </a:xfrm>
          <a:prstGeom prst="roundRect">
            <a:avLst>
              <a:gd name="adj" fmla="val 7895"/>
            </a:avLst>
          </a:prstGeom>
          <a:solidFill>
            <a:srgbClr val="F8E1DE"/>
          </a:solidFill>
          <a:ln/>
        </p:spPr>
      </p:sp>
      <p:sp>
        <p:nvSpPr>
          <p:cNvPr id="44" name="Text 41"/>
          <p:cNvSpPr/>
          <p:nvPr/>
        </p:nvSpPr>
        <p:spPr>
          <a:xfrm>
            <a:off x="704088" y="4480560"/>
            <a:ext cx="1703161" cy="347472"/>
          </a:xfrm>
          <a:prstGeom prst="rect">
            <a:avLst/>
          </a:prstGeom>
          <a:noFill/>
          <a:ln/>
        </p:spPr>
        <p:txBody>
          <a:bodyPr wrap="square" lIns="0" tIns="0" rIns="0" bIns="0" rtlCol="0" anchor="ctr"/>
          <a:lstStyle/>
          <a:p>
            <a:pPr indent="0" marL="0">
              <a:buNone/>
            </a:pPr>
            <a:r>
              <a:rPr lang="en-US" sz="750" dirty="0">
                <a:solidFill>
                  <a:srgbClr val="B23A2E"/>
                </a:solidFill>
                <a:latin typeface="Consolas" pitchFamily="34" charset="0"/>
                <a:ea typeface="Consolas" pitchFamily="34" charset="-122"/>
                <a:cs typeface="Consolas" pitchFamily="34" charset="-120"/>
              </a:rPr>
              <a:t>PERFIL_NO_AUTORIZADO_EN_AREA</a:t>
            </a:r>
            <a:endParaRPr lang="en-US" sz="750" dirty="0"/>
          </a:p>
        </p:txBody>
      </p:sp>
      <p:sp>
        <p:nvSpPr>
          <p:cNvPr id="45" name="Shape 42"/>
          <p:cNvSpPr/>
          <p:nvPr/>
        </p:nvSpPr>
        <p:spPr>
          <a:xfrm>
            <a:off x="2580985" y="4274820"/>
            <a:ext cx="219456" cy="914"/>
          </a:xfrm>
          <a:prstGeom prst="line">
            <a:avLst/>
          </a:prstGeom>
          <a:noFill/>
          <a:ln w="19050">
            <a:solidFill>
              <a:srgbClr val="56676F"/>
            </a:solidFill>
            <a:prstDash val="solid"/>
            <a:tailEnd type="triangle"/>
          </a:ln>
        </p:spPr>
      </p:sp>
      <p:sp>
        <p:nvSpPr>
          <p:cNvPr id="46" name="Shape 43"/>
          <p:cNvSpPr/>
          <p:nvPr/>
        </p:nvSpPr>
        <p:spPr>
          <a:xfrm>
            <a:off x="2818729" y="3611880"/>
            <a:ext cx="2014057" cy="1325880"/>
          </a:xfrm>
          <a:prstGeom prst="roundRect">
            <a:avLst>
              <a:gd name="adj" fmla="val 4138"/>
            </a:avLst>
          </a:prstGeom>
          <a:solidFill>
            <a:srgbClr val="F4F7F8"/>
          </a:solidFill>
          <a:ln w="9525">
            <a:solidFill>
              <a:srgbClr val="C8D3D8"/>
            </a:solidFill>
            <a:prstDash val="solid"/>
          </a:ln>
        </p:spPr>
      </p:sp>
      <p:sp>
        <p:nvSpPr>
          <p:cNvPr id="47" name="Text 44"/>
          <p:cNvSpPr/>
          <p:nvPr/>
        </p:nvSpPr>
        <p:spPr>
          <a:xfrm>
            <a:off x="2937601" y="3703320"/>
            <a:ext cx="1776313" cy="219456"/>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PASOS 10–11</a:t>
            </a:r>
            <a:endParaRPr lang="en-US" sz="850" dirty="0"/>
          </a:p>
        </p:txBody>
      </p:sp>
      <p:sp>
        <p:nvSpPr>
          <p:cNvPr id="48" name="Text 45"/>
          <p:cNvSpPr/>
          <p:nvPr/>
        </p:nvSpPr>
        <p:spPr>
          <a:xfrm>
            <a:off x="2937601" y="3922776"/>
            <a:ext cx="1776313"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Permiso aplicable</a:t>
            </a:r>
            <a:endParaRPr lang="en-US" sz="1500" dirty="0"/>
          </a:p>
        </p:txBody>
      </p:sp>
      <p:sp>
        <p:nvSpPr>
          <p:cNvPr id="49" name="Shape 46"/>
          <p:cNvSpPr/>
          <p:nvPr/>
        </p:nvSpPr>
        <p:spPr>
          <a:xfrm>
            <a:off x="2937601" y="4480560"/>
            <a:ext cx="1776313" cy="347472"/>
          </a:xfrm>
          <a:prstGeom prst="roundRect">
            <a:avLst>
              <a:gd name="adj" fmla="val 7895"/>
            </a:avLst>
          </a:prstGeom>
          <a:solidFill>
            <a:srgbClr val="F8E1DE"/>
          </a:solidFill>
          <a:ln/>
        </p:spPr>
      </p:sp>
      <p:sp>
        <p:nvSpPr>
          <p:cNvPr id="50" name="Text 47"/>
          <p:cNvSpPr/>
          <p:nvPr/>
        </p:nvSpPr>
        <p:spPr>
          <a:xfrm>
            <a:off x="2974177" y="4480560"/>
            <a:ext cx="1703161" cy="347472"/>
          </a:xfrm>
          <a:prstGeom prst="rect">
            <a:avLst/>
          </a:prstGeom>
          <a:noFill/>
          <a:ln/>
        </p:spPr>
        <p:txBody>
          <a:bodyPr wrap="square" lIns="0" tIns="0" rIns="0" bIns="0" rtlCol="0" anchor="ctr"/>
          <a:lstStyle/>
          <a:p>
            <a:pPr indent="0" marL="0">
              <a:buNone/>
            </a:pPr>
            <a:r>
              <a:rPr lang="en-US" sz="750" dirty="0">
                <a:solidFill>
                  <a:srgbClr val="B23A2E"/>
                </a:solidFill>
                <a:latin typeface="Consolas" pitchFamily="34" charset="0"/>
                <a:ea typeface="Consolas" pitchFamily="34" charset="-122"/>
                <a:cs typeface="Consolas" pitchFamily="34" charset="-120"/>
              </a:rPr>
              <a:t>SIN_PERMISO_APLICABLE</a:t>
            </a:r>
            <a:endParaRPr lang="en-US" sz="750" dirty="0"/>
          </a:p>
        </p:txBody>
      </p:sp>
      <p:sp>
        <p:nvSpPr>
          <p:cNvPr id="51" name="Shape 48"/>
          <p:cNvSpPr/>
          <p:nvPr/>
        </p:nvSpPr>
        <p:spPr>
          <a:xfrm>
            <a:off x="4851075" y="4274820"/>
            <a:ext cx="219456" cy="914"/>
          </a:xfrm>
          <a:prstGeom prst="line">
            <a:avLst/>
          </a:prstGeom>
          <a:noFill/>
          <a:ln w="19050">
            <a:solidFill>
              <a:srgbClr val="56676F"/>
            </a:solidFill>
            <a:prstDash val="solid"/>
            <a:tailEnd type="triangle"/>
          </a:ln>
        </p:spPr>
      </p:sp>
      <p:sp>
        <p:nvSpPr>
          <p:cNvPr id="52" name="Shape 49"/>
          <p:cNvSpPr/>
          <p:nvPr/>
        </p:nvSpPr>
        <p:spPr>
          <a:xfrm>
            <a:off x="5088819" y="3611880"/>
            <a:ext cx="2014057" cy="1325880"/>
          </a:xfrm>
          <a:prstGeom prst="roundRect">
            <a:avLst>
              <a:gd name="adj" fmla="val 4138"/>
            </a:avLst>
          </a:prstGeom>
          <a:solidFill>
            <a:srgbClr val="F4F7F8"/>
          </a:solidFill>
          <a:ln w="9525">
            <a:solidFill>
              <a:srgbClr val="C8D3D8"/>
            </a:solidFill>
            <a:prstDash val="solid"/>
          </a:ln>
        </p:spPr>
      </p:sp>
      <p:sp>
        <p:nvSpPr>
          <p:cNvPr id="53" name="Text 50"/>
          <p:cNvSpPr/>
          <p:nvPr/>
        </p:nvSpPr>
        <p:spPr>
          <a:xfrm>
            <a:off x="5207691" y="3703320"/>
            <a:ext cx="1776313" cy="219456"/>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PASO 12</a:t>
            </a:r>
            <a:endParaRPr lang="en-US" sz="850" dirty="0"/>
          </a:p>
        </p:txBody>
      </p:sp>
      <p:sp>
        <p:nvSpPr>
          <p:cNvPr id="54" name="Text 51"/>
          <p:cNvSpPr/>
          <p:nvPr/>
        </p:nvSpPr>
        <p:spPr>
          <a:xfrm>
            <a:off x="5207691" y="3922776"/>
            <a:ext cx="1776313"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Vigencia del permiso</a:t>
            </a:r>
            <a:endParaRPr lang="en-US" sz="1500" dirty="0"/>
          </a:p>
        </p:txBody>
      </p:sp>
      <p:sp>
        <p:nvSpPr>
          <p:cNvPr id="55" name="Shape 52"/>
          <p:cNvSpPr/>
          <p:nvPr/>
        </p:nvSpPr>
        <p:spPr>
          <a:xfrm>
            <a:off x="5207691" y="4480560"/>
            <a:ext cx="1776313" cy="347472"/>
          </a:xfrm>
          <a:prstGeom prst="roundRect">
            <a:avLst>
              <a:gd name="adj" fmla="val 7895"/>
            </a:avLst>
          </a:prstGeom>
          <a:solidFill>
            <a:srgbClr val="F8E1DE"/>
          </a:solidFill>
          <a:ln/>
        </p:spPr>
      </p:sp>
      <p:sp>
        <p:nvSpPr>
          <p:cNvPr id="56" name="Text 53"/>
          <p:cNvSpPr/>
          <p:nvPr/>
        </p:nvSpPr>
        <p:spPr>
          <a:xfrm>
            <a:off x="5244267" y="4480560"/>
            <a:ext cx="1703161" cy="347472"/>
          </a:xfrm>
          <a:prstGeom prst="rect">
            <a:avLst/>
          </a:prstGeom>
          <a:noFill/>
          <a:ln/>
        </p:spPr>
        <p:txBody>
          <a:bodyPr wrap="square" lIns="0" tIns="0" rIns="0" bIns="0" rtlCol="0" anchor="ctr"/>
          <a:lstStyle/>
          <a:p>
            <a:pPr indent="0" marL="0">
              <a:buNone/>
            </a:pPr>
            <a:r>
              <a:rPr lang="en-US" sz="750" dirty="0">
                <a:solidFill>
                  <a:srgbClr val="B23A2E"/>
                </a:solidFill>
                <a:latin typeface="Consolas" pitchFamily="34" charset="0"/>
                <a:ea typeface="Consolas" pitchFamily="34" charset="-122"/>
                <a:cs typeface="Consolas" pitchFamily="34" charset="-120"/>
              </a:rPr>
              <a:t>PERMISO_FUERA_DE_VIGENCIA</a:t>
            </a:r>
            <a:endParaRPr lang="en-US" sz="750" dirty="0"/>
          </a:p>
        </p:txBody>
      </p:sp>
      <p:sp>
        <p:nvSpPr>
          <p:cNvPr id="57" name="Shape 54"/>
          <p:cNvSpPr/>
          <p:nvPr/>
        </p:nvSpPr>
        <p:spPr>
          <a:xfrm>
            <a:off x="7121164" y="4274820"/>
            <a:ext cx="219456" cy="914"/>
          </a:xfrm>
          <a:prstGeom prst="line">
            <a:avLst/>
          </a:prstGeom>
          <a:noFill/>
          <a:ln w="19050">
            <a:solidFill>
              <a:srgbClr val="56676F"/>
            </a:solidFill>
            <a:prstDash val="solid"/>
            <a:tailEnd type="triangle"/>
          </a:ln>
        </p:spPr>
      </p:sp>
      <p:sp>
        <p:nvSpPr>
          <p:cNvPr id="58" name="Shape 55"/>
          <p:cNvSpPr/>
          <p:nvPr/>
        </p:nvSpPr>
        <p:spPr>
          <a:xfrm>
            <a:off x="7358908" y="3611880"/>
            <a:ext cx="2014057" cy="1325880"/>
          </a:xfrm>
          <a:prstGeom prst="roundRect">
            <a:avLst>
              <a:gd name="adj" fmla="val 4138"/>
            </a:avLst>
          </a:prstGeom>
          <a:solidFill>
            <a:srgbClr val="F4F7F8"/>
          </a:solidFill>
          <a:ln w="9525">
            <a:solidFill>
              <a:srgbClr val="C8D3D8"/>
            </a:solidFill>
            <a:prstDash val="solid"/>
          </a:ln>
        </p:spPr>
      </p:sp>
      <p:sp>
        <p:nvSpPr>
          <p:cNvPr id="59" name="Text 56"/>
          <p:cNvSpPr/>
          <p:nvPr/>
        </p:nvSpPr>
        <p:spPr>
          <a:xfrm>
            <a:off x="7477780" y="3703320"/>
            <a:ext cx="1776313" cy="219456"/>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PASO 13</a:t>
            </a:r>
            <a:endParaRPr lang="en-US" sz="850" dirty="0"/>
          </a:p>
        </p:txBody>
      </p:sp>
      <p:sp>
        <p:nvSpPr>
          <p:cNvPr id="60" name="Text 57"/>
          <p:cNvSpPr/>
          <p:nvPr/>
        </p:nvSpPr>
        <p:spPr>
          <a:xfrm>
            <a:off x="7477780" y="3922776"/>
            <a:ext cx="1776313" cy="502920"/>
          </a:xfrm>
          <a:prstGeom prst="rect">
            <a:avLst/>
          </a:prstGeom>
          <a:noFill/>
          <a:ln/>
        </p:spPr>
        <p:txBody>
          <a:bodyPr wrap="square" lIns="0" tIns="0" rIns="0" bIns="0" rtlCol="0" anchor="t"/>
          <a:lstStyle/>
          <a:p>
            <a:pPr indent="0" marL="0">
              <a:buNone/>
            </a:pPr>
            <a:r>
              <a:rPr lang="en-US" sz="1500" b="1" dirty="0">
                <a:solidFill>
                  <a:srgbClr val="13232B"/>
                </a:solidFill>
                <a:latin typeface="Bahnschrift" pitchFamily="34" charset="0"/>
                <a:ea typeface="Bahnschrift" pitchFamily="34" charset="-122"/>
                <a:cs typeface="Bahnschrift" pitchFamily="34" charset="-120"/>
              </a:rPr>
              <a:t>Bloque horario</a:t>
            </a:r>
            <a:endParaRPr lang="en-US" sz="1500" dirty="0"/>
          </a:p>
        </p:txBody>
      </p:sp>
      <p:sp>
        <p:nvSpPr>
          <p:cNvPr id="61" name="Shape 58"/>
          <p:cNvSpPr/>
          <p:nvPr/>
        </p:nvSpPr>
        <p:spPr>
          <a:xfrm>
            <a:off x="7477780" y="4480560"/>
            <a:ext cx="1776313" cy="347472"/>
          </a:xfrm>
          <a:prstGeom prst="roundRect">
            <a:avLst>
              <a:gd name="adj" fmla="val 7895"/>
            </a:avLst>
          </a:prstGeom>
          <a:solidFill>
            <a:srgbClr val="F8E1DE"/>
          </a:solidFill>
          <a:ln/>
        </p:spPr>
      </p:sp>
      <p:sp>
        <p:nvSpPr>
          <p:cNvPr id="62" name="Text 59"/>
          <p:cNvSpPr/>
          <p:nvPr/>
        </p:nvSpPr>
        <p:spPr>
          <a:xfrm>
            <a:off x="7514356" y="4480560"/>
            <a:ext cx="1703161" cy="347472"/>
          </a:xfrm>
          <a:prstGeom prst="rect">
            <a:avLst/>
          </a:prstGeom>
          <a:noFill/>
          <a:ln/>
        </p:spPr>
        <p:txBody>
          <a:bodyPr wrap="square" lIns="0" tIns="0" rIns="0" bIns="0" rtlCol="0" anchor="ctr"/>
          <a:lstStyle/>
          <a:p>
            <a:pPr indent="0" marL="0">
              <a:buNone/>
            </a:pPr>
            <a:r>
              <a:rPr lang="en-US" sz="750" dirty="0">
                <a:solidFill>
                  <a:srgbClr val="B23A2E"/>
                </a:solidFill>
                <a:latin typeface="Consolas" pitchFamily="34" charset="0"/>
                <a:ea typeface="Consolas" pitchFamily="34" charset="-122"/>
                <a:cs typeface="Consolas" pitchFamily="34" charset="-120"/>
              </a:rPr>
              <a:t>FUERA_DE_BLOQUE_HORARIO</a:t>
            </a:r>
            <a:endParaRPr lang="en-US" sz="750" dirty="0"/>
          </a:p>
        </p:txBody>
      </p:sp>
      <p:sp>
        <p:nvSpPr>
          <p:cNvPr id="63" name="Shape 60"/>
          <p:cNvSpPr/>
          <p:nvPr/>
        </p:nvSpPr>
        <p:spPr>
          <a:xfrm>
            <a:off x="9391254" y="4274820"/>
            <a:ext cx="219456" cy="914"/>
          </a:xfrm>
          <a:prstGeom prst="line">
            <a:avLst/>
          </a:prstGeom>
          <a:noFill/>
          <a:ln w="19050">
            <a:solidFill>
              <a:srgbClr val="56676F"/>
            </a:solidFill>
            <a:prstDash val="solid"/>
            <a:tailEnd type="triangle"/>
          </a:ln>
        </p:spPr>
      </p:sp>
      <p:sp>
        <p:nvSpPr>
          <p:cNvPr id="64" name="Shape 61"/>
          <p:cNvSpPr/>
          <p:nvPr/>
        </p:nvSpPr>
        <p:spPr>
          <a:xfrm>
            <a:off x="9628998" y="3611880"/>
            <a:ext cx="2014057" cy="1325880"/>
          </a:xfrm>
          <a:prstGeom prst="roundRect">
            <a:avLst>
              <a:gd name="adj" fmla="val 4138"/>
            </a:avLst>
          </a:prstGeom>
          <a:solidFill>
            <a:srgbClr val="DFF0E4"/>
          </a:solidFill>
          <a:ln w="19050">
            <a:solidFill>
              <a:srgbClr val="2F7D4A"/>
            </a:solidFill>
            <a:prstDash val="solid"/>
          </a:ln>
        </p:spPr>
      </p:sp>
      <p:sp>
        <p:nvSpPr>
          <p:cNvPr id="65" name="Text 62"/>
          <p:cNvSpPr/>
          <p:nvPr/>
        </p:nvSpPr>
        <p:spPr>
          <a:xfrm>
            <a:off x="9747870" y="3703320"/>
            <a:ext cx="1776313" cy="219456"/>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PASOS 14–15</a:t>
            </a:r>
            <a:endParaRPr lang="en-US" sz="850" dirty="0"/>
          </a:p>
        </p:txBody>
      </p:sp>
      <p:sp>
        <p:nvSpPr>
          <p:cNvPr id="66" name="Text 63"/>
          <p:cNvSpPr/>
          <p:nvPr/>
        </p:nvSpPr>
        <p:spPr>
          <a:xfrm>
            <a:off x="9747870" y="3941064"/>
            <a:ext cx="1776313" cy="457200"/>
          </a:xfrm>
          <a:prstGeom prst="rect">
            <a:avLst/>
          </a:prstGeom>
          <a:noFill/>
          <a:ln/>
        </p:spPr>
        <p:txBody>
          <a:bodyPr wrap="square" lIns="0" tIns="0" rIns="0" bIns="0" rtlCol="0" anchor="ctr"/>
          <a:lstStyle/>
          <a:p>
            <a:pPr indent="0" marL="0">
              <a:buNone/>
            </a:pPr>
            <a:r>
              <a:rPr lang="en-US" sz="2100" b="1" dirty="0">
                <a:solidFill>
                  <a:srgbClr val="2F7D4A"/>
                </a:solidFill>
                <a:latin typeface="Bahnschrift" pitchFamily="34" charset="0"/>
                <a:ea typeface="Bahnschrift" pitchFamily="34" charset="-122"/>
                <a:cs typeface="Bahnschrift" pitchFamily="34" charset="-120"/>
              </a:rPr>
              <a:t>CONCEDIDO</a:t>
            </a:r>
            <a:endParaRPr lang="en-US" sz="2100" dirty="0"/>
          </a:p>
        </p:txBody>
      </p:sp>
      <p:sp>
        <p:nvSpPr>
          <p:cNvPr id="67" name="Text 64"/>
          <p:cNvSpPr/>
          <p:nvPr/>
        </p:nvSpPr>
        <p:spPr>
          <a:xfrm>
            <a:off x="9747870" y="4434840"/>
            <a:ext cx="1776313" cy="411480"/>
          </a:xfrm>
          <a:prstGeom prst="rect">
            <a:avLst/>
          </a:prstGeom>
          <a:noFill/>
          <a:ln/>
        </p:spPr>
        <p:txBody>
          <a:bodyPr wrap="square" lIns="0" tIns="0" rIns="0" bIns="0" rtlCol="0" anchor="t"/>
          <a:lstStyle/>
          <a:p>
            <a:pPr indent="0" marL="0">
              <a:buNone/>
            </a:pPr>
            <a:r>
              <a:rPr lang="en-US" sz="950" dirty="0">
                <a:solidFill>
                  <a:srgbClr val="13232B"/>
                </a:solidFill>
                <a:latin typeface="Segoe UI" pitchFamily="34" charset="0"/>
                <a:ea typeface="Segoe UI" pitchFamily="34" charset="-122"/>
                <a:cs typeface="Segoe UI" pitchFamily="34" charset="-120"/>
              </a:rPr>
              <a:t>Precedencia PERSONA › UNIDAD › COMPAÑÍA</a:t>
            </a:r>
            <a:endParaRPr lang="en-US" sz="950" dirty="0"/>
          </a:p>
        </p:txBody>
      </p:sp>
      <p:sp>
        <p:nvSpPr>
          <p:cNvPr id="68" name="Shape 65"/>
          <p:cNvSpPr/>
          <p:nvPr/>
        </p:nvSpPr>
        <p:spPr>
          <a:xfrm>
            <a:off x="10636026" y="3337560"/>
            <a:ext cx="0" cy="137160"/>
          </a:xfrm>
          <a:prstGeom prst="line">
            <a:avLst/>
          </a:prstGeom>
          <a:noFill/>
          <a:ln w="19050">
            <a:solidFill>
              <a:srgbClr val="56676F"/>
            </a:solidFill>
            <a:prstDash val="solid"/>
          </a:ln>
        </p:spPr>
      </p:sp>
      <p:sp>
        <p:nvSpPr>
          <p:cNvPr id="69" name="Shape 66"/>
          <p:cNvSpPr/>
          <p:nvPr/>
        </p:nvSpPr>
        <p:spPr>
          <a:xfrm>
            <a:off x="1555669" y="3474720"/>
            <a:ext cx="9080358" cy="0"/>
          </a:xfrm>
          <a:prstGeom prst="line">
            <a:avLst/>
          </a:prstGeom>
          <a:noFill/>
          <a:ln w="19050">
            <a:solidFill>
              <a:srgbClr val="56676F"/>
            </a:solidFill>
            <a:prstDash val="solid"/>
          </a:ln>
        </p:spPr>
      </p:sp>
      <p:sp>
        <p:nvSpPr>
          <p:cNvPr id="70" name="Shape 67"/>
          <p:cNvSpPr/>
          <p:nvPr/>
        </p:nvSpPr>
        <p:spPr>
          <a:xfrm>
            <a:off x="1555669" y="3474720"/>
            <a:ext cx="914" cy="118872"/>
          </a:xfrm>
          <a:prstGeom prst="line">
            <a:avLst/>
          </a:prstGeom>
          <a:noFill/>
          <a:ln w="19050">
            <a:solidFill>
              <a:srgbClr val="56676F"/>
            </a:solidFill>
            <a:prstDash val="solid"/>
            <a:tailEnd type="triangle"/>
          </a:ln>
        </p:spPr>
      </p:sp>
      <p:sp>
        <p:nvSpPr>
          <p:cNvPr id="71" name="Shape 68"/>
          <p:cNvSpPr/>
          <p:nvPr/>
        </p:nvSpPr>
        <p:spPr>
          <a:xfrm>
            <a:off x="548640" y="5257800"/>
            <a:ext cx="11094415" cy="713232"/>
          </a:xfrm>
          <a:prstGeom prst="roundRect">
            <a:avLst>
              <a:gd name="adj" fmla="val 7692"/>
            </a:avLst>
          </a:prstGeom>
          <a:solidFill>
            <a:srgbClr val="F8E1DE"/>
          </a:solidFill>
          <a:ln/>
        </p:spPr>
      </p:sp>
      <p:sp>
        <p:nvSpPr>
          <p:cNvPr id="72" name="Shape 69"/>
          <p:cNvSpPr/>
          <p:nvPr/>
        </p:nvSpPr>
        <p:spPr>
          <a:xfrm>
            <a:off x="548640" y="5257800"/>
            <a:ext cx="64008" cy="713232"/>
          </a:xfrm>
          <a:prstGeom prst="rect">
            <a:avLst/>
          </a:prstGeom>
          <a:solidFill>
            <a:srgbClr val="B23A2E"/>
          </a:solidFill>
          <a:ln/>
        </p:spPr>
      </p:sp>
      <p:sp>
        <p:nvSpPr>
          <p:cNvPr id="73" name="Text 70"/>
          <p:cNvSpPr/>
          <p:nvPr/>
        </p:nvSpPr>
        <p:spPr>
          <a:xfrm>
            <a:off x="777240" y="5257800"/>
            <a:ext cx="1645920" cy="713232"/>
          </a:xfrm>
          <a:prstGeom prst="rect">
            <a:avLst/>
          </a:prstGeom>
          <a:noFill/>
          <a:ln/>
        </p:spPr>
        <p:txBody>
          <a:bodyPr wrap="square" lIns="0" tIns="0" rIns="0" bIns="0" rtlCol="0" anchor="ctr"/>
          <a:lstStyle/>
          <a:p>
            <a:pPr indent="0" marL="0">
              <a:buNone/>
            </a:pPr>
            <a:r>
              <a:rPr lang="en-US" sz="2200" b="1" dirty="0">
                <a:solidFill>
                  <a:srgbClr val="B23A2E"/>
                </a:solidFill>
                <a:latin typeface="Bahnschrift" pitchFamily="34" charset="0"/>
                <a:ea typeface="Bahnschrift" pitchFamily="34" charset="-122"/>
                <a:cs typeface="Bahnschrift" pitchFamily="34" charset="-120"/>
              </a:rPr>
              <a:t>DENEGADO</a:t>
            </a:r>
            <a:endParaRPr lang="en-US" sz="2200" dirty="0"/>
          </a:p>
        </p:txBody>
      </p:sp>
      <p:sp>
        <p:nvSpPr>
          <p:cNvPr id="74" name="Text 71"/>
          <p:cNvSpPr/>
          <p:nvPr/>
        </p:nvSpPr>
        <p:spPr>
          <a:xfrm>
            <a:off x="2468880" y="5257800"/>
            <a:ext cx="8991295" cy="713232"/>
          </a:xfrm>
          <a:prstGeom prst="rect">
            <a:avLst/>
          </a:prstGeom>
          <a:noFill/>
          <a:ln/>
        </p:spPr>
        <p:txBody>
          <a:bodyPr wrap="square" lIns="0" tIns="0" rIns="0" bIns="0" rtlCol="0" anchor="ctr"/>
          <a:lstStyle/>
          <a:p>
            <a:pPr indent="0" marL="0">
              <a:buNone/>
            </a:pPr>
            <a:r>
              <a:rPr lang="en-US" sz="1150" dirty="0">
                <a:solidFill>
                  <a:srgbClr val="13232B"/>
                </a:solidFill>
                <a:latin typeface="Segoe UI" pitchFamily="34" charset="0"/>
                <a:ea typeface="Segoe UI" pitchFamily="34" charset="-122"/>
                <a:cs typeface="Segoe UI" pitchFamily="34" charset="-120"/>
              </a:rPr>
              <a:t>Es el resultado por defecto: cualquier paso sin respuesta inequívoca deniega. El horario se evalúa en la zona IANA de la Principal dueña del área, y todo se decide en el servidor.</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38912" cy="274320"/>
          </a:xfrm>
          <a:prstGeom prst="rect">
            <a:avLst/>
          </a:prstGeom>
          <a:solidFill>
            <a:srgbClr val="F2B233"/>
          </a:solidFill>
          <a:ln/>
        </p:spPr>
      </p:sp>
      <p:sp>
        <p:nvSpPr>
          <p:cNvPr id="3" name="Text 1"/>
          <p:cNvSpPr/>
          <p:nvPr/>
        </p:nvSpPr>
        <p:spPr>
          <a:xfrm>
            <a:off x="548640" y="329184"/>
            <a:ext cx="438912" cy="274320"/>
          </a:xfrm>
          <a:prstGeom prst="rect">
            <a:avLst/>
          </a:prstGeom>
          <a:noFill/>
          <a:ln/>
        </p:spPr>
        <p:txBody>
          <a:bodyPr wrap="square" lIns="0" tIns="0" rIns="0" bIns="0" rtlCol="0" anchor="ctr"/>
          <a:lstStyle/>
          <a:p>
            <a:pPr algn="ctr" indent="0" marL="0">
              <a:buNone/>
            </a:pPr>
            <a:r>
              <a:rPr lang="en-US" sz="1100" b="1" dirty="0">
                <a:solidFill>
                  <a:srgbClr val="13232B"/>
                </a:solidFill>
                <a:latin typeface="Consolas" pitchFamily="34" charset="0"/>
                <a:ea typeface="Consolas" pitchFamily="34" charset="-122"/>
                <a:cs typeface="Consolas" pitchFamily="34" charset="-120"/>
              </a:rPr>
              <a:t>08</a:t>
            </a:r>
            <a:endParaRPr lang="en-US" sz="1100" dirty="0"/>
          </a:p>
        </p:txBody>
      </p:sp>
      <p:sp>
        <p:nvSpPr>
          <p:cNvPr id="4" name="Text 2"/>
          <p:cNvSpPr/>
          <p:nvPr/>
        </p:nvSpPr>
        <p:spPr>
          <a:xfrm>
            <a:off x="1115568" y="329184"/>
            <a:ext cx="5486400" cy="274320"/>
          </a:xfrm>
          <a:prstGeom prst="rect">
            <a:avLst/>
          </a:prstGeom>
          <a:noFill/>
          <a:ln/>
        </p:spPr>
        <p:txBody>
          <a:bodyPr wrap="square" lIns="0" tIns="0" rIns="0" bIns="0" rtlCol="0" anchor="ctr"/>
          <a:lstStyle/>
          <a:p>
            <a:pPr indent="0" marL="0">
              <a:buNone/>
            </a:pPr>
            <a:r>
              <a:rPr lang="en-US" sz="1050" b="1" spc="150" kern="0" dirty="0">
                <a:solidFill>
                  <a:srgbClr val="13232B"/>
                </a:solidFill>
                <a:latin typeface="Consolas" pitchFamily="34" charset="0"/>
                <a:ea typeface="Consolas" pitchFamily="34" charset="-122"/>
                <a:cs typeface="Consolas" pitchFamily="34" charset="-120"/>
              </a:rPr>
              <a:t>ARQUITECTURA Y CALIDAD</a:t>
            </a:r>
            <a:endParaRPr lang="en-US" sz="1050" dirty="0"/>
          </a:p>
        </p:txBody>
      </p:sp>
      <p:sp>
        <p:nvSpPr>
          <p:cNvPr id="5" name="Text 3"/>
          <p:cNvSpPr/>
          <p:nvPr/>
        </p:nvSpPr>
        <p:spPr>
          <a:xfrm>
            <a:off x="6156655" y="329184"/>
            <a:ext cx="5486400" cy="274320"/>
          </a:xfrm>
          <a:prstGeom prst="rect">
            <a:avLst/>
          </a:prstGeom>
          <a:noFill/>
          <a:ln/>
        </p:spPr>
        <p:txBody>
          <a:bodyPr wrap="square" lIns="0" tIns="0" rIns="0" bIns="0" rtlCol="0" anchor="ctr"/>
          <a:lstStyle/>
          <a:p>
            <a:pPr algn="r" indent="0" marL="0">
              <a:buNone/>
            </a:pPr>
            <a:r>
              <a:rPr lang="en-US" sz="950" spc="150" kern="0" dirty="0">
                <a:solidFill>
                  <a:srgbClr val="56676F"/>
                </a:solidFill>
                <a:latin typeface="Consolas" pitchFamily="34" charset="0"/>
                <a:ea typeface="Consolas" pitchFamily="34" charset="-122"/>
                <a:cs typeface="Consolas" pitchFamily="34" charset="-120"/>
              </a:rPr>
              <a:t>PRINCIPIO VII · PRUEBAS OBLIGATORIAS</a:t>
            </a:r>
            <a:endParaRPr lang="en-US" sz="950" dirty="0"/>
          </a:p>
        </p:txBody>
      </p:sp>
      <p:sp>
        <p:nvSpPr>
          <p:cNvPr id="6" name="Text 4"/>
          <p:cNvSpPr/>
          <p:nvPr/>
        </p:nvSpPr>
        <p:spPr>
          <a:xfrm>
            <a:off x="548640" y="6446520"/>
            <a:ext cx="8229600" cy="22860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plan.md · README.md · estado final</a:t>
            </a:r>
            <a:endParaRPr lang="en-US" sz="850" dirty="0"/>
          </a:p>
        </p:txBody>
      </p:sp>
      <p:sp>
        <p:nvSpPr>
          <p:cNvPr id="7" name="Text 5"/>
          <p:cNvSpPr/>
          <p:nvPr/>
        </p:nvSpPr>
        <p:spPr>
          <a:xfrm>
            <a:off x="9814255" y="6446520"/>
            <a:ext cx="1828800" cy="228600"/>
          </a:xfrm>
          <a:prstGeom prst="rect">
            <a:avLst/>
          </a:prstGeom>
          <a:noFill/>
          <a:ln/>
        </p:spPr>
        <p:txBody>
          <a:bodyPr wrap="square" lIns="0" tIns="0" rIns="0" bIns="0" rtlCol="0" anchor="t"/>
          <a:lstStyle/>
          <a:p>
            <a:pPr algn="r" indent="0" marL="0">
              <a:buNone/>
            </a:pPr>
            <a:r>
              <a:rPr lang="en-US" sz="850" dirty="0">
                <a:solidFill>
                  <a:srgbClr val="56676F"/>
                </a:solidFill>
                <a:latin typeface="Consolas" pitchFamily="34" charset="0"/>
                <a:ea typeface="Consolas" pitchFamily="34" charset="-122"/>
                <a:cs typeface="Consolas" pitchFamily="34" charset="-120"/>
              </a:rPr>
              <a:t>08 / 11</a:t>
            </a:r>
            <a:endParaRPr lang="en-US" sz="850" dirty="0"/>
          </a:p>
        </p:txBody>
      </p:sp>
      <p:sp>
        <p:nvSpPr>
          <p:cNvPr id="9" name="Text 6"/>
          <p:cNvSpPr/>
          <p:nvPr/>
        </p:nvSpPr>
        <p:spPr>
          <a:xfrm>
            <a:off x="548640" y="777240"/>
            <a:ext cx="11094415" cy="658368"/>
          </a:xfrm>
          <a:prstGeom prst="rect">
            <a:avLst/>
          </a:prstGeom>
          <a:noFill/>
          <a:ln/>
        </p:spPr>
        <p:txBody>
          <a:bodyPr wrap="square" lIns="0" tIns="0" rIns="0" bIns="0" rtlCol="0" anchor="ctr"/>
          <a:lstStyle/>
          <a:p>
            <a:pPr indent="0" marL="0">
              <a:buNone/>
            </a:pPr>
            <a:r>
              <a:rPr lang="en-US" sz="3200" b="1" dirty="0">
                <a:solidFill>
                  <a:srgbClr val="13232B"/>
                </a:solidFill>
                <a:latin typeface="Bahnschrift" pitchFamily="34" charset="0"/>
                <a:ea typeface="Bahnschrift" pitchFamily="34" charset="-122"/>
                <a:cs typeface="Bahnschrift" pitchFamily="34" charset="-120"/>
              </a:rPr>
              <a:t>Capas limpias y cada regla con su prueba</a:t>
            </a:r>
            <a:endParaRPr lang="en-US" sz="3200" dirty="0"/>
          </a:p>
        </p:txBody>
      </p:sp>
      <p:sp>
        <p:nvSpPr>
          <p:cNvPr id="10" name="Text 7"/>
          <p:cNvSpPr/>
          <p:nvPr/>
        </p:nvSpPr>
        <p:spPr>
          <a:xfrm>
            <a:off x="548640" y="1572768"/>
            <a:ext cx="457200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ARQUITECTURA</a:t>
            </a:r>
            <a:endParaRPr lang="en-US" sz="900" dirty="0"/>
          </a:p>
        </p:txBody>
      </p:sp>
      <p:sp>
        <p:nvSpPr>
          <p:cNvPr id="11" name="Shape 8"/>
          <p:cNvSpPr/>
          <p:nvPr/>
        </p:nvSpPr>
        <p:spPr>
          <a:xfrm>
            <a:off x="548640" y="1847088"/>
            <a:ext cx="5212080" cy="640080"/>
          </a:xfrm>
          <a:prstGeom prst="roundRect">
            <a:avLst>
              <a:gd name="adj" fmla="val 8571"/>
            </a:avLst>
          </a:prstGeom>
          <a:solidFill>
            <a:srgbClr val="F4F7F8"/>
          </a:solidFill>
          <a:ln w="9525">
            <a:solidFill>
              <a:srgbClr val="C8D3D8"/>
            </a:solidFill>
            <a:prstDash val="solid"/>
          </a:ln>
        </p:spPr>
      </p:sp>
      <p:sp>
        <p:nvSpPr>
          <p:cNvPr id="12" name="Text 9"/>
          <p:cNvSpPr/>
          <p:nvPr/>
        </p:nvSpPr>
        <p:spPr>
          <a:xfrm>
            <a:off x="685800" y="1847088"/>
            <a:ext cx="1600200" cy="640080"/>
          </a:xfrm>
          <a:prstGeom prst="rect">
            <a:avLst/>
          </a:prstGeom>
          <a:noFill/>
          <a:ln/>
        </p:spPr>
        <p:txBody>
          <a:bodyPr wrap="square" lIns="0" tIns="0" rIns="0" bIns="0" rtlCol="0" anchor="ctr"/>
          <a:lstStyle/>
          <a:p>
            <a:pPr indent="0" marL="0">
              <a:buNone/>
            </a:pPr>
            <a:r>
              <a:rPr lang="en-US" sz="1500" b="1" dirty="0">
                <a:solidFill>
                  <a:srgbClr val="13232B"/>
                </a:solidFill>
                <a:latin typeface="Bahnschrift" pitchFamily="34" charset="0"/>
                <a:ea typeface="Bahnschrift" pitchFamily="34" charset="-122"/>
                <a:cs typeface="Bahnschrift" pitchFamily="34" charset="-120"/>
              </a:rPr>
              <a:t>SPA</a:t>
            </a:r>
            <a:endParaRPr lang="en-US" sz="1500" dirty="0"/>
          </a:p>
        </p:txBody>
      </p:sp>
      <p:sp>
        <p:nvSpPr>
          <p:cNvPr id="13" name="Text 10"/>
          <p:cNvSpPr/>
          <p:nvPr/>
        </p:nvSpPr>
        <p:spPr>
          <a:xfrm>
            <a:off x="2331720" y="1847088"/>
            <a:ext cx="3291840" cy="640080"/>
          </a:xfrm>
          <a:prstGeom prst="rect">
            <a:avLst/>
          </a:prstGeom>
          <a:noFill/>
          <a:ln/>
        </p:spPr>
        <p:txBody>
          <a:bodyPr wrap="square" lIns="0" tIns="0" rIns="0" bIns="0" rtlCol="0" anchor="ctr"/>
          <a:lstStyle/>
          <a:p>
            <a:pPr indent="0" marL="0">
              <a:buNone/>
            </a:pPr>
            <a:r>
              <a:rPr lang="en-US" sz="1050" dirty="0">
                <a:solidFill>
                  <a:srgbClr val="56676F"/>
                </a:solidFill>
                <a:latin typeface="Segoe UI" pitchFamily="34" charset="0"/>
                <a:ea typeface="Segoe UI" pitchFamily="34" charset="-122"/>
                <a:cs typeface="Segoe UI" pitchFamily="34" charset="-120"/>
              </a:rPr>
              <a:t>React 18 · TypeScript · Vite · TanStack Query · zod</a:t>
            </a:r>
            <a:endParaRPr lang="en-US" sz="1050" dirty="0"/>
          </a:p>
        </p:txBody>
      </p:sp>
      <p:sp>
        <p:nvSpPr>
          <p:cNvPr id="14" name="Text 11"/>
          <p:cNvSpPr/>
          <p:nvPr/>
        </p:nvSpPr>
        <p:spPr>
          <a:xfrm>
            <a:off x="548640" y="2487168"/>
            <a:ext cx="5212080" cy="274320"/>
          </a:xfrm>
          <a:prstGeom prst="rect">
            <a:avLst/>
          </a:prstGeom>
          <a:noFill/>
          <a:ln/>
        </p:spPr>
        <p:txBody>
          <a:bodyPr wrap="square" lIns="0" tIns="0" rIns="0" bIns="0" rtlCol="0" anchor="ctr"/>
          <a:lstStyle/>
          <a:p>
            <a:pPr algn="ctr" indent="0" marL="0">
              <a:buNone/>
            </a:pPr>
            <a:r>
              <a:rPr lang="en-US" sz="850" dirty="0">
                <a:solidFill>
                  <a:srgbClr val="56676F"/>
                </a:solidFill>
                <a:latin typeface="Consolas" pitchFamily="34" charset="0"/>
                <a:ea typeface="Consolas" pitchFamily="34" charset="-122"/>
                <a:cs typeface="Consolas" pitchFamily="34" charset="-120"/>
              </a:rPr>
              <a:t>HTTP · JSON · ProblemDetails</a:t>
            </a:r>
            <a:endParaRPr lang="en-US" sz="850" dirty="0"/>
          </a:p>
        </p:txBody>
      </p:sp>
      <p:sp>
        <p:nvSpPr>
          <p:cNvPr id="15" name="Shape 12"/>
          <p:cNvSpPr/>
          <p:nvPr/>
        </p:nvSpPr>
        <p:spPr>
          <a:xfrm>
            <a:off x="548640" y="2761488"/>
            <a:ext cx="5212080" cy="640080"/>
          </a:xfrm>
          <a:prstGeom prst="roundRect">
            <a:avLst>
              <a:gd name="adj" fmla="val 8571"/>
            </a:avLst>
          </a:prstGeom>
          <a:solidFill>
            <a:srgbClr val="F4F7F8"/>
          </a:solidFill>
          <a:ln w="9525">
            <a:solidFill>
              <a:srgbClr val="C8D3D8"/>
            </a:solidFill>
            <a:prstDash val="solid"/>
          </a:ln>
        </p:spPr>
      </p:sp>
      <p:sp>
        <p:nvSpPr>
          <p:cNvPr id="16" name="Text 13"/>
          <p:cNvSpPr/>
          <p:nvPr/>
        </p:nvSpPr>
        <p:spPr>
          <a:xfrm>
            <a:off x="685800" y="2761488"/>
            <a:ext cx="1600200" cy="640080"/>
          </a:xfrm>
          <a:prstGeom prst="rect">
            <a:avLst/>
          </a:prstGeom>
          <a:noFill/>
          <a:ln/>
        </p:spPr>
        <p:txBody>
          <a:bodyPr wrap="square" lIns="0" tIns="0" rIns="0" bIns="0" rtlCol="0" anchor="ctr"/>
          <a:lstStyle/>
          <a:p>
            <a:pPr indent="0" marL="0">
              <a:buNone/>
            </a:pPr>
            <a:r>
              <a:rPr lang="en-US" sz="1500" b="1" dirty="0">
                <a:solidFill>
                  <a:srgbClr val="13232B"/>
                </a:solidFill>
                <a:latin typeface="Bahnschrift" pitchFamily="34" charset="0"/>
                <a:ea typeface="Bahnschrift" pitchFamily="34" charset="-122"/>
                <a:cs typeface="Bahnschrift" pitchFamily="34" charset="-120"/>
              </a:rPr>
              <a:t>API</a:t>
            </a:r>
            <a:endParaRPr lang="en-US" sz="1500" dirty="0"/>
          </a:p>
        </p:txBody>
      </p:sp>
      <p:sp>
        <p:nvSpPr>
          <p:cNvPr id="17" name="Text 14"/>
          <p:cNvSpPr/>
          <p:nvPr/>
        </p:nvSpPr>
        <p:spPr>
          <a:xfrm>
            <a:off x="2331720" y="2761488"/>
            <a:ext cx="3291840" cy="640080"/>
          </a:xfrm>
          <a:prstGeom prst="rect">
            <a:avLst/>
          </a:prstGeom>
          <a:noFill/>
          <a:ln/>
        </p:spPr>
        <p:txBody>
          <a:bodyPr wrap="square" lIns="0" tIns="0" rIns="0" bIns="0" rtlCol="0" anchor="ctr"/>
          <a:lstStyle/>
          <a:p>
            <a:pPr indent="0" marL="0">
              <a:buNone/>
            </a:pPr>
            <a:r>
              <a:rPr lang="en-US" sz="1050" dirty="0">
                <a:solidFill>
                  <a:srgbClr val="56676F"/>
                </a:solidFill>
                <a:latin typeface="Segoe UI" pitchFamily="34" charset="0"/>
                <a:ea typeface="Segoe UI" pitchFamily="34" charset="-122"/>
                <a:cs typeface="Segoe UI" pitchFamily="34" charset="-120"/>
              </a:rPr>
              <a:t>ASP.NET Core · .NET 10 · JWT · OpenAPI nativo</a:t>
            </a:r>
            <a:endParaRPr lang="en-US" sz="1050" dirty="0"/>
          </a:p>
        </p:txBody>
      </p:sp>
      <p:sp>
        <p:nvSpPr>
          <p:cNvPr id="18" name="Shape 15"/>
          <p:cNvSpPr/>
          <p:nvPr/>
        </p:nvSpPr>
        <p:spPr>
          <a:xfrm>
            <a:off x="548640" y="3493008"/>
            <a:ext cx="5212080" cy="640080"/>
          </a:xfrm>
          <a:prstGeom prst="roundRect">
            <a:avLst>
              <a:gd name="adj" fmla="val 8571"/>
            </a:avLst>
          </a:prstGeom>
          <a:solidFill>
            <a:srgbClr val="F4F7F8"/>
          </a:solidFill>
          <a:ln w="9525">
            <a:solidFill>
              <a:srgbClr val="C8D3D8"/>
            </a:solidFill>
            <a:prstDash val="solid"/>
          </a:ln>
        </p:spPr>
      </p:sp>
      <p:sp>
        <p:nvSpPr>
          <p:cNvPr id="19" name="Text 16"/>
          <p:cNvSpPr/>
          <p:nvPr/>
        </p:nvSpPr>
        <p:spPr>
          <a:xfrm>
            <a:off x="685800" y="3493008"/>
            <a:ext cx="1600200" cy="640080"/>
          </a:xfrm>
          <a:prstGeom prst="rect">
            <a:avLst/>
          </a:prstGeom>
          <a:noFill/>
          <a:ln/>
        </p:spPr>
        <p:txBody>
          <a:bodyPr wrap="square" lIns="0" tIns="0" rIns="0" bIns="0" rtlCol="0" anchor="ctr"/>
          <a:lstStyle/>
          <a:p>
            <a:pPr indent="0" marL="0">
              <a:buNone/>
            </a:pPr>
            <a:r>
              <a:rPr lang="en-US" sz="1500" b="1" dirty="0">
                <a:solidFill>
                  <a:srgbClr val="13232B"/>
                </a:solidFill>
                <a:latin typeface="Bahnschrift" pitchFamily="34" charset="0"/>
                <a:ea typeface="Bahnschrift" pitchFamily="34" charset="-122"/>
                <a:cs typeface="Bahnschrift" pitchFamily="34" charset="-120"/>
              </a:rPr>
              <a:t>Aplicación</a:t>
            </a:r>
            <a:endParaRPr lang="en-US" sz="1500" dirty="0"/>
          </a:p>
        </p:txBody>
      </p:sp>
      <p:sp>
        <p:nvSpPr>
          <p:cNvPr id="20" name="Text 17"/>
          <p:cNvSpPr/>
          <p:nvPr/>
        </p:nvSpPr>
        <p:spPr>
          <a:xfrm>
            <a:off x="2331720" y="3493008"/>
            <a:ext cx="3291840" cy="640080"/>
          </a:xfrm>
          <a:prstGeom prst="rect">
            <a:avLst/>
          </a:prstGeom>
          <a:noFill/>
          <a:ln/>
        </p:spPr>
        <p:txBody>
          <a:bodyPr wrap="square" lIns="0" tIns="0" rIns="0" bIns="0" rtlCol="0" anchor="ctr"/>
          <a:lstStyle/>
          <a:p>
            <a:pPr indent="0" marL="0">
              <a:buNone/>
            </a:pPr>
            <a:r>
              <a:rPr lang="en-US" sz="1050" dirty="0">
                <a:solidFill>
                  <a:srgbClr val="56676F"/>
                </a:solidFill>
                <a:latin typeface="Segoe UI" pitchFamily="34" charset="0"/>
                <a:ea typeface="Segoe UI" pitchFamily="34" charset="-122"/>
                <a:cs typeface="Segoe UI" pitchFamily="34" charset="-120"/>
              </a:rPr>
              <a:t>casos de uso por módulo · FluentValidation</a:t>
            </a:r>
            <a:endParaRPr lang="en-US" sz="1050" dirty="0"/>
          </a:p>
        </p:txBody>
      </p:sp>
      <p:sp>
        <p:nvSpPr>
          <p:cNvPr id="21" name="Shape 18"/>
          <p:cNvSpPr/>
          <p:nvPr/>
        </p:nvSpPr>
        <p:spPr>
          <a:xfrm>
            <a:off x="548640" y="4224528"/>
            <a:ext cx="5212080" cy="640080"/>
          </a:xfrm>
          <a:prstGeom prst="roundRect">
            <a:avLst>
              <a:gd name="adj" fmla="val 8571"/>
            </a:avLst>
          </a:prstGeom>
          <a:solidFill>
            <a:srgbClr val="DCECEE"/>
          </a:solidFill>
          <a:ln w="9525">
            <a:solidFill>
              <a:srgbClr val="1D6B73"/>
            </a:solidFill>
            <a:prstDash val="solid"/>
          </a:ln>
        </p:spPr>
      </p:sp>
      <p:sp>
        <p:nvSpPr>
          <p:cNvPr id="22" name="Text 19"/>
          <p:cNvSpPr/>
          <p:nvPr/>
        </p:nvSpPr>
        <p:spPr>
          <a:xfrm>
            <a:off x="685800" y="4224528"/>
            <a:ext cx="1600200" cy="640080"/>
          </a:xfrm>
          <a:prstGeom prst="rect">
            <a:avLst/>
          </a:prstGeom>
          <a:noFill/>
          <a:ln/>
        </p:spPr>
        <p:txBody>
          <a:bodyPr wrap="square" lIns="0" tIns="0" rIns="0" bIns="0" rtlCol="0" anchor="ctr"/>
          <a:lstStyle/>
          <a:p>
            <a:pPr indent="0" marL="0">
              <a:buNone/>
            </a:pPr>
            <a:r>
              <a:rPr lang="en-US" sz="1500" b="1" dirty="0">
                <a:solidFill>
                  <a:srgbClr val="1D6B73"/>
                </a:solidFill>
                <a:latin typeface="Bahnschrift" pitchFamily="34" charset="0"/>
                <a:ea typeface="Bahnschrift" pitchFamily="34" charset="-122"/>
                <a:cs typeface="Bahnschrift" pitchFamily="34" charset="-120"/>
              </a:rPr>
              <a:t>Dominio</a:t>
            </a:r>
            <a:endParaRPr lang="en-US" sz="1500" dirty="0"/>
          </a:p>
        </p:txBody>
      </p:sp>
      <p:sp>
        <p:nvSpPr>
          <p:cNvPr id="23" name="Text 20"/>
          <p:cNvSpPr/>
          <p:nvPr/>
        </p:nvSpPr>
        <p:spPr>
          <a:xfrm>
            <a:off x="2331720" y="4224528"/>
            <a:ext cx="3291840" cy="640080"/>
          </a:xfrm>
          <a:prstGeom prst="rect">
            <a:avLst/>
          </a:prstGeom>
          <a:noFill/>
          <a:ln/>
        </p:spPr>
        <p:txBody>
          <a:bodyPr wrap="square" lIns="0" tIns="0" rIns="0" bIns="0" rtlCol="0" anchor="ctr"/>
          <a:lstStyle/>
          <a:p>
            <a:pPr indent="0" marL="0">
              <a:buNone/>
            </a:pPr>
            <a:r>
              <a:rPr lang="en-US" sz="1050" dirty="0">
                <a:solidFill>
                  <a:srgbClr val="56676F"/>
                </a:solidFill>
                <a:latin typeface="Segoe UI" pitchFamily="34" charset="0"/>
                <a:ea typeface="Segoe UI" pitchFamily="34" charset="-122"/>
                <a:cs typeface="Segoe UI" pitchFamily="34" charset="-120"/>
              </a:rPr>
              <a:t>entidades puras y motor de evaluación, sin dependencias externas</a:t>
            </a:r>
            <a:endParaRPr lang="en-US" sz="1050" dirty="0"/>
          </a:p>
        </p:txBody>
      </p:sp>
      <p:sp>
        <p:nvSpPr>
          <p:cNvPr id="24" name="Shape 21"/>
          <p:cNvSpPr/>
          <p:nvPr/>
        </p:nvSpPr>
        <p:spPr>
          <a:xfrm>
            <a:off x="548640" y="4956048"/>
            <a:ext cx="5212080" cy="640080"/>
          </a:xfrm>
          <a:prstGeom prst="roundRect">
            <a:avLst>
              <a:gd name="adj" fmla="val 8571"/>
            </a:avLst>
          </a:prstGeom>
          <a:solidFill>
            <a:srgbClr val="F4F7F8"/>
          </a:solidFill>
          <a:ln w="9525">
            <a:solidFill>
              <a:srgbClr val="C8D3D8"/>
            </a:solidFill>
            <a:prstDash val="solid"/>
          </a:ln>
        </p:spPr>
      </p:sp>
      <p:sp>
        <p:nvSpPr>
          <p:cNvPr id="25" name="Text 22"/>
          <p:cNvSpPr/>
          <p:nvPr/>
        </p:nvSpPr>
        <p:spPr>
          <a:xfrm>
            <a:off x="685800" y="4956048"/>
            <a:ext cx="1600200" cy="640080"/>
          </a:xfrm>
          <a:prstGeom prst="rect">
            <a:avLst/>
          </a:prstGeom>
          <a:noFill/>
          <a:ln/>
        </p:spPr>
        <p:txBody>
          <a:bodyPr wrap="square" lIns="0" tIns="0" rIns="0" bIns="0" rtlCol="0" anchor="ctr"/>
          <a:lstStyle/>
          <a:p>
            <a:pPr indent="0" marL="0">
              <a:buNone/>
            </a:pPr>
            <a:r>
              <a:rPr lang="en-US" sz="1500" b="1" dirty="0">
                <a:solidFill>
                  <a:srgbClr val="13232B"/>
                </a:solidFill>
                <a:latin typeface="Bahnschrift" pitchFamily="34" charset="0"/>
                <a:ea typeface="Bahnschrift" pitchFamily="34" charset="-122"/>
                <a:cs typeface="Bahnschrift" pitchFamily="34" charset="-120"/>
              </a:rPr>
              <a:t>Infraestructura</a:t>
            </a:r>
            <a:endParaRPr lang="en-US" sz="1500" dirty="0"/>
          </a:p>
        </p:txBody>
      </p:sp>
      <p:sp>
        <p:nvSpPr>
          <p:cNvPr id="26" name="Text 23"/>
          <p:cNvSpPr/>
          <p:nvPr/>
        </p:nvSpPr>
        <p:spPr>
          <a:xfrm>
            <a:off x="2331720" y="4956048"/>
            <a:ext cx="3291840" cy="640080"/>
          </a:xfrm>
          <a:prstGeom prst="rect">
            <a:avLst/>
          </a:prstGeom>
          <a:noFill/>
          <a:ln/>
        </p:spPr>
        <p:txBody>
          <a:bodyPr wrap="square" lIns="0" tIns="0" rIns="0" bIns="0" rtlCol="0" anchor="ctr"/>
          <a:lstStyle/>
          <a:p>
            <a:pPr indent="0" marL="0">
              <a:buNone/>
            </a:pPr>
            <a:r>
              <a:rPr lang="en-US" sz="1050" dirty="0">
                <a:solidFill>
                  <a:srgbClr val="56676F"/>
                </a:solidFill>
                <a:latin typeface="Segoe UI" pitchFamily="34" charset="0"/>
                <a:ea typeface="Segoe UI" pitchFamily="34" charset="-122"/>
                <a:cs typeface="Segoe UI" pitchFamily="34" charset="-120"/>
              </a:rPr>
              <a:t>EF Core 10 · SQL Server 2022 · NodaTime · interceptor de auditoría</a:t>
            </a:r>
            <a:endParaRPr lang="en-US" sz="1050" dirty="0"/>
          </a:p>
        </p:txBody>
      </p:sp>
      <p:sp>
        <p:nvSpPr>
          <p:cNvPr id="27" name="Text 24"/>
          <p:cNvSpPr/>
          <p:nvPr/>
        </p:nvSpPr>
        <p:spPr>
          <a:xfrm>
            <a:off x="6309360" y="1572768"/>
            <a:ext cx="502920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PRUEBAS AUTOMATIZADAS, A ESCALA</a:t>
            </a:r>
            <a:endParaRPr lang="en-US" sz="900" dirty="0"/>
          </a:p>
        </p:txBody>
      </p:sp>
      <p:sp>
        <p:nvSpPr>
          <p:cNvPr id="28" name="Text 25"/>
          <p:cNvSpPr/>
          <p:nvPr/>
        </p:nvSpPr>
        <p:spPr>
          <a:xfrm>
            <a:off x="6309360" y="1920240"/>
            <a:ext cx="1325880" cy="329184"/>
          </a:xfrm>
          <a:prstGeom prst="rect">
            <a:avLst/>
          </a:prstGeom>
          <a:noFill/>
          <a:ln/>
        </p:spPr>
        <p:txBody>
          <a:bodyPr wrap="square" lIns="0" tIns="0" rIns="0" bIns="0" rtlCol="0" anchor="ctr"/>
          <a:lstStyle/>
          <a:p>
            <a:pPr indent="0" marL="0">
              <a:buNone/>
            </a:pPr>
            <a:r>
              <a:rPr lang="en-US" sz="1150" dirty="0">
                <a:solidFill>
                  <a:srgbClr val="13232B"/>
                </a:solidFill>
                <a:latin typeface="Segoe UI" pitchFamily="34" charset="0"/>
                <a:ea typeface="Segoe UI" pitchFamily="34" charset="-122"/>
                <a:cs typeface="Segoe UI" pitchFamily="34" charset="-120"/>
              </a:rPr>
              <a:t>Integración</a:t>
            </a:r>
            <a:endParaRPr lang="en-US" sz="1150" dirty="0"/>
          </a:p>
        </p:txBody>
      </p:sp>
      <p:sp>
        <p:nvSpPr>
          <p:cNvPr id="29" name="Shape 26"/>
          <p:cNvSpPr/>
          <p:nvPr/>
        </p:nvSpPr>
        <p:spPr>
          <a:xfrm>
            <a:off x="7726680" y="1956816"/>
            <a:ext cx="3373632" cy="274320"/>
          </a:xfrm>
          <a:prstGeom prst="rect">
            <a:avLst/>
          </a:prstGeom>
          <a:solidFill>
            <a:srgbClr val="1D6B73"/>
          </a:solidFill>
          <a:ln/>
        </p:spPr>
      </p:sp>
      <p:sp>
        <p:nvSpPr>
          <p:cNvPr id="30" name="Text 27"/>
          <p:cNvSpPr/>
          <p:nvPr/>
        </p:nvSpPr>
        <p:spPr>
          <a:xfrm>
            <a:off x="11155176" y="1920240"/>
            <a:ext cx="548640" cy="329184"/>
          </a:xfrm>
          <a:prstGeom prst="rect">
            <a:avLst/>
          </a:prstGeom>
          <a:noFill/>
          <a:ln/>
        </p:spPr>
        <p:txBody>
          <a:bodyPr wrap="square" lIns="0" tIns="0" rIns="0" bIns="0" rtlCol="0" anchor="ctr"/>
          <a:lstStyle/>
          <a:p>
            <a:pPr indent="0" marL="0">
              <a:buNone/>
            </a:pPr>
            <a:r>
              <a:rPr lang="en-US" sz="1100" b="1" dirty="0">
                <a:solidFill>
                  <a:srgbClr val="13232B"/>
                </a:solidFill>
                <a:latin typeface="Consolas" pitchFamily="34" charset="0"/>
                <a:ea typeface="Consolas" pitchFamily="34" charset="-122"/>
                <a:cs typeface="Consolas" pitchFamily="34" charset="-120"/>
              </a:rPr>
              <a:t>593</a:t>
            </a:r>
            <a:endParaRPr lang="en-US" sz="1100" dirty="0"/>
          </a:p>
        </p:txBody>
      </p:sp>
      <p:sp>
        <p:nvSpPr>
          <p:cNvPr id="31" name="Text 28"/>
          <p:cNvSpPr/>
          <p:nvPr/>
        </p:nvSpPr>
        <p:spPr>
          <a:xfrm>
            <a:off x="6309360" y="2423160"/>
            <a:ext cx="1325880" cy="329184"/>
          </a:xfrm>
          <a:prstGeom prst="rect">
            <a:avLst/>
          </a:prstGeom>
          <a:noFill/>
          <a:ln/>
        </p:spPr>
        <p:txBody>
          <a:bodyPr wrap="square" lIns="0" tIns="0" rIns="0" bIns="0" rtlCol="0" anchor="ctr"/>
          <a:lstStyle/>
          <a:p>
            <a:pPr indent="0" marL="0">
              <a:buNone/>
            </a:pPr>
            <a:r>
              <a:rPr lang="en-US" sz="1150" dirty="0">
                <a:solidFill>
                  <a:srgbClr val="13232B"/>
                </a:solidFill>
                <a:latin typeface="Segoe UI" pitchFamily="34" charset="0"/>
                <a:ea typeface="Segoe UI" pitchFamily="34" charset="-122"/>
                <a:cs typeface="Segoe UI" pitchFamily="34" charset="-120"/>
              </a:rPr>
              <a:t>Contrato</a:t>
            </a:r>
            <a:endParaRPr lang="en-US" sz="1150" dirty="0"/>
          </a:p>
        </p:txBody>
      </p:sp>
      <p:sp>
        <p:nvSpPr>
          <p:cNvPr id="32" name="Shape 29"/>
          <p:cNvSpPr/>
          <p:nvPr/>
        </p:nvSpPr>
        <p:spPr>
          <a:xfrm>
            <a:off x="7726680" y="2459736"/>
            <a:ext cx="1433651" cy="274320"/>
          </a:xfrm>
          <a:prstGeom prst="rect">
            <a:avLst/>
          </a:prstGeom>
          <a:solidFill>
            <a:srgbClr val="1D6B73"/>
          </a:solidFill>
          <a:ln/>
        </p:spPr>
      </p:sp>
      <p:sp>
        <p:nvSpPr>
          <p:cNvPr id="33" name="Text 30"/>
          <p:cNvSpPr/>
          <p:nvPr/>
        </p:nvSpPr>
        <p:spPr>
          <a:xfrm>
            <a:off x="9215195" y="2423160"/>
            <a:ext cx="548640" cy="329184"/>
          </a:xfrm>
          <a:prstGeom prst="rect">
            <a:avLst/>
          </a:prstGeom>
          <a:noFill/>
          <a:ln/>
        </p:spPr>
        <p:txBody>
          <a:bodyPr wrap="square" lIns="0" tIns="0" rIns="0" bIns="0" rtlCol="0" anchor="ctr"/>
          <a:lstStyle/>
          <a:p>
            <a:pPr indent="0" marL="0">
              <a:buNone/>
            </a:pPr>
            <a:r>
              <a:rPr lang="en-US" sz="1100" b="1" dirty="0">
                <a:solidFill>
                  <a:srgbClr val="13232B"/>
                </a:solidFill>
                <a:latin typeface="Consolas" pitchFamily="34" charset="0"/>
                <a:ea typeface="Consolas" pitchFamily="34" charset="-122"/>
                <a:cs typeface="Consolas" pitchFamily="34" charset="-120"/>
              </a:rPr>
              <a:t>252</a:t>
            </a:r>
            <a:endParaRPr lang="en-US" sz="1100" dirty="0"/>
          </a:p>
        </p:txBody>
      </p:sp>
      <p:sp>
        <p:nvSpPr>
          <p:cNvPr id="34" name="Text 31"/>
          <p:cNvSpPr/>
          <p:nvPr/>
        </p:nvSpPr>
        <p:spPr>
          <a:xfrm>
            <a:off x="6309360" y="2926080"/>
            <a:ext cx="1325880" cy="329184"/>
          </a:xfrm>
          <a:prstGeom prst="rect">
            <a:avLst/>
          </a:prstGeom>
          <a:noFill/>
          <a:ln/>
        </p:spPr>
        <p:txBody>
          <a:bodyPr wrap="square" lIns="0" tIns="0" rIns="0" bIns="0" rtlCol="0" anchor="ctr"/>
          <a:lstStyle/>
          <a:p>
            <a:pPr indent="0" marL="0">
              <a:buNone/>
            </a:pPr>
            <a:r>
              <a:rPr lang="en-US" sz="1150" dirty="0">
                <a:solidFill>
                  <a:srgbClr val="13232B"/>
                </a:solidFill>
                <a:latin typeface="Segoe UI" pitchFamily="34" charset="0"/>
                <a:ea typeface="Segoe UI" pitchFamily="34" charset="-122"/>
                <a:cs typeface="Segoe UI" pitchFamily="34" charset="-120"/>
              </a:rPr>
              <a:t>Vitest</a:t>
            </a:r>
            <a:endParaRPr lang="en-US" sz="1150" dirty="0"/>
          </a:p>
        </p:txBody>
      </p:sp>
      <p:sp>
        <p:nvSpPr>
          <p:cNvPr id="35" name="Shape 32"/>
          <p:cNvSpPr/>
          <p:nvPr/>
        </p:nvSpPr>
        <p:spPr>
          <a:xfrm>
            <a:off x="7726680" y="2962656"/>
            <a:ext cx="1154886" cy="274320"/>
          </a:xfrm>
          <a:prstGeom prst="rect">
            <a:avLst/>
          </a:prstGeom>
          <a:solidFill>
            <a:srgbClr val="1D6B73"/>
          </a:solidFill>
          <a:ln/>
        </p:spPr>
      </p:sp>
      <p:sp>
        <p:nvSpPr>
          <p:cNvPr id="36" name="Text 33"/>
          <p:cNvSpPr/>
          <p:nvPr/>
        </p:nvSpPr>
        <p:spPr>
          <a:xfrm>
            <a:off x="8936430" y="2926080"/>
            <a:ext cx="548640" cy="329184"/>
          </a:xfrm>
          <a:prstGeom prst="rect">
            <a:avLst/>
          </a:prstGeom>
          <a:noFill/>
          <a:ln/>
        </p:spPr>
        <p:txBody>
          <a:bodyPr wrap="square" lIns="0" tIns="0" rIns="0" bIns="0" rtlCol="0" anchor="ctr"/>
          <a:lstStyle/>
          <a:p>
            <a:pPr indent="0" marL="0">
              <a:buNone/>
            </a:pPr>
            <a:r>
              <a:rPr lang="en-US" sz="1100" b="1" dirty="0">
                <a:solidFill>
                  <a:srgbClr val="13232B"/>
                </a:solidFill>
                <a:latin typeface="Consolas" pitchFamily="34" charset="0"/>
                <a:ea typeface="Consolas" pitchFamily="34" charset="-122"/>
                <a:cs typeface="Consolas" pitchFamily="34" charset="-120"/>
              </a:rPr>
              <a:t>203</a:t>
            </a:r>
            <a:endParaRPr lang="en-US" sz="1100" dirty="0"/>
          </a:p>
        </p:txBody>
      </p:sp>
      <p:sp>
        <p:nvSpPr>
          <p:cNvPr id="37" name="Text 34"/>
          <p:cNvSpPr/>
          <p:nvPr/>
        </p:nvSpPr>
        <p:spPr>
          <a:xfrm>
            <a:off x="6309360" y="3429000"/>
            <a:ext cx="1325880" cy="329184"/>
          </a:xfrm>
          <a:prstGeom prst="rect">
            <a:avLst/>
          </a:prstGeom>
          <a:noFill/>
          <a:ln/>
        </p:spPr>
        <p:txBody>
          <a:bodyPr wrap="square" lIns="0" tIns="0" rIns="0" bIns="0" rtlCol="0" anchor="ctr"/>
          <a:lstStyle/>
          <a:p>
            <a:pPr indent="0" marL="0">
              <a:buNone/>
            </a:pPr>
            <a:r>
              <a:rPr lang="en-US" sz="1150" dirty="0">
                <a:solidFill>
                  <a:srgbClr val="13232B"/>
                </a:solidFill>
                <a:latin typeface="Segoe UI" pitchFamily="34" charset="0"/>
                <a:ea typeface="Segoe UI" pitchFamily="34" charset="-122"/>
                <a:cs typeface="Segoe UI" pitchFamily="34" charset="-120"/>
              </a:rPr>
              <a:t>Unitarias</a:t>
            </a:r>
            <a:endParaRPr lang="en-US" sz="1150" dirty="0"/>
          </a:p>
        </p:txBody>
      </p:sp>
      <p:sp>
        <p:nvSpPr>
          <p:cNvPr id="38" name="Shape 35"/>
          <p:cNvSpPr/>
          <p:nvPr/>
        </p:nvSpPr>
        <p:spPr>
          <a:xfrm>
            <a:off x="7726680" y="3465576"/>
            <a:ext cx="881809" cy="274320"/>
          </a:xfrm>
          <a:prstGeom prst="rect">
            <a:avLst/>
          </a:prstGeom>
          <a:solidFill>
            <a:srgbClr val="1D6B73"/>
          </a:solidFill>
          <a:ln/>
        </p:spPr>
      </p:sp>
      <p:sp>
        <p:nvSpPr>
          <p:cNvPr id="39" name="Text 36"/>
          <p:cNvSpPr/>
          <p:nvPr/>
        </p:nvSpPr>
        <p:spPr>
          <a:xfrm>
            <a:off x="8663353" y="3429000"/>
            <a:ext cx="548640" cy="329184"/>
          </a:xfrm>
          <a:prstGeom prst="rect">
            <a:avLst/>
          </a:prstGeom>
          <a:noFill/>
          <a:ln/>
        </p:spPr>
        <p:txBody>
          <a:bodyPr wrap="square" lIns="0" tIns="0" rIns="0" bIns="0" rtlCol="0" anchor="ctr"/>
          <a:lstStyle/>
          <a:p>
            <a:pPr indent="0" marL="0">
              <a:buNone/>
            </a:pPr>
            <a:r>
              <a:rPr lang="en-US" sz="1100" b="1" dirty="0">
                <a:solidFill>
                  <a:srgbClr val="13232B"/>
                </a:solidFill>
                <a:latin typeface="Consolas" pitchFamily="34" charset="0"/>
                <a:ea typeface="Consolas" pitchFamily="34" charset="-122"/>
                <a:cs typeface="Consolas" pitchFamily="34" charset="-120"/>
              </a:rPr>
              <a:t>155</a:t>
            </a:r>
            <a:endParaRPr lang="en-US" sz="1100" dirty="0"/>
          </a:p>
        </p:txBody>
      </p:sp>
      <p:sp>
        <p:nvSpPr>
          <p:cNvPr id="40" name="Text 37"/>
          <p:cNvSpPr/>
          <p:nvPr/>
        </p:nvSpPr>
        <p:spPr>
          <a:xfrm>
            <a:off x="6309360" y="3931920"/>
            <a:ext cx="1325880" cy="329184"/>
          </a:xfrm>
          <a:prstGeom prst="rect">
            <a:avLst/>
          </a:prstGeom>
          <a:noFill/>
          <a:ln/>
        </p:spPr>
        <p:txBody>
          <a:bodyPr wrap="square" lIns="0" tIns="0" rIns="0" bIns="0" rtlCol="0" anchor="ctr"/>
          <a:lstStyle/>
          <a:p>
            <a:pPr indent="0" marL="0">
              <a:buNone/>
            </a:pPr>
            <a:r>
              <a:rPr lang="en-US" sz="1150" dirty="0">
                <a:solidFill>
                  <a:srgbClr val="13232B"/>
                </a:solidFill>
                <a:latin typeface="Segoe UI" pitchFamily="34" charset="0"/>
                <a:ea typeface="Segoe UI" pitchFamily="34" charset="-122"/>
                <a:cs typeface="Segoe UI" pitchFamily="34" charset="-120"/>
              </a:rPr>
              <a:t>E2E Playwright</a:t>
            </a:r>
            <a:endParaRPr lang="en-US" sz="1150" dirty="0"/>
          </a:p>
        </p:txBody>
      </p:sp>
      <p:sp>
        <p:nvSpPr>
          <p:cNvPr id="41" name="Shape 38"/>
          <p:cNvSpPr/>
          <p:nvPr/>
        </p:nvSpPr>
        <p:spPr>
          <a:xfrm>
            <a:off x="7726680" y="3968496"/>
            <a:ext cx="51202" cy="274320"/>
          </a:xfrm>
          <a:prstGeom prst="rect">
            <a:avLst/>
          </a:prstGeom>
          <a:solidFill>
            <a:srgbClr val="1D6B73"/>
          </a:solidFill>
          <a:ln/>
        </p:spPr>
      </p:sp>
      <p:sp>
        <p:nvSpPr>
          <p:cNvPr id="42" name="Text 39"/>
          <p:cNvSpPr/>
          <p:nvPr/>
        </p:nvSpPr>
        <p:spPr>
          <a:xfrm>
            <a:off x="7832746" y="3931920"/>
            <a:ext cx="548640" cy="329184"/>
          </a:xfrm>
          <a:prstGeom prst="rect">
            <a:avLst/>
          </a:prstGeom>
          <a:noFill/>
          <a:ln/>
        </p:spPr>
        <p:txBody>
          <a:bodyPr wrap="square" lIns="0" tIns="0" rIns="0" bIns="0" rtlCol="0" anchor="ctr"/>
          <a:lstStyle/>
          <a:p>
            <a:pPr indent="0" marL="0">
              <a:buNone/>
            </a:pPr>
            <a:r>
              <a:rPr lang="en-US" sz="1100" b="1" dirty="0">
                <a:solidFill>
                  <a:srgbClr val="13232B"/>
                </a:solidFill>
                <a:latin typeface="Consolas" pitchFamily="34" charset="0"/>
                <a:ea typeface="Consolas" pitchFamily="34" charset="-122"/>
                <a:cs typeface="Consolas" pitchFamily="34" charset="-120"/>
              </a:rPr>
              <a:t>9</a:t>
            </a:r>
            <a:endParaRPr lang="en-US" sz="1100" dirty="0"/>
          </a:p>
        </p:txBody>
      </p:sp>
      <p:sp>
        <p:nvSpPr>
          <p:cNvPr id="43" name="Shape 40"/>
          <p:cNvSpPr/>
          <p:nvPr/>
        </p:nvSpPr>
        <p:spPr>
          <a:xfrm>
            <a:off x="7726680" y="1874520"/>
            <a:ext cx="0" cy="2514600"/>
          </a:xfrm>
          <a:prstGeom prst="line">
            <a:avLst/>
          </a:prstGeom>
          <a:noFill/>
          <a:ln w="12700">
            <a:solidFill>
              <a:srgbClr val="C8D3D8"/>
            </a:solidFill>
            <a:prstDash val="solid"/>
          </a:ln>
        </p:spPr>
      </p:sp>
      <p:sp>
        <p:nvSpPr>
          <p:cNvPr id="44" name="Text 41"/>
          <p:cNvSpPr/>
          <p:nvPr/>
        </p:nvSpPr>
        <p:spPr>
          <a:xfrm>
            <a:off x="7452360" y="4434840"/>
            <a:ext cx="548640" cy="201168"/>
          </a:xfrm>
          <a:prstGeom prst="rect">
            <a:avLst/>
          </a:prstGeom>
          <a:noFill/>
          <a:ln/>
        </p:spPr>
        <p:txBody>
          <a:bodyPr wrap="square" lIns="0" tIns="0" rIns="0" bIns="0" rtlCol="0" anchor="t"/>
          <a:lstStyle/>
          <a:p>
            <a:pPr algn="ctr" indent="0" marL="0">
              <a:buNone/>
            </a:pPr>
            <a:r>
              <a:rPr lang="en-US" sz="850" dirty="0">
                <a:solidFill>
                  <a:srgbClr val="56676F"/>
                </a:solidFill>
                <a:latin typeface="Consolas" pitchFamily="34" charset="0"/>
                <a:ea typeface="Consolas" pitchFamily="34" charset="-122"/>
                <a:cs typeface="Consolas" pitchFamily="34" charset="-120"/>
              </a:rPr>
              <a:t>0</a:t>
            </a:r>
            <a:endParaRPr lang="en-US" sz="850" dirty="0"/>
          </a:p>
        </p:txBody>
      </p:sp>
      <p:sp>
        <p:nvSpPr>
          <p:cNvPr id="45" name="Text 42"/>
          <p:cNvSpPr/>
          <p:nvPr/>
        </p:nvSpPr>
        <p:spPr>
          <a:xfrm>
            <a:off x="8590178" y="4434840"/>
            <a:ext cx="548640" cy="201168"/>
          </a:xfrm>
          <a:prstGeom prst="rect">
            <a:avLst/>
          </a:prstGeom>
          <a:noFill/>
          <a:ln/>
        </p:spPr>
        <p:txBody>
          <a:bodyPr wrap="square" lIns="0" tIns="0" rIns="0" bIns="0" rtlCol="0" anchor="t"/>
          <a:lstStyle/>
          <a:p>
            <a:pPr algn="ctr" indent="0" marL="0">
              <a:buNone/>
            </a:pPr>
            <a:r>
              <a:rPr lang="en-US" sz="850" dirty="0">
                <a:solidFill>
                  <a:srgbClr val="56676F"/>
                </a:solidFill>
                <a:latin typeface="Consolas" pitchFamily="34" charset="0"/>
                <a:ea typeface="Consolas" pitchFamily="34" charset="-122"/>
                <a:cs typeface="Consolas" pitchFamily="34" charset="-120"/>
              </a:rPr>
              <a:t>200</a:t>
            </a:r>
            <a:endParaRPr lang="en-US" sz="850" dirty="0"/>
          </a:p>
        </p:txBody>
      </p:sp>
      <p:sp>
        <p:nvSpPr>
          <p:cNvPr id="46" name="Text 43"/>
          <p:cNvSpPr/>
          <p:nvPr/>
        </p:nvSpPr>
        <p:spPr>
          <a:xfrm>
            <a:off x="9727997" y="4434840"/>
            <a:ext cx="548640" cy="201168"/>
          </a:xfrm>
          <a:prstGeom prst="rect">
            <a:avLst/>
          </a:prstGeom>
          <a:noFill/>
          <a:ln/>
        </p:spPr>
        <p:txBody>
          <a:bodyPr wrap="square" lIns="0" tIns="0" rIns="0" bIns="0" rtlCol="0" anchor="t"/>
          <a:lstStyle/>
          <a:p>
            <a:pPr algn="ctr" indent="0" marL="0">
              <a:buNone/>
            </a:pPr>
            <a:r>
              <a:rPr lang="en-US" sz="850" dirty="0">
                <a:solidFill>
                  <a:srgbClr val="56676F"/>
                </a:solidFill>
                <a:latin typeface="Consolas" pitchFamily="34" charset="0"/>
                <a:ea typeface="Consolas" pitchFamily="34" charset="-122"/>
                <a:cs typeface="Consolas" pitchFamily="34" charset="-120"/>
              </a:rPr>
              <a:t>400</a:t>
            </a:r>
            <a:endParaRPr lang="en-US" sz="850" dirty="0"/>
          </a:p>
        </p:txBody>
      </p:sp>
      <p:sp>
        <p:nvSpPr>
          <p:cNvPr id="47" name="Text 44"/>
          <p:cNvSpPr/>
          <p:nvPr/>
        </p:nvSpPr>
        <p:spPr>
          <a:xfrm>
            <a:off x="10865815" y="4434840"/>
            <a:ext cx="548640" cy="201168"/>
          </a:xfrm>
          <a:prstGeom prst="rect">
            <a:avLst/>
          </a:prstGeom>
          <a:noFill/>
          <a:ln/>
        </p:spPr>
        <p:txBody>
          <a:bodyPr wrap="square" lIns="0" tIns="0" rIns="0" bIns="0" rtlCol="0" anchor="t"/>
          <a:lstStyle/>
          <a:p>
            <a:pPr algn="ctr" indent="0" marL="0">
              <a:buNone/>
            </a:pPr>
            <a:r>
              <a:rPr lang="en-US" sz="850" dirty="0">
                <a:solidFill>
                  <a:srgbClr val="56676F"/>
                </a:solidFill>
                <a:latin typeface="Consolas" pitchFamily="34" charset="0"/>
                <a:ea typeface="Consolas" pitchFamily="34" charset="-122"/>
                <a:cs typeface="Consolas" pitchFamily="34" charset="-120"/>
              </a:rPr>
              <a:t>600</a:t>
            </a:r>
            <a:endParaRPr lang="en-US" sz="850" dirty="0"/>
          </a:p>
        </p:txBody>
      </p:sp>
      <p:sp>
        <p:nvSpPr>
          <p:cNvPr id="48" name="Shape 45"/>
          <p:cNvSpPr/>
          <p:nvPr/>
        </p:nvSpPr>
        <p:spPr>
          <a:xfrm>
            <a:off x="6309360" y="4846320"/>
            <a:ext cx="5333695" cy="0"/>
          </a:xfrm>
          <a:prstGeom prst="line">
            <a:avLst/>
          </a:prstGeom>
          <a:noFill/>
          <a:ln w="12700">
            <a:solidFill>
              <a:srgbClr val="C8D3D8"/>
            </a:solidFill>
            <a:prstDash val="solid"/>
          </a:ln>
        </p:spPr>
      </p:sp>
      <p:sp>
        <p:nvSpPr>
          <p:cNvPr id="49" name="Text 46"/>
          <p:cNvSpPr/>
          <p:nvPr/>
        </p:nvSpPr>
        <p:spPr>
          <a:xfrm>
            <a:off x="6309360" y="4937760"/>
            <a:ext cx="1463040" cy="548640"/>
          </a:xfrm>
          <a:prstGeom prst="rect">
            <a:avLst/>
          </a:prstGeom>
          <a:noFill/>
          <a:ln/>
        </p:spPr>
        <p:txBody>
          <a:bodyPr wrap="square" lIns="0" tIns="0" rIns="0" bIns="0" rtlCol="0" anchor="ctr"/>
          <a:lstStyle/>
          <a:p>
            <a:pPr indent="0" marL="0">
              <a:buNone/>
            </a:pPr>
            <a:r>
              <a:rPr lang="en-US" sz="3000" b="1" dirty="0">
                <a:solidFill>
                  <a:srgbClr val="2F7D4A"/>
                </a:solidFill>
                <a:latin typeface="Bahnschrift" pitchFamily="34" charset="0"/>
                <a:ea typeface="Bahnschrift" pitchFamily="34" charset="-122"/>
                <a:cs typeface="Bahnschrift" pitchFamily="34" charset="-120"/>
              </a:rPr>
              <a:t>1 212</a:t>
            </a:r>
            <a:endParaRPr lang="en-US" sz="3000" dirty="0"/>
          </a:p>
        </p:txBody>
      </p:sp>
      <p:sp>
        <p:nvSpPr>
          <p:cNvPr id="50" name="Text 47"/>
          <p:cNvSpPr/>
          <p:nvPr/>
        </p:nvSpPr>
        <p:spPr>
          <a:xfrm>
            <a:off x="7772400" y="4956048"/>
            <a:ext cx="3870655" cy="548640"/>
          </a:xfrm>
          <a:prstGeom prst="rect">
            <a:avLst/>
          </a:prstGeom>
          <a:noFill/>
          <a:ln/>
        </p:spPr>
        <p:txBody>
          <a:bodyPr wrap="square" lIns="0" tIns="0" rIns="0" bIns="0" rtlCol="0" anchor="ctr"/>
          <a:lstStyle/>
          <a:p>
            <a:pPr indent="0" marL="0">
              <a:buNone/>
            </a:pPr>
            <a:r>
              <a:rPr lang="en-US" sz="1050" dirty="0">
                <a:solidFill>
                  <a:srgbClr val="56676F"/>
                </a:solidFill>
                <a:latin typeface="Segoe UI" pitchFamily="34" charset="0"/>
                <a:ea typeface="Segoe UI" pitchFamily="34" charset="-122"/>
                <a:cs typeface="Segoe UI" pitchFamily="34" charset="-120"/>
              </a:rPr>
              <a:t>pruebas en verde · integración contra SQL Server real con Testcontainers · snapshot OpenAPI contra los contratos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38912" cy="274320"/>
          </a:xfrm>
          <a:prstGeom prst="rect">
            <a:avLst/>
          </a:prstGeom>
          <a:solidFill>
            <a:srgbClr val="F2B233"/>
          </a:solidFill>
          <a:ln/>
        </p:spPr>
      </p:sp>
      <p:sp>
        <p:nvSpPr>
          <p:cNvPr id="3" name="Text 1"/>
          <p:cNvSpPr/>
          <p:nvPr/>
        </p:nvSpPr>
        <p:spPr>
          <a:xfrm>
            <a:off x="548640" y="329184"/>
            <a:ext cx="438912" cy="274320"/>
          </a:xfrm>
          <a:prstGeom prst="rect">
            <a:avLst/>
          </a:prstGeom>
          <a:noFill/>
          <a:ln/>
        </p:spPr>
        <p:txBody>
          <a:bodyPr wrap="square" lIns="0" tIns="0" rIns="0" bIns="0" rtlCol="0" anchor="ctr"/>
          <a:lstStyle/>
          <a:p>
            <a:pPr algn="ctr" indent="0" marL="0">
              <a:buNone/>
            </a:pPr>
            <a:r>
              <a:rPr lang="en-US" sz="1100" b="1" dirty="0">
                <a:solidFill>
                  <a:srgbClr val="13232B"/>
                </a:solidFill>
                <a:latin typeface="Consolas" pitchFamily="34" charset="0"/>
                <a:ea typeface="Consolas" pitchFamily="34" charset="-122"/>
                <a:cs typeface="Consolas" pitchFamily="34" charset="-120"/>
              </a:rPr>
              <a:t>09</a:t>
            </a:r>
            <a:endParaRPr lang="en-US" sz="1100" dirty="0"/>
          </a:p>
        </p:txBody>
      </p:sp>
      <p:sp>
        <p:nvSpPr>
          <p:cNvPr id="4" name="Text 2"/>
          <p:cNvSpPr/>
          <p:nvPr/>
        </p:nvSpPr>
        <p:spPr>
          <a:xfrm>
            <a:off x="1115568" y="329184"/>
            <a:ext cx="5486400" cy="274320"/>
          </a:xfrm>
          <a:prstGeom prst="rect">
            <a:avLst/>
          </a:prstGeom>
          <a:noFill/>
          <a:ln/>
        </p:spPr>
        <p:txBody>
          <a:bodyPr wrap="square" lIns="0" tIns="0" rIns="0" bIns="0" rtlCol="0" anchor="ctr"/>
          <a:lstStyle/>
          <a:p>
            <a:pPr indent="0" marL="0">
              <a:buNone/>
            </a:pPr>
            <a:r>
              <a:rPr lang="en-US" sz="1050" b="1" spc="150" kern="0" dirty="0">
                <a:solidFill>
                  <a:srgbClr val="13232B"/>
                </a:solidFill>
                <a:latin typeface="Consolas" pitchFamily="34" charset="0"/>
                <a:ea typeface="Consolas" pitchFamily="34" charset="-122"/>
                <a:cs typeface="Consolas" pitchFamily="34" charset="-120"/>
              </a:rPr>
              <a:t>GIT / GITHUB</a:t>
            </a:r>
            <a:endParaRPr lang="en-US" sz="1050" dirty="0"/>
          </a:p>
        </p:txBody>
      </p:sp>
      <p:sp>
        <p:nvSpPr>
          <p:cNvPr id="5" name="Text 3"/>
          <p:cNvSpPr/>
          <p:nvPr/>
        </p:nvSpPr>
        <p:spPr>
          <a:xfrm>
            <a:off x="6156655" y="329184"/>
            <a:ext cx="5486400" cy="274320"/>
          </a:xfrm>
          <a:prstGeom prst="rect">
            <a:avLst/>
          </a:prstGeom>
          <a:noFill/>
          <a:ln/>
        </p:spPr>
        <p:txBody>
          <a:bodyPr wrap="square" lIns="0" tIns="0" rIns="0" bIns="0" rtlCol="0" anchor="ctr"/>
          <a:lstStyle/>
          <a:p>
            <a:pPr algn="r" indent="0" marL="0">
              <a:buNone/>
            </a:pPr>
            <a:r>
              <a:rPr lang="en-US" sz="950" spc="150" kern="0" dirty="0">
                <a:solidFill>
                  <a:srgbClr val="56676F"/>
                </a:solidFill>
                <a:latin typeface="Consolas" pitchFamily="34" charset="0"/>
                <a:ea typeface="Consolas" pitchFamily="34" charset="-122"/>
                <a:cs typeface="Consolas" pitchFamily="34" charset="-120"/>
              </a:rPr>
              <a:t>TRAZABILIDAD DEL PROYECTO</a:t>
            </a:r>
            <a:endParaRPr lang="en-US" sz="950" dirty="0"/>
          </a:p>
        </p:txBody>
      </p:sp>
      <p:sp>
        <p:nvSpPr>
          <p:cNvPr id="6" name="Text 4"/>
          <p:cNvSpPr/>
          <p:nvPr/>
        </p:nvSpPr>
        <p:spPr>
          <a:xfrm>
            <a:off x="548640" y="6446520"/>
            <a:ext cx="8229600" cy="22860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git log --graph · PR #1 a #6 en GitHub</a:t>
            </a:r>
            <a:endParaRPr lang="en-US" sz="850" dirty="0"/>
          </a:p>
        </p:txBody>
      </p:sp>
      <p:sp>
        <p:nvSpPr>
          <p:cNvPr id="7" name="Text 5"/>
          <p:cNvSpPr/>
          <p:nvPr/>
        </p:nvSpPr>
        <p:spPr>
          <a:xfrm>
            <a:off x="9814255" y="6446520"/>
            <a:ext cx="1828800" cy="228600"/>
          </a:xfrm>
          <a:prstGeom prst="rect">
            <a:avLst/>
          </a:prstGeom>
          <a:noFill/>
          <a:ln/>
        </p:spPr>
        <p:txBody>
          <a:bodyPr wrap="square" lIns="0" tIns="0" rIns="0" bIns="0" rtlCol="0" anchor="t"/>
          <a:lstStyle/>
          <a:p>
            <a:pPr algn="r" indent="0" marL="0">
              <a:buNone/>
            </a:pPr>
            <a:r>
              <a:rPr lang="en-US" sz="850" dirty="0">
                <a:solidFill>
                  <a:srgbClr val="56676F"/>
                </a:solidFill>
                <a:latin typeface="Consolas" pitchFamily="34" charset="0"/>
                <a:ea typeface="Consolas" pitchFamily="34" charset="-122"/>
                <a:cs typeface="Consolas" pitchFamily="34" charset="-120"/>
              </a:rPr>
              <a:t>09 / 11</a:t>
            </a:r>
            <a:endParaRPr lang="en-US" sz="850" dirty="0"/>
          </a:p>
        </p:txBody>
      </p:sp>
      <p:sp>
        <p:nvSpPr>
          <p:cNvPr id="9" name="Text 6"/>
          <p:cNvSpPr/>
          <p:nvPr/>
        </p:nvSpPr>
        <p:spPr>
          <a:xfrm>
            <a:off x="548640" y="777240"/>
            <a:ext cx="11094415" cy="658368"/>
          </a:xfrm>
          <a:prstGeom prst="rect">
            <a:avLst/>
          </a:prstGeom>
          <a:noFill/>
          <a:ln/>
        </p:spPr>
        <p:txBody>
          <a:bodyPr wrap="square" lIns="0" tIns="0" rIns="0" bIns="0" rtlCol="0" anchor="ctr"/>
          <a:lstStyle/>
          <a:p>
            <a:pPr indent="0" marL="0">
              <a:buNone/>
            </a:pPr>
            <a:r>
              <a:rPr lang="en-US" sz="3200" b="1" dirty="0">
                <a:solidFill>
                  <a:srgbClr val="13232B"/>
                </a:solidFill>
                <a:latin typeface="Bahnschrift" pitchFamily="34" charset="0"/>
                <a:ea typeface="Bahnschrift" pitchFamily="34" charset="-122"/>
                <a:cs typeface="Bahnschrift" pitchFamily="34" charset="-120"/>
              </a:rPr>
              <a:t>El repositorio también cuenta la historia</a:t>
            </a:r>
            <a:endParaRPr lang="en-US" sz="3200" dirty="0"/>
          </a:p>
        </p:txBody>
      </p:sp>
      <p:sp>
        <p:nvSpPr>
          <p:cNvPr id="10" name="Text 7"/>
          <p:cNvSpPr/>
          <p:nvPr/>
        </p:nvSpPr>
        <p:spPr>
          <a:xfrm>
            <a:off x="548640" y="1453896"/>
            <a:ext cx="9601200" cy="411480"/>
          </a:xfrm>
          <a:prstGeom prst="rect">
            <a:avLst/>
          </a:prstGeom>
          <a:noFill/>
          <a:ln/>
        </p:spPr>
        <p:txBody>
          <a:bodyPr wrap="square" lIns="0" tIns="0" rIns="0" bIns="0" rtlCol="0" anchor="t"/>
          <a:lstStyle/>
          <a:p>
            <a:pPr indent="0" marL="0">
              <a:buNone/>
            </a:pPr>
            <a:r>
              <a:rPr lang="en-US" sz="1300" dirty="0">
                <a:solidFill>
                  <a:srgbClr val="56676F"/>
                </a:solidFill>
                <a:latin typeface="Segoe UI" pitchFamily="34" charset="0"/>
                <a:ea typeface="Segoe UI" pitchFamily="34" charset="-122"/>
                <a:cs typeface="Segoe UI" pitchFamily="34" charset="-120"/>
              </a:rPr>
              <a:t>Cada etapa entró en main por su propia rama y su pull request. La validación post-Baseline se añadió encima del Baseline, sin reescribirlo.</a:t>
            </a:r>
            <a:endParaRPr lang="en-US" sz="1300" dirty="0"/>
          </a:p>
        </p:txBody>
      </p:sp>
      <p:sp>
        <p:nvSpPr>
          <p:cNvPr id="11" name="Shape 8"/>
          <p:cNvSpPr/>
          <p:nvPr/>
        </p:nvSpPr>
        <p:spPr>
          <a:xfrm>
            <a:off x="733547" y="4785284"/>
            <a:ext cx="3698138" cy="517739"/>
          </a:xfrm>
          <a:prstGeom prst="roundRect">
            <a:avLst>
              <a:gd name="adj" fmla="val 8831"/>
            </a:avLst>
          </a:prstGeom>
          <a:solidFill>
            <a:srgbClr val="F4F7F8"/>
          </a:solidFill>
          <a:ln w="6350">
            <a:solidFill>
              <a:srgbClr val="C8D3D8"/>
            </a:solidFill>
            <a:prstDash val="solid"/>
          </a:ln>
        </p:spPr>
      </p:sp>
      <p:sp>
        <p:nvSpPr>
          <p:cNvPr id="12" name="Text 9"/>
          <p:cNvSpPr/>
          <p:nvPr/>
        </p:nvSpPr>
        <p:spPr>
          <a:xfrm>
            <a:off x="862982" y="4851116"/>
            <a:ext cx="3513231" cy="182880"/>
          </a:xfrm>
          <a:prstGeom prst="rect">
            <a:avLst/>
          </a:prstGeom>
          <a:noFill/>
          <a:ln/>
        </p:spPr>
        <p:txBody>
          <a:bodyPr wrap="square" lIns="0" tIns="0" rIns="0" bIns="0" rtlCol="0" anchor="t"/>
          <a:lstStyle/>
          <a:p>
            <a:pPr indent="0" marL="0">
              <a:buNone/>
            </a:pPr>
            <a:r>
              <a:rPr lang="en-US" sz="900" b="1" dirty="0">
                <a:solidFill>
                  <a:srgbClr val="13232B"/>
                </a:solidFill>
                <a:latin typeface="Consolas" pitchFamily="34" charset="0"/>
                <a:ea typeface="Consolas" pitchFamily="34" charset="-122"/>
                <a:cs typeface="Consolas" pitchFamily="34" charset="-120"/>
              </a:rPr>
              <a:t>Baseline Etapa 1</a:t>
            </a:r>
            <a:endParaRPr lang="en-US" sz="900" dirty="0"/>
          </a:p>
        </p:txBody>
      </p:sp>
      <p:sp>
        <p:nvSpPr>
          <p:cNvPr id="13" name="Text 10"/>
          <p:cNvSpPr/>
          <p:nvPr/>
        </p:nvSpPr>
        <p:spPr>
          <a:xfrm>
            <a:off x="862982" y="5054514"/>
            <a:ext cx="3513231" cy="182880"/>
          </a:xfrm>
          <a:prstGeom prst="rect">
            <a:avLst/>
          </a:prstGeom>
          <a:noFill/>
          <a:ln/>
        </p:spPr>
        <p:txBody>
          <a:bodyPr wrap="square" lIns="0" tIns="0" rIns="0" bIns="0" rtlCol="0" anchor="t"/>
          <a:lstStyle/>
          <a:p>
            <a:pPr indent="0" marL="0">
              <a:buNone/>
            </a:pPr>
            <a:r>
              <a:rPr lang="en-US" sz="800" dirty="0">
                <a:solidFill>
                  <a:srgbClr val="56676F"/>
                </a:solidFill>
                <a:latin typeface="Consolas" pitchFamily="34" charset="0"/>
                <a:ea typeface="Consolas" pitchFamily="34" charset="-122"/>
                <a:cs typeface="Consolas" pitchFamily="34" charset="-120"/>
              </a:rPr>
              <a:t>T001–T242 · 20–21/09</a:t>
            </a:r>
            <a:endParaRPr lang="en-US" sz="800" dirty="0"/>
          </a:p>
        </p:txBody>
      </p:sp>
      <p:sp>
        <p:nvSpPr>
          <p:cNvPr id="14" name="Shape 11"/>
          <p:cNvSpPr/>
          <p:nvPr/>
        </p:nvSpPr>
        <p:spPr>
          <a:xfrm>
            <a:off x="4524139" y="4785284"/>
            <a:ext cx="2311337" cy="517739"/>
          </a:xfrm>
          <a:prstGeom prst="roundRect">
            <a:avLst>
              <a:gd name="adj" fmla="val 8831"/>
            </a:avLst>
          </a:prstGeom>
          <a:solidFill>
            <a:srgbClr val="F4F7F8"/>
          </a:solidFill>
          <a:ln w="6350">
            <a:solidFill>
              <a:srgbClr val="C8D3D8"/>
            </a:solidFill>
            <a:prstDash val="solid"/>
          </a:ln>
        </p:spPr>
      </p:sp>
      <p:sp>
        <p:nvSpPr>
          <p:cNvPr id="15" name="Text 12"/>
          <p:cNvSpPr/>
          <p:nvPr/>
        </p:nvSpPr>
        <p:spPr>
          <a:xfrm>
            <a:off x="4653574" y="4851116"/>
            <a:ext cx="2126430" cy="182880"/>
          </a:xfrm>
          <a:prstGeom prst="rect">
            <a:avLst/>
          </a:prstGeom>
          <a:noFill/>
          <a:ln/>
        </p:spPr>
        <p:txBody>
          <a:bodyPr wrap="square" lIns="0" tIns="0" rIns="0" bIns="0" rtlCol="0" anchor="t"/>
          <a:lstStyle/>
          <a:p>
            <a:pPr indent="0" marL="0">
              <a:buNone/>
            </a:pPr>
            <a:r>
              <a:rPr lang="en-US" sz="900" b="1" dirty="0">
                <a:solidFill>
                  <a:srgbClr val="13232B"/>
                </a:solidFill>
                <a:latin typeface="Consolas" pitchFamily="34" charset="0"/>
                <a:ea typeface="Consolas" pitchFamily="34" charset="-122"/>
                <a:cs typeface="Consolas" pitchFamily="34" charset="-120"/>
              </a:rPr>
              <a:t>README y frontend</a:t>
            </a:r>
            <a:endParaRPr lang="en-US" sz="900" dirty="0"/>
          </a:p>
        </p:txBody>
      </p:sp>
      <p:sp>
        <p:nvSpPr>
          <p:cNvPr id="16" name="Text 13"/>
          <p:cNvSpPr/>
          <p:nvPr/>
        </p:nvSpPr>
        <p:spPr>
          <a:xfrm>
            <a:off x="4653574" y="5054514"/>
            <a:ext cx="2126430" cy="182880"/>
          </a:xfrm>
          <a:prstGeom prst="rect">
            <a:avLst/>
          </a:prstGeom>
          <a:noFill/>
          <a:ln/>
        </p:spPr>
        <p:txBody>
          <a:bodyPr wrap="square" lIns="0" tIns="0" rIns="0" bIns="0" rtlCol="0" anchor="t"/>
          <a:lstStyle/>
          <a:p>
            <a:pPr indent="0" marL="0">
              <a:buNone/>
            </a:pPr>
            <a:r>
              <a:rPr lang="en-US" sz="800" dirty="0">
                <a:solidFill>
                  <a:srgbClr val="56676F"/>
                </a:solidFill>
                <a:latin typeface="Consolas" pitchFamily="34" charset="0"/>
                <a:ea typeface="Consolas" pitchFamily="34" charset="-122"/>
                <a:cs typeface="Consolas" pitchFamily="34" charset="-120"/>
              </a:rPr>
              <a:t>documentación e infraestructura · 23/09</a:t>
            </a:r>
            <a:endParaRPr lang="en-US" sz="800" dirty="0"/>
          </a:p>
        </p:txBody>
      </p:sp>
      <p:sp>
        <p:nvSpPr>
          <p:cNvPr id="17" name="Shape 14"/>
          <p:cNvSpPr/>
          <p:nvPr/>
        </p:nvSpPr>
        <p:spPr>
          <a:xfrm>
            <a:off x="6927929" y="4785284"/>
            <a:ext cx="2311337" cy="517739"/>
          </a:xfrm>
          <a:prstGeom prst="roundRect">
            <a:avLst>
              <a:gd name="adj" fmla="val 8831"/>
            </a:avLst>
          </a:prstGeom>
          <a:solidFill>
            <a:srgbClr val="FDF1D6"/>
          </a:solidFill>
          <a:ln w="6350">
            <a:solidFill>
              <a:srgbClr val="C8D3D8"/>
            </a:solidFill>
            <a:prstDash val="solid"/>
          </a:ln>
        </p:spPr>
      </p:sp>
      <p:sp>
        <p:nvSpPr>
          <p:cNvPr id="18" name="Text 15"/>
          <p:cNvSpPr/>
          <p:nvPr/>
        </p:nvSpPr>
        <p:spPr>
          <a:xfrm>
            <a:off x="7057364" y="4851116"/>
            <a:ext cx="2126430" cy="182880"/>
          </a:xfrm>
          <a:prstGeom prst="rect">
            <a:avLst/>
          </a:prstGeom>
          <a:noFill/>
          <a:ln/>
        </p:spPr>
        <p:txBody>
          <a:bodyPr wrap="square" lIns="0" tIns="0" rIns="0" bIns="0" rtlCol="0" anchor="t"/>
          <a:lstStyle/>
          <a:p>
            <a:pPr indent="0" marL="0">
              <a:buNone/>
            </a:pPr>
            <a:r>
              <a:rPr lang="en-US" sz="900" b="1" dirty="0">
                <a:solidFill>
                  <a:srgbClr val="13232B"/>
                </a:solidFill>
                <a:latin typeface="Consolas" pitchFamily="34" charset="0"/>
                <a:ea typeface="Consolas" pitchFamily="34" charset="-122"/>
                <a:cs typeface="Consolas" pitchFamily="34" charset="-120"/>
              </a:rPr>
              <a:t>Post-Baseline</a:t>
            </a:r>
            <a:endParaRPr lang="en-US" sz="900" dirty="0"/>
          </a:p>
        </p:txBody>
      </p:sp>
      <p:sp>
        <p:nvSpPr>
          <p:cNvPr id="19" name="Text 16"/>
          <p:cNvSpPr/>
          <p:nvPr/>
        </p:nvSpPr>
        <p:spPr>
          <a:xfrm>
            <a:off x="7057364" y="5054514"/>
            <a:ext cx="2126430" cy="182880"/>
          </a:xfrm>
          <a:prstGeom prst="rect">
            <a:avLst/>
          </a:prstGeom>
          <a:noFill/>
          <a:ln/>
        </p:spPr>
        <p:txBody>
          <a:bodyPr wrap="square" lIns="0" tIns="0" rIns="0" bIns="0" rtlCol="0" anchor="t"/>
          <a:lstStyle/>
          <a:p>
            <a:pPr indent="0" marL="0">
              <a:buNone/>
            </a:pPr>
            <a:r>
              <a:rPr lang="en-US" sz="800" dirty="0">
                <a:solidFill>
                  <a:srgbClr val="56676F"/>
                </a:solidFill>
                <a:latin typeface="Consolas" pitchFamily="34" charset="0"/>
                <a:ea typeface="Consolas" pitchFamily="34" charset="-122"/>
                <a:cs typeface="Consolas" pitchFamily="34" charset="-120"/>
              </a:rPr>
              <a:t>T243–T312 · VF-001 a VF-011 · 25/09</a:t>
            </a:r>
            <a:endParaRPr lang="en-US" sz="800" dirty="0"/>
          </a:p>
        </p:txBody>
      </p:sp>
      <p:sp>
        <p:nvSpPr>
          <p:cNvPr id="20" name="Shape 17"/>
          <p:cNvSpPr/>
          <p:nvPr/>
        </p:nvSpPr>
        <p:spPr>
          <a:xfrm>
            <a:off x="9331719" y="4785284"/>
            <a:ext cx="2126430" cy="517739"/>
          </a:xfrm>
          <a:prstGeom prst="roundRect">
            <a:avLst>
              <a:gd name="adj" fmla="val 8831"/>
            </a:avLst>
          </a:prstGeom>
          <a:solidFill>
            <a:srgbClr val="DFF0E4"/>
          </a:solidFill>
          <a:ln w="6350">
            <a:solidFill>
              <a:srgbClr val="C8D3D8"/>
            </a:solidFill>
            <a:prstDash val="solid"/>
          </a:ln>
        </p:spPr>
      </p:sp>
      <p:sp>
        <p:nvSpPr>
          <p:cNvPr id="21" name="Text 18"/>
          <p:cNvSpPr/>
          <p:nvPr/>
        </p:nvSpPr>
        <p:spPr>
          <a:xfrm>
            <a:off x="9461154" y="4851116"/>
            <a:ext cx="1941523" cy="182880"/>
          </a:xfrm>
          <a:prstGeom prst="rect">
            <a:avLst/>
          </a:prstGeom>
          <a:noFill/>
          <a:ln/>
        </p:spPr>
        <p:txBody>
          <a:bodyPr wrap="square" lIns="0" tIns="0" rIns="0" bIns="0" rtlCol="0" anchor="t"/>
          <a:lstStyle/>
          <a:p>
            <a:pPr indent="0" marL="0">
              <a:buNone/>
            </a:pPr>
            <a:r>
              <a:rPr lang="en-US" sz="900" b="1" dirty="0">
                <a:solidFill>
                  <a:srgbClr val="13232B"/>
                </a:solidFill>
                <a:latin typeface="Consolas" pitchFamily="34" charset="0"/>
                <a:ea typeface="Consolas" pitchFamily="34" charset="-122"/>
                <a:cs typeface="Consolas" pitchFamily="34" charset="-120"/>
              </a:rPr>
              <a:t>Cierre</a:t>
            </a:r>
            <a:endParaRPr lang="en-US" sz="900" dirty="0"/>
          </a:p>
        </p:txBody>
      </p:sp>
      <p:sp>
        <p:nvSpPr>
          <p:cNvPr id="22" name="Text 19"/>
          <p:cNvSpPr/>
          <p:nvPr/>
        </p:nvSpPr>
        <p:spPr>
          <a:xfrm>
            <a:off x="9461154" y="5054514"/>
            <a:ext cx="1941523" cy="182880"/>
          </a:xfrm>
          <a:prstGeom prst="rect">
            <a:avLst/>
          </a:prstGeom>
          <a:noFill/>
          <a:ln/>
        </p:spPr>
        <p:txBody>
          <a:bodyPr wrap="square" lIns="0" tIns="0" rIns="0" bIns="0" rtlCol="0" anchor="t"/>
          <a:lstStyle/>
          <a:p>
            <a:pPr indent="0" marL="0">
              <a:buNone/>
            </a:pPr>
            <a:r>
              <a:rPr lang="en-US" sz="800" dirty="0">
                <a:solidFill>
                  <a:srgbClr val="56676F"/>
                </a:solidFill>
                <a:latin typeface="Consolas" pitchFamily="34" charset="0"/>
                <a:ea typeface="Consolas" pitchFamily="34" charset="-122"/>
                <a:cs typeface="Consolas" pitchFamily="34" charset="-120"/>
              </a:rPr>
              <a:t>registro final · 26/09</a:t>
            </a:r>
            <a:endParaRPr lang="en-US" sz="800" dirty="0"/>
          </a:p>
        </p:txBody>
      </p:sp>
      <p:sp>
        <p:nvSpPr>
          <p:cNvPr id="23" name="Shape 20"/>
          <p:cNvSpPr/>
          <p:nvPr/>
        </p:nvSpPr>
        <p:spPr>
          <a:xfrm flipV="1">
            <a:off x="1195814" y="3398482"/>
            <a:ext cx="231134" cy="832081"/>
          </a:xfrm>
          <a:prstGeom prst="line">
            <a:avLst/>
          </a:prstGeom>
          <a:noFill/>
          <a:ln w="28575">
            <a:solidFill>
              <a:srgbClr val="1D6B73"/>
            </a:solidFill>
            <a:prstDash val="solid"/>
          </a:ln>
        </p:spPr>
      </p:sp>
      <p:sp>
        <p:nvSpPr>
          <p:cNvPr id="24" name="Shape 21"/>
          <p:cNvSpPr/>
          <p:nvPr/>
        </p:nvSpPr>
        <p:spPr>
          <a:xfrm>
            <a:off x="1426948" y="3398482"/>
            <a:ext cx="1294348" cy="914"/>
          </a:xfrm>
          <a:prstGeom prst="line">
            <a:avLst/>
          </a:prstGeom>
          <a:noFill/>
          <a:ln w="28575">
            <a:solidFill>
              <a:srgbClr val="1D6B73"/>
            </a:solidFill>
            <a:prstDash val="solid"/>
          </a:ln>
        </p:spPr>
      </p:sp>
      <p:sp>
        <p:nvSpPr>
          <p:cNvPr id="25" name="Shape 22"/>
          <p:cNvSpPr/>
          <p:nvPr/>
        </p:nvSpPr>
        <p:spPr>
          <a:xfrm>
            <a:off x="2721296" y="3398482"/>
            <a:ext cx="231134" cy="832081"/>
          </a:xfrm>
          <a:prstGeom prst="line">
            <a:avLst/>
          </a:prstGeom>
          <a:noFill/>
          <a:ln w="28575">
            <a:solidFill>
              <a:srgbClr val="1D6B73"/>
            </a:solidFill>
            <a:prstDash val="solid"/>
          </a:ln>
        </p:spPr>
      </p:sp>
      <p:sp>
        <p:nvSpPr>
          <p:cNvPr id="26" name="Shape 23"/>
          <p:cNvSpPr/>
          <p:nvPr/>
        </p:nvSpPr>
        <p:spPr>
          <a:xfrm flipV="1">
            <a:off x="2952430" y="3629616"/>
            <a:ext cx="231134" cy="600947"/>
          </a:xfrm>
          <a:prstGeom prst="line">
            <a:avLst/>
          </a:prstGeom>
          <a:noFill/>
          <a:ln w="28575">
            <a:solidFill>
              <a:srgbClr val="1D6B73"/>
            </a:solidFill>
            <a:prstDash val="solid"/>
          </a:ln>
        </p:spPr>
      </p:sp>
      <p:sp>
        <p:nvSpPr>
          <p:cNvPr id="27" name="Shape 24"/>
          <p:cNvSpPr/>
          <p:nvPr/>
        </p:nvSpPr>
        <p:spPr>
          <a:xfrm>
            <a:off x="3183564" y="3629616"/>
            <a:ext cx="832081" cy="914"/>
          </a:xfrm>
          <a:prstGeom prst="line">
            <a:avLst/>
          </a:prstGeom>
          <a:noFill/>
          <a:ln w="28575">
            <a:solidFill>
              <a:srgbClr val="1D6B73"/>
            </a:solidFill>
            <a:prstDash val="solid"/>
          </a:ln>
        </p:spPr>
      </p:sp>
      <p:sp>
        <p:nvSpPr>
          <p:cNvPr id="28" name="Shape 25"/>
          <p:cNvSpPr/>
          <p:nvPr/>
        </p:nvSpPr>
        <p:spPr>
          <a:xfrm>
            <a:off x="4015645" y="3629616"/>
            <a:ext cx="231134" cy="600947"/>
          </a:xfrm>
          <a:prstGeom prst="line">
            <a:avLst/>
          </a:prstGeom>
          <a:noFill/>
          <a:ln w="28575">
            <a:solidFill>
              <a:srgbClr val="1D6B73"/>
            </a:solidFill>
            <a:prstDash val="solid"/>
          </a:ln>
        </p:spPr>
      </p:sp>
      <p:sp>
        <p:nvSpPr>
          <p:cNvPr id="29" name="Shape 26"/>
          <p:cNvSpPr/>
          <p:nvPr/>
        </p:nvSpPr>
        <p:spPr>
          <a:xfrm flipV="1">
            <a:off x="4246778" y="3629616"/>
            <a:ext cx="231134" cy="600947"/>
          </a:xfrm>
          <a:prstGeom prst="line">
            <a:avLst/>
          </a:prstGeom>
          <a:noFill/>
          <a:ln w="28575">
            <a:solidFill>
              <a:srgbClr val="1D6B73"/>
            </a:solidFill>
            <a:prstDash val="solid"/>
          </a:ln>
        </p:spPr>
      </p:sp>
      <p:sp>
        <p:nvSpPr>
          <p:cNvPr id="30" name="Shape 27"/>
          <p:cNvSpPr/>
          <p:nvPr/>
        </p:nvSpPr>
        <p:spPr>
          <a:xfrm>
            <a:off x="4477912" y="3629616"/>
            <a:ext cx="832081" cy="914"/>
          </a:xfrm>
          <a:prstGeom prst="line">
            <a:avLst/>
          </a:prstGeom>
          <a:noFill/>
          <a:ln w="28575">
            <a:solidFill>
              <a:srgbClr val="1D6B73"/>
            </a:solidFill>
            <a:prstDash val="solid"/>
          </a:ln>
        </p:spPr>
      </p:sp>
      <p:sp>
        <p:nvSpPr>
          <p:cNvPr id="31" name="Shape 28"/>
          <p:cNvSpPr/>
          <p:nvPr/>
        </p:nvSpPr>
        <p:spPr>
          <a:xfrm>
            <a:off x="5309993" y="3629616"/>
            <a:ext cx="231134" cy="600947"/>
          </a:xfrm>
          <a:prstGeom prst="line">
            <a:avLst/>
          </a:prstGeom>
          <a:noFill/>
          <a:ln w="28575">
            <a:solidFill>
              <a:srgbClr val="1D6B73"/>
            </a:solidFill>
            <a:prstDash val="solid"/>
          </a:ln>
        </p:spPr>
      </p:sp>
      <p:sp>
        <p:nvSpPr>
          <p:cNvPr id="32" name="Shape 29"/>
          <p:cNvSpPr/>
          <p:nvPr/>
        </p:nvSpPr>
        <p:spPr>
          <a:xfrm flipV="1">
            <a:off x="5541127" y="3629616"/>
            <a:ext cx="231134" cy="600947"/>
          </a:xfrm>
          <a:prstGeom prst="line">
            <a:avLst/>
          </a:prstGeom>
          <a:noFill/>
          <a:ln w="28575">
            <a:solidFill>
              <a:srgbClr val="1D6B73"/>
            </a:solidFill>
            <a:prstDash val="solid"/>
          </a:ln>
        </p:spPr>
      </p:sp>
      <p:sp>
        <p:nvSpPr>
          <p:cNvPr id="33" name="Shape 30"/>
          <p:cNvSpPr/>
          <p:nvPr/>
        </p:nvSpPr>
        <p:spPr>
          <a:xfrm>
            <a:off x="5772260" y="3629616"/>
            <a:ext cx="878308" cy="914"/>
          </a:xfrm>
          <a:prstGeom prst="line">
            <a:avLst/>
          </a:prstGeom>
          <a:noFill/>
          <a:ln w="28575">
            <a:solidFill>
              <a:srgbClr val="1D6B73"/>
            </a:solidFill>
            <a:prstDash val="solid"/>
          </a:ln>
        </p:spPr>
      </p:sp>
      <p:sp>
        <p:nvSpPr>
          <p:cNvPr id="34" name="Shape 31"/>
          <p:cNvSpPr/>
          <p:nvPr/>
        </p:nvSpPr>
        <p:spPr>
          <a:xfrm>
            <a:off x="6650568" y="3629616"/>
            <a:ext cx="231134" cy="600947"/>
          </a:xfrm>
          <a:prstGeom prst="line">
            <a:avLst/>
          </a:prstGeom>
          <a:noFill/>
          <a:ln w="28575">
            <a:solidFill>
              <a:srgbClr val="1D6B73"/>
            </a:solidFill>
            <a:prstDash val="solid"/>
          </a:ln>
        </p:spPr>
      </p:sp>
      <p:sp>
        <p:nvSpPr>
          <p:cNvPr id="35" name="Shape 32"/>
          <p:cNvSpPr/>
          <p:nvPr/>
        </p:nvSpPr>
        <p:spPr>
          <a:xfrm flipV="1">
            <a:off x="6881702" y="3213575"/>
            <a:ext cx="231134" cy="1016988"/>
          </a:xfrm>
          <a:prstGeom prst="line">
            <a:avLst/>
          </a:prstGeom>
          <a:noFill/>
          <a:ln w="28575">
            <a:solidFill>
              <a:srgbClr val="F2B233"/>
            </a:solidFill>
            <a:prstDash val="solid"/>
          </a:ln>
        </p:spPr>
      </p:sp>
      <p:sp>
        <p:nvSpPr>
          <p:cNvPr id="36" name="Shape 33"/>
          <p:cNvSpPr/>
          <p:nvPr/>
        </p:nvSpPr>
        <p:spPr>
          <a:xfrm>
            <a:off x="7112836" y="3213575"/>
            <a:ext cx="1802842" cy="914"/>
          </a:xfrm>
          <a:prstGeom prst="line">
            <a:avLst/>
          </a:prstGeom>
          <a:noFill/>
          <a:ln w="28575">
            <a:solidFill>
              <a:srgbClr val="F2B233"/>
            </a:solidFill>
            <a:prstDash val="solid"/>
          </a:ln>
        </p:spPr>
      </p:sp>
      <p:sp>
        <p:nvSpPr>
          <p:cNvPr id="37" name="Shape 34"/>
          <p:cNvSpPr/>
          <p:nvPr/>
        </p:nvSpPr>
        <p:spPr>
          <a:xfrm>
            <a:off x="8915678" y="3213575"/>
            <a:ext cx="231134" cy="1016988"/>
          </a:xfrm>
          <a:prstGeom prst="line">
            <a:avLst/>
          </a:prstGeom>
          <a:noFill/>
          <a:ln w="28575">
            <a:solidFill>
              <a:srgbClr val="F2B233"/>
            </a:solidFill>
            <a:prstDash val="solid"/>
          </a:ln>
        </p:spPr>
      </p:sp>
      <p:sp>
        <p:nvSpPr>
          <p:cNvPr id="38" name="Shape 35"/>
          <p:cNvSpPr/>
          <p:nvPr/>
        </p:nvSpPr>
        <p:spPr>
          <a:xfrm flipV="1">
            <a:off x="9146812" y="3629616"/>
            <a:ext cx="231134" cy="600947"/>
          </a:xfrm>
          <a:prstGeom prst="line">
            <a:avLst/>
          </a:prstGeom>
          <a:noFill/>
          <a:ln w="28575">
            <a:solidFill>
              <a:srgbClr val="2F7D4A"/>
            </a:solidFill>
            <a:prstDash val="solid"/>
          </a:ln>
        </p:spPr>
      </p:sp>
      <p:sp>
        <p:nvSpPr>
          <p:cNvPr id="39" name="Shape 36"/>
          <p:cNvSpPr/>
          <p:nvPr/>
        </p:nvSpPr>
        <p:spPr>
          <a:xfrm>
            <a:off x="9377945" y="3629616"/>
            <a:ext cx="878308" cy="914"/>
          </a:xfrm>
          <a:prstGeom prst="line">
            <a:avLst/>
          </a:prstGeom>
          <a:noFill/>
          <a:ln w="28575">
            <a:solidFill>
              <a:srgbClr val="2F7D4A"/>
            </a:solidFill>
            <a:prstDash val="solid"/>
          </a:ln>
        </p:spPr>
      </p:sp>
      <p:sp>
        <p:nvSpPr>
          <p:cNvPr id="40" name="Shape 37"/>
          <p:cNvSpPr/>
          <p:nvPr/>
        </p:nvSpPr>
        <p:spPr>
          <a:xfrm>
            <a:off x="10256253" y="3629616"/>
            <a:ext cx="231134" cy="600947"/>
          </a:xfrm>
          <a:prstGeom prst="line">
            <a:avLst/>
          </a:prstGeom>
          <a:noFill/>
          <a:ln w="28575">
            <a:solidFill>
              <a:srgbClr val="2F7D4A"/>
            </a:solidFill>
            <a:prstDash val="solid"/>
          </a:ln>
        </p:spPr>
      </p:sp>
      <p:sp>
        <p:nvSpPr>
          <p:cNvPr id="41" name="Shape 38"/>
          <p:cNvSpPr/>
          <p:nvPr/>
        </p:nvSpPr>
        <p:spPr>
          <a:xfrm>
            <a:off x="918454" y="4230563"/>
            <a:ext cx="9846293" cy="914"/>
          </a:xfrm>
          <a:prstGeom prst="line">
            <a:avLst/>
          </a:prstGeom>
          <a:noFill/>
          <a:ln w="50800">
            <a:solidFill>
              <a:srgbClr val="13232B"/>
            </a:solidFill>
            <a:prstDash val="solid"/>
          </a:ln>
        </p:spPr>
      </p:sp>
      <p:sp>
        <p:nvSpPr>
          <p:cNvPr id="42" name="Text 39"/>
          <p:cNvSpPr/>
          <p:nvPr/>
        </p:nvSpPr>
        <p:spPr>
          <a:xfrm>
            <a:off x="918454" y="3871109"/>
            <a:ext cx="739628" cy="182880"/>
          </a:xfrm>
          <a:prstGeom prst="rect">
            <a:avLst/>
          </a:prstGeom>
          <a:noFill/>
          <a:ln/>
        </p:spPr>
        <p:txBody>
          <a:bodyPr wrap="square" lIns="0" tIns="0" rIns="0" bIns="0" rtlCol="0" anchor="t"/>
          <a:lstStyle/>
          <a:p>
            <a:pPr indent="0" marL="0">
              <a:buNone/>
            </a:pPr>
            <a:r>
              <a:rPr lang="en-US" sz="1300" b="1" dirty="0">
                <a:solidFill>
                  <a:srgbClr val="13232B"/>
                </a:solidFill>
                <a:latin typeface="Bahnschrift" pitchFamily="34" charset="0"/>
                <a:ea typeface="Bahnschrift" pitchFamily="34" charset="-122"/>
                <a:cs typeface="Bahnschrift" pitchFamily="34" charset="-120"/>
              </a:rPr>
              <a:t>main</a:t>
            </a:r>
            <a:endParaRPr lang="en-US" sz="1300" dirty="0"/>
          </a:p>
        </p:txBody>
      </p:sp>
      <p:sp>
        <p:nvSpPr>
          <p:cNvPr id="43" name="Shape 40"/>
          <p:cNvSpPr/>
          <p:nvPr/>
        </p:nvSpPr>
        <p:spPr>
          <a:xfrm>
            <a:off x="1787516" y="3343010"/>
            <a:ext cx="110944" cy="110944"/>
          </a:xfrm>
          <a:prstGeom prst="ellipse">
            <a:avLst/>
          </a:prstGeom>
          <a:solidFill>
            <a:srgbClr val="FFFFFF"/>
          </a:solidFill>
          <a:ln w="25400">
            <a:solidFill>
              <a:srgbClr val="1D6B73"/>
            </a:solidFill>
            <a:prstDash val="solid"/>
          </a:ln>
        </p:spPr>
      </p:sp>
      <p:sp>
        <p:nvSpPr>
          <p:cNvPr id="44" name="Shape 41"/>
          <p:cNvSpPr/>
          <p:nvPr/>
        </p:nvSpPr>
        <p:spPr>
          <a:xfrm>
            <a:off x="2018650" y="3343010"/>
            <a:ext cx="110944" cy="110944"/>
          </a:xfrm>
          <a:prstGeom prst="ellipse">
            <a:avLst/>
          </a:prstGeom>
          <a:solidFill>
            <a:srgbClr val="FFFFFF"/>
          </a:solidFill>
          <a:ln w="25400">
            <a:solidFill>
              <a:srgbClr val="1D6B73"/>
            </a:solidFill>
            <a:prstDash val="solid"/>
          </a:ln>
        </p:spPr>
      </p:sp>
      <p:sp>
        <p:nvSpPr>
          <p:cNvPr id="45" name="Shape 42"/>
          <p:cNvSpPr/>
          <p:nvPr/>
        </p:nvSpPr>
        <p:spPr>
          <a:xfrm>
            <a:off x="2249784" y="3343010"/>
            <a:ext cx="110944" cy="110944"/>
          </a:xfrm>
          <a:prstGeom prst="ellipse">
            <a:avLst/>
          </a:prstGeom>
          <a:solidFill>
            <a:srgbClr val="FFFFFF"/>
          </a:solidFill>
          <a:ln w="25400">
            <a:solidFill>
              <a:srgbClr val="1D6B73"/>
            </a:solidFill>
            <a:prstDash val="solid"/>
          </a:ln>
        </p:spPr>
      </p:sp>
      <p:sp>
        <p:nvSpPr>
          <p:cNvPr id="46" name="Text 43"/>
          <p:cNvSpPr/>
          <p:nvPr/>
        </p:nvSpPr>
        <p:spPr>
          <a:xfrm>
            <a:off x="1611855" y="2983556"/>
            <a:ext cx="2403790" cy="182880"/>
          </a:xfrm>
          <a:prstGeom prst="rect">
            <a:avLst/>
          </a:prstGeom>
          <a:noFill/>
          <a:ln/>
        </p:spPr>
        <p:txBody>
          <a:bodyPr wrap="square" lIns="0" tIns="0" rIns="0" bIns="0" rtlCol="0" anchor="t"/>
          <a:lstStyle/>
          <a:p>
            <a:pPr indent="0" marL="0">
              <a:buNone/>
            </a:pPr>
            <a:r>
              <a:rPr lang="en-US" sz="850" b="1" dirty="0">
                <a:solidFill>
                  <a:srgbClr val="1D6B73"/>
                </a:solidFill>
                <a:latin typeface="Consolas" pitchFamily="34" charset="0"/>
                <a:ea typeface="Consolas" pitchFamily="34" charset="-122"/>
                <a:cs typeface="Consolas" pitchFamily="34" charset="-120"/>
              </a:rPr>
              <a:t>feature/baseline-decisions</a:t>
            </a:r>
            <a:endParaRPr lang="en-US" sz="850" dirty="0"/>
          </a:p>
        </p:txBody>
      </p:sp>
      <p:sp>
        <p:nvSpPr>
          <p:cNvPr id="47" name="Text 44"/>
          <p:cNvSpPr/>
          <p:nvPr/>
        </p:nvSpPr>
        <p:spPr>
          <a:xfrm>
            <a:off x="1611855" y="3140727"/>
            <a:ext cx="1849069" cy="18288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7 commits · 0783e24</a:t>
            </a:r>
            <a:endParaRPr lang="en-US" sz="850" dirty="0"/>
          </a:p>
        </p:txBody>
      </p:sp>
      <p:sp>
        <p:nvSpPr>
          <p:cNvPr id="48" name="Shape 45"/>
          <p:cNvSpPr/>
          <p:nvPr/>
        </p:nvSpPr>
        <p:spPr>
          <a:xfrm>
            <a:off x="3562623" y="3574143"/>
            <a:ext cx="110944" cy="110944"/>
          </a:xfrm>
          <a:prstGeom prst="ellipse">
            <a:avLst/>
          </a:prstGeom>
          <a:solidFill>
            <a:srgbClr val="FFFFFF"/>
          </a:solidFill>
          <a:ln w="25400">
            <a:solidFill>
              <a:srgbClr val="1D6B73"/>
            </a:solidFill>
            <a:prstDash val="solid"/>
          </a:ln>
        </p:spPr>
      </p:sp>
      <p:sp>
        <p:nvSpPr>
          <p:cNvPr id="49" name="Text 46"/>
          <p:cNvSpPr/>
          <p:nvPr/>
        </p:nvSpPr>
        <p:spPr>
          <a:xfrm>
            <a:off x="3063374" y="3242426"/>
            <a:ext cx="1386802" cy="182880"/>
          </a:xfrm>
          <a:prstGeom prst="rect">
            <a:avLst/>
          </a:prstGeom>
          <a:noFill/>
          <a:ln/>
        </p:spPr>
        <p:txBody>
          <a:bodyPr wrap="square" lIns="0" tIns="0" rIns="0" bIns="0" rtlCol="0" anchor="t"/>
          <a:lstStyle/>
          <a:p>
            <a:pPr indent="0" marL="0">
              <a:buNone/>
            </a:pPr>
            <a:r>
              <a:rPr lang="en-US" sz="850" b="1" dirty="0">
                <a:solidFill>
                  <a:srgbClr val="1D6B73"/>
                </a:solidFill>
                <a:latin typeface="Consolas" pitchFamily="34" charset="0"/>
                <a:ea typeface="Consolas" pitchFamily="34" charset="-122"/>
                <a:cs typeface="Consolas" pitchFamily="34" charset="-120"/>
              </a:rPr>
              <a:t>baseline-closure</a:t>
            </a:r>
            <a:endParaRPr lang="en-US" sz="850" dirty="0"/>
          </a:p>
        </p:txBody>
      </p:sp>
      <p:sp>
        <p:nvSpPr>
          <p:cNvPr id="50" name="Text 47"/>
          <p:cNvSpPr/>
          <p:nvPr/>
        </p:nvSpPr>
        <p:spPr>
          <a:xfrm>
            <a:off x="3322244" y="3399597"/>
            <a:ext cx="739628" cy="18288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cf6b5b3</a:t>
            </a:r>
            <a:endParaRPr lang="en-US" sz="850" dirty="0"/>
          </a:p>
        </p:txBody>
      </p:sp>
      <p:sp>
        <p:nvSpPr>
          <p:cNvPr id="51" name="Shape 48"/>
          <p:cNvSpPr/>
          <p:nvPr/>
        </p:nvSpPr>
        <p:spPr>
          <a:xfrm>
            <a:off x="4884707" y="3574143"/>
            <a:ext cx="110944" cy="110944"/>
          </a:xfrm>
          <a:prstGeom prst="ellipse">
            <a:avLst/>
          </a:prstGeom>
          <a:solidFill>
            <a:srgbClr val="FFFFFF"/>
          </a:solidFill>
          <a:ln w="25400">
            <a:solidFill>
              <a:srgbClr val="1D6B73"/>
            </a:solidFill>
            <a:prstDash val="solid"/>
          </a:ln>
        </p:spPr>
      </p:sp>
      <p:sp>
        <p:nvSpPr>
          <p:cNvPr id="52" name="Text 49"/>
          <p:cNvSpPr/>
          <p:nvPr/>
        </p:nvSpPr>
        <p:spPr>
          <a:xfrm>
            <a:off x="4413195" y="3242426"/>
            <a:ext cx="1386802" cy="182880"/>
          </a:xfrm>
          <a:prstGeom prst="rect">
            <a:avLst/>
          </a:prstGeom>
          <a:noFill/>
          <a:ln/>
        </p:spPr>
        <p:txBody>
          <a:bodyPr wrap="square" lIns="0" tIns="0" rIns="0" bIns="0" rtlCol="0" anchor="t"/>
          <a:lstStyle/>
          <a:p>
            <a:pPr indent="0" marL="0">
              <a:buNone/>
            </a:pPr>
            <a:r>
              <a:rPr lang="en-US" sz="850" b="1" dirty="0">
                <a:solidFill>
                  <a:srgbClr val="1D6B73"/>
                </a:solidFill>
                <a:latin typeface="Consolas" pitchFamily="34" charset="0"/>
                <a:ea typeface="Consolas" pitchFamily="34" charset="-122"/>
                <a:cs typeface="Consolas" pitchFamily="34" charset="-120"/>
              </a:rPr>
              <a:t>update-readme</a:t>
            </a:r>
            <a:endParaRPr lang="en-US" sz="850" dirty="0"/>
          </a:p>
        </p:txBody>
      </p:sp>
      <p:sp>
        <p:nvSpPr>
          <p:cNvPr id="53" name="Text 50"/>
          <p:cNvSpPr/>
          <p:nvPr/>
        </p:nvSpPr>
        <p:spPr>
          <a:xfrm>
            <a:off x="4644328" y="3399597"/>
            <a:ext cx="739628" cy="18288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702a94c</a:t>
            </a:r>
            <a:endParaRPr lang="en-US" sz="850" dirty="0"/>
          </a:p>
        </p:txBody>
      </p:sp>
      <p:sp>
        <p:nvSpPr>
          <p:cNvPr id="54" name="Shape 51"/>
          <p:cNvSpPr/>
          <p:nvPr/>
        </p:nvSpPr>
        <p:spPr>
          <a:xfrm>
            <a:off x="6206792" y="3574143"/>
            <a:ext cx="110944" cy="110944"/>
          </a:xfrm>
          <a:prstGeom prst="ellipse">
            <a:avLst/>
          </a:prstGeom>
          <a:solidFill>
            <a:srgbClr val="FFFFFF"/>
          </a:solidFill>
          <a:ln w="25400">
            <a:solidFill>
              <a:srgbClr val="1D6B73"/>
            </a:solidFill>
            <a:prstDash val="solid"/>
          </a:ln>
        </p:spPr>
      </p:sp>
      <p:sp>
        <p:nvSpPr>
          <p:cNvPr id="55" name="Text 52"/>
          <p:cNvSpPr/>
          <p:nvPr/>
        </p:nvSpPr>
        <p:spPr>
          <a:xfrm>
            <a:off x="5615090" y="3242426"/>
            <a:ext cx="1386802" cy="182880"/>
          </a:xfrm>
          <a:prstGeom prst="rect">
            <a:avLst/>
          </a:prstGeom>
          <a:noFill/>
          <a:ln/>
        </p:spPr>
        <p:txBody>
          <a:bodyPr wrap="square" lIns="0" tIns="0" rIns="0" bIns="0" rtlCol="0" anchor="t"/>
          <a:lstStyle/>
          <a:p>
            <a:pPr indent="0" marL="0">
              <a:buNone/>
            </a:pPr>
            <a:r>
              <a:rPr lang="en-US" sz="850" b="1" dirty="0">
                <a:solidFill>
                  <a:srgbClr val="1D6B73"/>
                </a:solidFill>
                <a:latin typeface="Consolas" pitchFamily="34" charset="0"/>
                <a:ea typeface="Consolas" pitchFamily="34" charset="-122"/>
                <a:cs typeface="Consolas" pitchFamily="34" charset="-120"/>
              </a:rPr>
              <a:t>vite-env-proxy</a:t>
            </a:r>
            <a:endParaRPr lang="en-US" sz="850" dirty="0"/>
          </a:p>
        </p:txBody>
      </p:sp>
      <p:sp>
        <p:nvSpPr>
          <p:cNvPr id="56" name="Text 53"/>
          <p:cNvSpPr/>
          <p:nvPr/>
        </p:nvSpPr>
        <p:spPr>
          <a:xfrm>
            <a:off x="5966413" y="3399597"/>
            <a:ext cx="739628" cy="18288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67932ec</a:t>
            </a:r>
            <a:endParaRPr lang="en-US" sz="850" dirty="0"/>
          </a:p>
        </p:txBody>
      </p:sp>
      <p:sp>
        <p:nvSpPr>
          <p:cNvPr id="57" name="Text 54"/>
          <p:cNvSpPr/>
          <p:nvPr/>
        </p:nvSpPr>
        <p:spPr>
          <a:xfrm>
            <a:off x="7131326" y="2151475"/>
            <a:ext cx="3050964" cy="182880"/>
          </a:xfrm>
          <a:prstGeom prst="rect">
            <a:avLst/>
          </a:prstGeom>
          <a:noFill/>
          <a:ln/>
        </p:spPr>
        <p:txBody>
          <a:bodyPr wrap="square" lIns="0" tIns="0" rIns="0" bIns="0" rtlCol="0" anchor="t"/>
          <a:lstStyle/>
          <a:p>
            <a:pPr indent="0" marL="0">
              <a:buNone/>
            </a:pPr>
            <a:r>
              <a:rPr lang="en-US" sz="850" b="1" dirty="0">
                <a:solidFill>
                  <a:srgbClr val="8A5A00"/>
                </a:solidFill>
                <a:latin typeface="Consolas" pitchFamily="34" charset="0"/>
                <a:ea typeface="Consolas" pitchFamily="34" charset="-122"/>
                <a:cs typeface="Consolas" pitchFamily="34" charset="-120"/>
              </a:rPr>
              <a:t>feature/post-baseline-validation</a:t>
            </a:r>
            <a:endParaRPr lang="en-US" sz="850" dirty="0"/>
          </a:p>
        </p:txBody>
      </p:sp>
      <p:sp>
        <p:nvSpPr>
          <p:cNvPr id="58" name="Shape 55"/>
          <p:cNvSpPr/>
          <p:nvPr/>
        </p:nvSpPr>
        <p:spPr>
          <a:xfrm>
            <a:off x="7131326" y="2381494"/>
            <a:ext cx="138680" cy="138680"/>
          </a:xfrm>
          <a:prstGeom prst="rect">
            <a:avLst/>
          </a:prstGeom>
          <a:solidFill>
            <a:srgbClr val="DFF0E4"/>
          </a:solidFill>
          <a:ln w="9525">
            <a:solidFill>
              <a:srgbClr val="2F7D4A"/>
            </a:solidFill>
            <a:prstDash val="solid"/>
          </a:ln>
        </p:spPr>
      </p:sp>
      <p:sp>
        <p:nvSpPr>
          <p:cNvPr id="59" name="Text 56"/>
          <p:cNvSpPr/>
          <p:nvPr/>
        </p:nvSpPr>
        <p:spPr>
          <a:xfrm>
            <a:off x="7131326" y="2381494"/>
            <a:ext cx="138680" cy="138680"/>
          </a:xfrm>
          <a:prstGeom prst="rect">
            <a:avLst/>
          </a:prstGeom>
          <a:noFill/>
          <a:ln/>
        </p:spPr>
        <p:txBody>
          <a:bodyPr wrap="square" lIns="0" tIns="0" rIns="0" bIns="0" rtlCol="0" anchor="ctr"/>
          <a:lstStyle/>
          <a:p>
            <a:pPr algn="ctr" indent="0" marL="0">
              <a:buNone/>
            </a:pPr>
            <a:r>
              <a:rPr lang="en-US" sz="650" b="1" dirty="0">
                <a:solidFill>
                  <a:srgbClr val="2F7D4A"/>
                </a:solidFill>
                <a:latin typeface="Consolas" pitchFamily="34" charset="0"/>
                <a:ea typeface="Consolas" pitchFamily="34" charset="-122"/>
                <a:cs typeface="Consolas" pitchFamily="34" charset="-120"/>
              </a:rPr>
              <a:t>1</a:t>
            </a:r>
            <a:endParaRPr lang="en-US" sz="650" dirty="0"/>
          </a:p>
        </p:txBody>
      </p:sp>
      <p:sp>
        <p:nvSpPr>
          <p:cNvPr id="60" name="Shape 57"/>
          <p:cNvSpPr/>
          <p:nvPr/>
        </p:nvSpPr>
        <p:spPr>
          <a:xfrm>
            <a:off x="7288497" y="2381494"/>
            <a:ext cx="138680" cy="138680"/>
          </a:xfrm>
          <a:prstGeom prst="rect">
            <a:avLst/>
          </a:prstGeom>
          <a:solidFill>
            <a:srgbClr val="DFF0E4"/>
          </a:solidFill>
          <a:ln w="9525">
            <a:solidFill>
              <a:srgbClr val="2F7D4A"/>
            </a:solidFill>
            <a:prstDash val="solid"/>
          </a:ln>
        </p:spPr>
      </p:sp>
      <p:sp>
        <p:nvSpPr>
          <p:cNvPr id="61" name="Text 58"/>
          <p:cNvSpPr/>
          <p:nvPr/>
        </p:nvSpPr>
        <p:spPr>
          <a:xfrm>
            <a:off x="7288497" y="2381494"/>
            <a:ext cx="138680" cy="138680"/>
          </a:xfrm>
          <a:prstGeom prst="rect">
            <a:avLst/>
          </a:prstGeom>
          <a:noFill/>
          <a:ln/>
        </p:spPr>
        <p:txBody>
          <a:bodyPr wrap="square" lIns="0" tIns="0" rIns="0" bIns="0" rtlCol="0" anchor="ctr"/>
          <a:lstStyle/>
          <a:p>
            <a:pPr algn="ctr" indent="0" marL="0">
              <a:buNone/>
            </a:pPr>
            <a:r>
              <a:rPr lang="en-US" sz="650" b="1" dirty="0">
                <a:solidFill>
                  <a:srgbClr val="2F7D4A"/>
                </a:solidFill>
                <a:latin typeface="Consolas" pitchFamily="34" charset="0"/>
                <a:ea typeface="Consolas" pitchFamily="34" charset="-122"/>
                <a:cs typeface="Consolas" pitchFamily="34" charset="-120"/>
              </a:rPr>
              <a:t>2</a:t>
            </a:r>
            <a:endParaRPr lang="en-US" sz="650" dirty="0"/>
          </a:p>
        </p:txBody>
      </p:sp>
      <p:sp>
        <p:nvSpPr>
          <p:cNvPr id="62" name="Shape 59"/>
          <p:cNvSpPr/>
          <p:nvPr/>
        </p:nvSpPr>
        <p:spPr>
          <a:xfrm>
            <a:off x="7445668" y="2381494"/>
            <a:ext cx="138680" cy="138680"/>
          </a:xfrm>
          <a:prstGeom prst="rect">
            <a:avLst/>
          </a:prstGeom>
          <a:solidFill>
            <a:srgbClr val="DFF0E4"/>
          </a:solidFill>
          <a:ln w="9525">
            <a:solidFill>
              <a:srgbClr val="2F7D4A"/>
            </a:solidFill>
            <a:prstDash val="solid"/>
          </a:ln>
        </p:spPr>
      </p:sp>
      <p:sp>
        <p:nvSpPr>
          <p:cNvPr id="63" name="Text 60"/>
          <p:cNvSpPr/>
          <p:nvPr/>
        </p:nvSpPr>
        <p:spPr>
          <a:xfrm>
            <a:off x="7445668" y="2381494"/>
            <a:ext cx="138680" cy="138680"/>
          </a:xfrm>
          <a:prstGeom prst="rect">
            <a:avLst/>
          </a:prstGeom>
          <a:noFill/>
          <a:ln/>
        </p:spPr>
        <p:txBody>
          <a:bodyPr wrap="square" lIns="0" tIns="0" rIns="0" bIns="0" rtlCol="0" anchor="ctr"/>
          <a:lstStyle/>
          <a:p>
            <a:pPr algn="ctr" indent="0" marL="0">
              <a:buNone/>
            </a:pPr>
            <a:r>
              <a:rPr lang="en-US" sz="650" b="1" dirty="0">
                <a:solidFill>
                  <a:srgbClr val="2F7D4A"/>
                </a:solidFill>
                <a:latin typeface="Consolas" pitchFamily="34" charset="0"/>
                <a:ea typeface="Consolas" pitchFamily="34" charset="-122"/>
                <a:cs typeface="Consolas" pitchFamily="34" charset="-120"/>
              </a:rPr>
              <a:t>3</a:t>
            </a:r>
            <a:endParaRPr lang="en-US" sz="650" dirty="0"/>
          </a:p>
        </p:txBody>
      </p:sp>
      <p:sp>
        <p:nvSpPr>
          <p:cNvPr id="64" name="Shape 61"/>
          <p:cNvSpPr/>
          <p:nvPr/>
        </p:nvSpPr>
        <p:spPr>
          <a:xfrm>
            <a:off x="7602839" y="2381494"/>
            <a:ext cx="138680" cy="138680"/>
          </a:xfrm>
          <a:prstGeom prst="rect">
            <a:avLst/>
          </a:prstGeom>
          <a:solidFill>
            <a:srgbClr val="DFF0E4"/>
          </a:solidFill>
          <a:ln w="9525">
            <a:solidFill>
              <a:srgbClr val="2F7D4A"/>
            </a:solidFill>
            <a:prstDash val="solid"/>
          </a:ln>
        </p:spPr>
      </p:sp>
      <p:sp>
        <p:nvSpPr>
          <p:cNvPr id="65" name="Text 62"/>
          <p:cNvSpPr/>
          <p:nvPr/>
        </p:nvSpPr>
        <p:spPr>
          <a:xfrm>
            <a:off x="7602839" y="2381494"/>
            <a:ext cx="138680" cy="138680"/>
          </a:xfrm>
          <a:prstGeom prst="rect">
            <a:avLst/>
          </a:prstGeom>
          <a:noFill/>
          <a:ln/>
        </p:spPr>
        <p:txBody>
          <a:bodyPr wrap="square" lIns="0" tIns="0" rIns="0" bIns="0" rtlCol="0" anchor="ctr"/>
          <a:lstStyle/>
          <a:p>
            <a:pPr algn="ctr" indent="0" marL="0">
              <a:buNone/>
            </a:pPr>
            <a:r>
              <a:rPr lang="en-US" sz="650" b="1" dirty="0">
                <a:solidFill>
                  <a:srgbClr val="2F7D4A"/>
                </a:solidFill>
                <a:latin typeface="Consolas" pitchFamily="34" charset="0"/>
                <a:ea typeface="Consolas" pitchFamily="34" charset="-122"/>
                <a:cs typeface="Consolas" pitchFamily="34" charset="-120"/>
              </a:rPr>
              <a:t>4</a:t>
            </a:r>
            <a:endParaRPr lang="en-US" sz="650" dirty="0"/>
          </a:p>
        </p:txBody>
      </p:sp>
      <p:sp>
        <p:nvSpPr>
          <p:cNvPr id="66" name="Shape 63"/>
          <p:cNvSpPr/>
          <p:nvPr/>
        </p:nvSpPr>
        <p:spPr>
          <a:xfrm>
            <a:off x="7760010" y="2381494"/>
            <a:ext cx="138680" cy="138680"/>
          </a:xfrm>
          <a:prstGeom prst="rect">
            <a:avLst/>
          </a:prstGeom>
          <a:solidFill>
            <a:srgbClr val="DFF0E4"/>
          </a:solidFill>
          <a:ln w="9525">
            <a:solidFill>
              <a:srgbClr val="2F7D4A"/>
            </a:solidFill>
            <a:prstDash val="solid"/>
          </a:ln>
        </p:spPr>
      </p:sp>
      <p:sp>
        <p:nvSpPr>
          <p:cNvPr id="67" name="Text 64"/>
          <p:cNvSpPr/>
          <p:nvPr/>
        </p:nvSpPr>
        <p:spPr>
          <a:xfrm>
            <a:off x="7760010" y="2381494"/>
            <a:ext cx="138680" cy="138680"/>
          </a:xfrm>
          <a:prstGeom prst="rect">
            <a:avLst/>
          </a:prstGeom>
          <a:noFill/>
          <a:ln/>
        </p:spPr>
        <p:txBody>
          <a:bodyPr wrap="square" lIns="0" tIns="0" rIns="0" bIns="0" rtlCol="0" anchor="ctr"/>
          <a:lstStyle/>
          <a:p>
            <a:pPr algn="ctr" indent="0" marL="0">
              <a:buNone/>
            </a:pPr>
            <a:r>
              <a:rPr lang="en-US" sz="650" b="1" dirty="0">
                <a:solidFill>
                  <a:srgbClr val="2F7D4A"/>
                </a:solidFill>
                <a:latin typeface="Consolas" pitchFamily="34" charset="0"/>
                <a:ea typeface="Consolas" pitchFamily="34" charset="-122"/>
                <a:cs typeface="Consolas" pitchFamily="34" charset="-120"/>
              </a:rPr>
              <a:t>5</a:t>
            </a:r>
            <a:endParaRPr lang="en-US" sz="650" dirty="0"/>
          </a:p>
        </p:txBody>
      </p:sp>
      <p:sp>
        <p:nvSpPr>
          <p:cNvPr id="68" name="Shape 65"/>
          <p:cNvSpPr/>
          <p:nvPr/>
        </p:nvSpPr>
        <p:spPr>
          <a:xfrm>
            <a:off x="7917181" y="2381494"/>
            <a:ext cx="138680" cy="138680"/>
          </a:xfrm>
          <a:prstGeom prst="rect">
            <a:avLst/>
          </a:prstGeom>
          <a:solidFill>
            <a:srgbClr val="DFF0E4"/>
          </a:solidFill>
          <a:ln w="9525">
            <a:solidFill>
              <a:srgbClr val="2F7D4A"/>
            </a:solidFill>
            <a:prstDash val="solid"/>
          </a:ln>
        </p:spPr>
      </p:sp>
      <p:sp>
        <p:nvSpPr>
          <p:cNvPr id="69" name="Text 66"/>
          <p:cNvSpPr/>
          <p:nvPr/>
        </p:nvSpPr>
        <p:spPr>
          <a:xfrm>
            <a:off x="7917181" y="2381494"/>
            <a:ext cx="138680" cy="138680"/>
          </a:xfrm>
          <a:prstGeom prst="rect">
            <a:avLst/>
          </a:prstGeom>
          <a:noFill/>
          <a:ln/>
        </p:spPr>
        <p:txBody>
          <a:bodyPr wrap="square" lIns="0" tIns="0" rIns="0" bIns="0" rtlCol="0" anchor="ctr"/>
          <a:lstStyle/>
          <a:p>
            <a:pPr algn="ctr" indent="0" marL="0">
              <a:buNone/>
            </a:pPr>
            <a:r>
              <a:rPr lang="en-US" sz="650" b="1" dirty="0">
                <a:solidFill>
                  <a:srgbClr val="2F7D4A"/>
                </a:solidFill>
                <a:latin typeface="Consolas" pitchFamily="34" charset="0"/>
                <a:ea typeface="Consolas" pitchFamily="34" charset="-122"/>
                <a:cs typeface="Consolas" pitchFamily="34" charset="-120"/>
              </a:rPr>
              <a:t>6</a:t>
            </a:r>
            <a:endParaRPr lang="en-US" sz="650" dirty="0"/>
          </a:p>
        </p:txBody>
      </p:sp>
      <p:sp>
        <p:nvSpPr>
          <p:cNvPr id="70" name="Shape 67"/>
          <p:cNvSpPr/>
          <p:nvPr/>
        </p:nvSpPr>
        <p:spPr>
          <a:xfrm>
            <a:off x="7131326" y="2566401"/>
            <a:ext cx="138680" cy="138680"/>
          </a:xfrm>
          <a:prstGeom prst="rect">
            <a:avLst/>
          </a:prstGeom>
          <a:solidFill>
            <a:srgbClr val="DFF0E4"/>
          </a:solidFill>
          <a:ln w="9525">
            <a:solidFill>
              <a:srgbClr val="2F7D4A"/>
            </a:solidFill>
            <a:prstDash val="solid"/>
          </a:ln>
        </p:spPr>
      </p:sp>
      <p:sp>
        <p:nvSpPr>
          <p:cNvPr id="71" name="Text 68"/>
          <p:cNvSpPr/>
          <p:nvPr/>
        </p:nvSpPr>
        <p:spPr>
          <a:xfrm>
            <a:off x="7131326" y="2566401"/>
            <a:ext cx="138680" cy="138680"/>
          </a:xfrm>
          <a:prstGeom prst="rect">
            <a:avLst/>
          </a:prstGeom>
          <a:noFill/>
          <a:ln/>
        </p:spPr>
        <p:txBody>
          <a:bodyPr wrap="square" lIns="0" tIns="0" rIns="0" bIns="0" rtlCol="0" anchor="ctr"/>
          <a:lstStyle/>
          <a:p>
            <a:pPr algn="ctr" indent="0" marL="0">
              <a:buNone/>
            </a:pPr>
            <a:r>
              <a:rPr lang="en-US" sz="650" b="1" dirty="0">
                <a:solidFill>
                  <a:srgbClr val="2F7D4A"/>
                </a:solidFill>
                <a:latin typeface="Consolas" pitchFamily="34" charset="0"/>
                <a:ea typeface="Consolas" pitchFamily="34" charset="-122"/>
                <a:cs typeface="Consolas" pitchFamily="34" charset="-120"/>
              </a:rPr>
              <a:t>7</a:t>
            </a:r>
            <a:endParaRPr lang="en-US" sz="650" dirty="0"/>
          </a:p>
        </p:txBody>
      </p:sp>
      <p:sp>
        <p:nvSpPr>
          <p:cNvPr id="72" name="Shape 69"/>
          <p:cNvSpPr/>
          <p:nvPr/>
        </p:nvSpPr>
        <p:spPr>
          <a:xfrm>
            <a:off x="7288497" y="2566401"/>
            <a:ext cx="138680" cy="138680"/>
          </a:xfrm>
          <a:prstGeom prst="rect">
            <a:avLst/>
          </a:prstGeom>
          <a:solidFill>
            <a:srgbClr val="DFF0E4"/>
          </a:solidFill>
          <a:ln w="9525">
            <a:solidFill>
              <a:srgbClr val="2F7D4A"/>
            </a:solidFill>
            <a:prstDash val="solid"/>
          </a:ln>
        </p:spPr>
      </p:sp>
      <p:sp>
        <p:nvSpPr>
          <p:cNvPr id="73" name="Text 70"/>
          <p:cNvSpPr/>
          <p:nvPr/>
        </p:nvSpPr>
        <p:spPr>
          <a:xfrm>
            <a:off x="7288497" y="2566401"/>
            <a:ext cx="138680" cy="138680"/>
          </a:xfrm>
          <a:prstGeom prst="rect">
            <a:avLst/>
          </a:prstGeom>
          <a:noFill/>
          <a:ln/>
        </p:spPr>
        <p:txBody>
          <a:bodyPr wrap="square" lIns="0" tIns="0" rIns="0" bIns="0" rtlCol="0" anchor="ctr"/>
          <a:lstStyle/>
          <a:p>
            <a:pPr algn="ctr" indent="0" marL="0">
              <a:buNone/>
            </a:pPr>
            <a:r>
              <a:rPr lang="en-US" sz="650" b="1" dirty="0">
                <a:solidFill>
                  <a:srgbClr val="2F7D4A"/>
                </a:solidFill>
                <a:latin typeface="Consolas" pitchFamily="34" charset="0"/>
                <a:ea typeface="Consolas" pitchFamily="34" charset="-122"/>
                <a:cs typeface="Consolas" pitchFamily="34" charset="-120"/>
              </a:rPr>
              <a:t>8</a:t>
            </a:r>
            <a:endParaRPr lang="en-US" sz="650" dirty="0"/>
          </a:p>
        </p:txBody>
      </p:sp>
      <p:sp>
        <p:nvSpPr>
          <p:cNvPr id="74" name="Shape 71"/>
          <p:cNvSpPr/>
          <p:nvPr/>
        </p:nvSpPr>
        <p:spPr>
          <a:xfrm>
            <a:off x="7445668" y="2566401"/>
            <a:ext cx="138680" cy="138680"/>
          </a:xfrm>
          <a:prstGeom prst="rect">
            <a:avLst/>
          </a:prstGeom>
          <a:solidFill>
            <a:srgbClr val="DFF0E4"/>
          </a:solidFill>
          <a:ln w="9525">
            <a:solidFill>
              <a:srgbClr val="2F7D4A"/>
            </a:solidFill>
            <a:prstDash val="solid"/>
          </a:ln>
        </p:spPr>
      </p:sp>
      <p:sp>
        <p:nvSpPr>
          <p:cNvPr id="75" name="Text 72"/>
          <p:cNvSpPr/>
          <p:nvPr/>
        </p:nvSpPr>
        <p:spPr>
          <a:xfrm>
            <a:off x="7445668" y="2566401"/>
            <a:ext cx="138680" cy="138680"/>
          </a:xfrm>
          <a:prstGeom prst="rect">
            <a:avLst/>
          </a:prstGeom>
          <a:noFill/>
          <a:ln/>
        </p:spPr>
        <p:txBody>
          <a:bodyPr wrap="square" lIns="0" tIns="0" rIns="0" bIns="0" rtlCol="0" anchor="ctr"/>
          <a:lstStyle/>
          <a:p>
            <a:pPr algn="ctr" indent="0" marL="0">
              <a:buNone/>
            </a:pPr>
            <a:r>
              <a:rPr lang="en-US" sz="650" b="1" dirty="0">
                <a:solidFill>
                  <a:srgbClr val="2F7D4A"/>
                </a:solidFill>
                <a:latin typeface="Consolas" pitchFamily="34" charset="0"/>
                <a:ea typeface="Consolas" pitchFamily="34" charset="-122"/>
                <a:cs typeface="Consolas" pitchFamily="34" charset="-120"/>
              </a:rPr>
              <a:t>9</a:t>
            </a:r>
            <a:endParaRPr lang="en-US" sz="650" dirty="0"/>
          </a:p>
        </p:txBody>
      </p:sp>
      <p:sp>
        <p:nvSpPr>
          <p:cNvPr id="76" name="Shape 73"/>
          <p:cNvSpPr/>
          <p:nvPr/>
        </p:nvSpPr>
        <p:spPr>
          <a:xfrm>
            <a:off x="7602839" y="2566401"/>
            <a:ext cx="138680" cy="138680"/>
          </a:xfrm>
          <a:prstGeom prst="rect">
            <a:avLst/>
          </a:prstGeom>
          <a:solidFill>
            <a:srgbClr val="DFF0E4"/>
          </a:solidFill>
          <a:ln w="9525">
            <a:solidFill>
              <a:srgbClr val="2F7D4A"/>
            </a:solidFill>
            <a:prstDash val="solid"/>
          </a:ln>
        </p:spPr>
      </p:sp>
      <p:sp>
        <p:nvSpPr>
          <p:cNvPr id="77" name="Text 74"/>
          <p:cNvSpPr/>
          <p:nvPr/>
        </p:nvSpPr>
        <p:spPr>
          <a:xfrm>
            <a:off x="7602839" y="2566401"/>
            <a:ext cx="138680" cy="138680"/>
          </a:xfrm>
          <a:prstGeom prst="rect">
            <a:avLst/>
          </a:prstGeom>
          <a:noFill/>
          <a:ln/>
        </p:spPr>
        <p:txBody>
          <a:bodyPr wrap="square" lIns="0" tIns="0" rIns="0" bIns="0" rtlCol="0" anchor="ctr"/>
          <a:lstStyle/>
          <a:p>
            <a:pPr algn="ctr" indent="0" marL="0">
              <a:buNone/>
            </a:pPr>
            <a:r>
              <a:rPr lang="en-US" sz="650" b="1" dirty="0">
                <a:solidFill>
                  <a:srgbClr val="2F7D4A"/>
                </a:solidFill>
                <a:latin typeface="Consolas" pitchFamily="34" charset="0"/>
                <a:ea typeface="Consolas" pitchFamily="34" charset="-122"/>
                <a:cs typeface="Consolas" pitchFamily="34" charset="-120"/>
              </a:rPr>
              <a:t>10</a:t>
            </a:r>
            <a:endParaRPr lang="en-US" sz="650" dirty="0"/>
          </a:p>
        </p:txBody>
      </p:sp>
      <p:sp>
        <p:nvSpPr>
          <p:cNvPr id="78" name="Shape 75"/>
          <p:cNvSpPr/>
          <p:nvPr/>
        </p:nvSpPr>
        <p:spPr>
          <a:xfrm>
            <a:off x="7760010" y="2566401"/>
            <a:ext cx="138680" cy="138680"/>
          </a:xfrm>
          <a:prstGeom prst="rect">
            <a:avLst/>
          </a:prstGeom>
          <a:solidFill>
            <a:srgbClr val="DFF0E4"/>
          </a:solidFill>
          <a:ln w="9525">
            <a:solidFill>
              <a:srgbClr val="2F7D4A"/>
            </a:solidFill>
            <a:prstDash val="solid"/>
          </a:ln>
        </p:spPr>
      </p:sp>
      <p:sp>
        <p:nvSpPr>
          <p:cNvPr id="79" name="Text 76"/>
          <p:cNvSpPr/>
          <p:nvPr/>
        </p:nvSpPr>
        <p:spPr>
          <a:xfrm>
            <a:off x="7760010" y="2566401"/>
            <a:ext cx="138680" cy="138680"/>
          </a:xfrm>
          <a:prstGeom prst="rect">
            <a:avLst/>
          </a:prstGeom>
          <a:noFill/>
          <a:ln/>
        </p:spPr>
        <p:txBody>
          <a:bodyPr wrap="square" lIns="0" tIns="0" rIns="0" bIns="0" rtlCol="0" anchor="ctr"/>
          <a:lstStyle/>
          <a:p>
            <a:pPr algn="ctr" indent="0" marL="0">
              <a:buNone/>
            </a:pPr>
            <a:r>
              <a:rPr lang="en-US" sz="650" b="1" dirty="0">
                <a:solidFill>
                  <a:srgbClr val="2F7D4A"/>
                </a:solidFill>
                <a:latin typeface="Consolas" pitchFamily="34" charset="0"/>
                <a:ea typeface="Consolas" pitchFamily="34" charset="-122"/>
                <a:cs typeface="Consolas" pitchFamily="34" charset="-120"/>
              </a:rPr>
              <a:t>11</a:t>
            </a:r>
            <a:endParaRPr lang="en-US" sz="650" dirty="0"/>
          </a:p>
        </p:txBody>
      </p:sp>
      <p:sp>
        <p:nvSpPr>
          <p:cNvPr id="80" name="Text 77"/>
          <p:cNvSpPr/>
          <p:nvPr/>
        </p:nvSpPr>
        <p:spPr>
          <a:xfrm>
            <a:off x="8111333" y="2373363"/>
            <a:ext cx="1664162" cy="18288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VF-001 a VF-011</a:t>
            </a:r>
            <a:endParaRPr lang="en-US" sz="850" dirty="0"/>
          </a:p>
        </p:txBody>
      </p:sp>
      <p:sp>
        <p:nvSpPr>
          <p:cNvPr id="81" name="Text 78"/>
          <p:cNvSpPr/>
          <p:nvPr/>
        </p:nvSpPr>
        <p:spPr>
          <a:xfrm>
            <a:off x="8111333" y="2530534"/>
            <a:ext cx="1664162" cy="182880"/>
          </a:xfrm>
          <a:prstGeom prst="rect">
            <a:avLst/>
          </a:prstGeom>
          <a:noFill/>
          <a:ln/>
        </p:spPr>
        <p:txBody>
          <a:bodyPr wrap="square" lIns="0" tIns="0" rIns="0" bIns="0" rtlCol="0" anchor="t"/>
          <a:lstStyle/>
          <a:p>
            <a:pPr indent="0" marL="0">
              <a:buNone/>
            </a:pPr>
            <a:r>
              <a:rPr lang="en-US" sz="850" b="1" dirty="0">
                <a:solidFill>
                  <a:srgbClr val="2F7D4A"/>
                </a:solidFill>
                <a:latin typeface="Consolas" pitchFamily="34" charset="0"/>
                <a:ea typeface="Consolas" pitchFamily="34" charset="-122"/>
                <a:cs typeface="Consolas" pitchFamily="34" charset="-120"/>
              </a:rPr>
              <a:t>11 / 11 CLOSED</a:t>
            </a:r>
            <a:endParaRPr lang="en-US" sz="850" dirty="0"/>
          </a:p>
        </p:txBody>
      </p:sp>
      <p:sp>
        <p:nvSpPr>
          <p:cNvPr id="82" name="Shape 79"/>
          <p:cNvSpPr/>
          <p:nvPr/>
        </p:nvSpPr>
        <p:spPr>
          <a:xfrm>
            <a:off x="8425675" y="3139612"/>
            <a:ext cx="147926" cy="147926"/>
          </a:xfrm>
          <a:prstGeom prst="ellipse">
            <a:avLst/>
          </a:prstGeom>
          <a:solidFill>
            <a:srgbClr val="F2B233"/>
          </a:solidFill>
          <a:ln w="25400">
            <a:solidFill>
              <a:srgbClr val="F2B233"/>
            </a:solidFill>
            <a:prstDash val="solid"/>
          </a:ln>
        </p:spPr>
      </p:sp>
      <p:sp>
        <p:nvSpPr>
          <p:cNvPr id="83" name="Text 80"/>
          <p:cNvSpPr/>
          <p:nvPr/>
        </p:nvSpPr>
        <p:spPr>
          <a:xfrm>
            <a:off x="7131326" y="2863367"/>
            <a:ext cx="4437766" cy="182880"/>
          </a:xfrm>
          <a:prstGeom prst="rect">
            <a:avLst/>
          </a:prstGeom>
          <a:noFill/>
          <a:ln/>
        </p:spPr>
        <p:txBody>
          <a:bodyPr wrap="square" lIns="0" tIns="0" rIns="0" bIns="0" rtlCol="0" anchor="t"/>
          <a:lstStyle/>
          <a:p>
            <a:pPr indent="0" marL="0">
              <a:buNone/>
            </a:pPr>
            <a:r>
              <a:rPr lang="en-US" sz="850" b="1" dirty="0">
                <a:solidFill>
                  <a:srgbClr val="13232B"/>
                </a:solidFill>
                <a:latin typeface="Consolas" pitchFamily="34" charset="0"/>
                <a:ea typeface="Consolas" pitchFamily="34" charset="-122"/>
                <a:cs typeface="Consolas" pitchFamily="34" charset="-120"/>
              </a:rPr>
              <a:t>244fa09 · feat: complete post-baseline functional validation</a:t>
            </a:r>
            <a:endParaRPr lang="en-US" sz="850" dirty="0"/>
          </a:p>
        </p:txBody>
      </p:sp>
      <p:sp>
        <p:nvSpPr>
          <p:cNvPr id="84" name="Shape 81"/>
          <p:cNvSpPr/>
          <p:nvPr/>
        </p:nvSpPr>
        <p:spPr>
          <a:xfrm>
            <a:off x="9830967" y="3574143"/>
            <a:ext cx="110944" cy="110944"/>
          </a:xfrm>
          <a:prstGeom prst="ellipse">
            <a:avLst/>
          </a:prstGeom>
          <a:solidFill>
            <a:srgbClr val="FFFFFF"/>
          </a:solidFill>
          <a:ln w="25400">
            <a:solidFill>
              <a:srgbClr val="2F7D4A"/>
            </a:solidFill>
            <a:prstDash val="solid"/>
          </a:ln>
        </p:spPr>
      </p:sp>
      <p:sp>
        <p:nvSpPr>
          <p:cNvPr id="85" name="Text 82"/>
          <p:cNvSpPr/>
          <p:nvPr/>
        </p:nvSpPr>
        <p:spPr>
          <a:xfrm>
            <a:off x="9257756" y="3242426"/>
            <a:ext cx="1756616" cy="182880"/>
          </a:xfrm>
          <a:prstGeom prst="rect">
            <a:avLst/>
          </a:prstGeom>
          <a:noFill/>
          <a:ln/>
        </p:spPr>
        <p:txBody>
          <a:bodyPr wrap="square" lIns="0" tIns="0" rIns="0" bIns="0" rtlCol="0" anchor="t"/>
          <a:lstStyle/>
          <a:p>
            <a:pPr indent="0" marL="0">
              <a:buNone/>
            </a:pPr>
            <a:r>
              <a:rPr lang="en-US" sz="850" b="1" dirty="0">
                <a:solidFill>
                  <a:srgbClr val="2F7D4A"/>
                </a:solidFill>
                <a:latin typeface="Consolas" pitchFamily="34" charset="0"/>
                <a:ea typeface="Consolas" pitchFamily="34" charset="-122"/>
                <a:cs typeface="Consolas" pitchFamily="34" charset="-120"/>
              </a:rPr>
              <a:t>docs/close-post-baseline-…</a:t>
            </a:r>
            <a:endParaRPr lang="en-US" sz="850" dirty="0"/>
          </a:p>
        </p:txBody>
      </p:sp>
      <p:sp>
        <p:nvSpPr>
          <p:cNvPr id="86" name="Text 83"/>
          <p:cNvSpPr/>
          <p:nvPr/>
        </p:nvSpPr>
        <p:spPr>
          <a:xfrm>
            <a:off x="9683042" y="3399597"/>
            <a:ext cx="739628" cy="18288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6d9d4d1</a:t>
            </a:r>
            <a:endParaRPr lang="en-US" sz="850" dirty="0"/>
          </a:p>
        </p:txBody>
      </p:sp>
      <p:sp>
        <p:nvSpPr>
          <p:cNvPr id="87" name="Shape 84"/>
          <p:cNvSpPr/>
          <p:nvPr/>
        </p:nvSpPr>
        <p:spPr>
          <a:xfrm>
            <a:off x="1121851" y="4156600"/>
            <a:ext cx="147926" cy="147926"/>
          </a:xfrm>
          <a:prstGeom prst="ellipse">
            <a:avLst/>
          </a:prstGeom>
          <a:solidFill>
            <a:srgbClr val="FFFFFF"/>
          </a:solidFill>
          <a:ln w="25400">
            <a:solidFill>
              <a:srgbClr val="13232B"/>
            </a:solidFill>
            <a:prstDash val="solid"/>
          </a:ln>
        </p:spPr>
      </p:sp>
      <p:sp>
        <p:nvSpPr>
          <p:cNvPr id="88" name="Text 85"/>
          <p:cNvSpPr/>
          <p:nvPr/>
        </p:nvSpPr>
        <p:spPr>
          <a:xfrm>
            <a:off x="918454" y="4407339"/>
            <a:ext cx="832081" cy="182880"/>
          </a:xfrm>
          <a:prstGeom prst="rect">
            <a:avLst/>
          </a:prstGeom>
          <a:noFill/>
          <a:ln/>
        </p:spPr>
        <p:txBody>
          <a:bodyPr wrap="square" lIns="0" tIns="0" rIns="0" bIns="0" rtlCol="0" anchor="t"/>
          <a:lstStyle/>
          <a:p>
            <a:pPr indent="0" marL="0">
              <a:buNone/>
            </a:pPr>
            <a:r>
              <a:rPr lang="en-US" sz="850" b="1" dirty="0">
                <a:solidFill>
                  <a:srgbClr val="13232B"/>
                </a:solidFill>
                <a:latin typeface="Consolas" pitchFamily="34" charset="0"/>
                <a:ea typeface="Consolas" pitchFamily="34" charset="-122"/>
                <a:cs typeface="Consolas" pitchFamily="34" charset="-120"/>
              </a:rPr>
              <a:t>f8fb451</a:t>
            </a:r>
            <a:endParaRPr lang="en-US" sz="850" dirty="0"/>
          </a:p>
        </p:txBody>
      </p:sp>
      <p:sp>
        <p:nvSpPr>
          <p:cNvPr id="89" name="Text 86"/>
          <p:cNvSpPr/>
          <p:nvPr/>
        </p:nvSpPr>
        <p:spPr>
          <a:xfrm>
            <a:off x="918454" y="4564510"/>
            <a:ext cx="832081" cy="18288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T001–T168</a:t>
            </a:r>
            <a:endParaRPr lang="en-US" sz="850" dirty="0"/>
          </a:p>
        </p:txBody>
      </p:sp>
      <p:sp>
        <p:nvSpPr>
          <p:cNvPr id="90" name="Shape 87"/>
          <p:cNvSpPr/>
          <p:nvPr/>
        </p:nvSpPr>
        <p:spPr>
          <a:xfrm>
            <a:off x="2869222" y="4147355"/>
            <a:ext cx="166416" cy="166416"/>
          </a:xfrm>
          <a:prstGeom prst="ellipse">
            <a:avLst/>
          </a:prstGeom>
          <a:solidFill>
            <a:srgbClr val="13232B"/>
          </a:solidFill>
          <a:ln/>
        </p:spPr>
      </p:sp>
      <p:sp>
        <p:nvSpPr>
          <p:cNvPr id="91" name="Shape 88"/>
          <p:cNvSpPr/>
          <p:nvPr/>
        </p:nvSpPr>
        <p:spPr>
          <a:xfrm>
            <a:off x="2712051" y="3823768"/>
            <a:ext cx="480758" cy="166416"/>
          </a:xfrm>
          <a:prstGeom prst="roundRect">
            <a:avLst>
              <a:gd name="adj" fmla="val 49452"/>
            </a:avLst>
          </a:prstGeom>
          <a:solidFill>
            <a:srgbClr val="13232B"/>
          </a:solidFill>
          <a:ln/>
        </p:spPr>
      </p:sp>
      <p:sp>
        <p:nvSpPr>
          <p:cNvPr id="92" name="Text 89"/>
          <p:cNvSpPr/>
          <p:nvPr/>
        </p:nvSpPr>
        <p:spPr>
          <a:xfrm>
            <a:off x="2712051" y="3823768"/>
            <a:ext cx="480758" cy="166416"/>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PR #1</a:t>
            </a:r>
            <a:endParaRPr lang="en-US" sz="800" dirty="0"/>
          </a:p>
        </p:txBody>
      </p:sp>
      <p:sp>
        <p:nvSpPr>
          <p:cNvPr id="93" name="Text 90"/>
          <p:cNvSpPr/>
          <p:nvPr/>
        </p:nvSpPr>
        <p:spPr>
          <a:xfrm>
            <a:off x="2582616" y="4407339"/>
            <a:ext cx="739628" cy="182880"/>
          </a:xfrm>
          <a:prstGeom prst="rect">
            <a:avLst/>
          </a:prstGeom>
          <a:noFill/>
          <a:ln/>
        </p:spPr>
        <p:txBody>
          <a:bodyPr wrap="square" lIns="0" tIns="0" rIns="0" bIns="0" rtlCol="0" anchor="t"/>
          <a:lstStyle/>
          <a:p>
            <a:pPr algn="ctr" indent="0" marL="0">
              <a:buNone/>
            </a:pPr>
            <a:r>
              <a:rPr lang="en-US" sz="850" b="1" dirty="0">
                <a:solidFill>
                  <a:srgbClr val="13232B"/>
                </a:solidFill>
                <a:latin typeface="Consolas" pitchFamily="34" charset="0"/>
                <a:ea typeface="Consolas" pitchFamily="34" charset="-122"/>
                <a:cs typeface="Consolas" pitchFamily="34" charset="-120"/>
              </a:rPr>
              <a:t>24bae44</a:t>
            </a:r>
            <a:endParaRPr lang="en-US" sz="850" dirty="0"/>
          </a:p>
        </p:txBody>
      </p:sp>
      <p:sp>
        <p:nvSpPr>
          <p:cNvPr id="94" name="Shape 91"/>
          <p:cNvSpPr/>
          <p:nvPr/>
        </p:nvSpPr>
        <p:spPr>
          <a:xfrm>
            <a:off x="4163570" y="4147355"/>
            <a:ext cx="166416" cy="166416"/>
          </a:xfrm>
          <a:prstGeom prst="ellipse">
            <a:avLst/>
          </a:prstGeom>
          <a:solidFill>
            <a:srgbClr val="13232B"/>
          </a:solidFill>
          <a:ln/>
        </p:spPr>
      </p:sp>
      <p:sp>
        <p:nvSpPr>
          <p:cNvPr id="95" name="Shape 92"/>
          <p:cNvSpPr/>
          <p:nvPr/>
        </p:nvSpPr>
        <p:spPr>
          <a:xfrm>
            <a:off x="4006399" y="3823768"/>
            <a:ext cx="480758" cy="166416"/>
          </a:xfrm>
          <a:prstGeom prst="roundRect">
            <a:avLst>
              <a:gd name="adj" fmla="val 49452"/>
            </a:avLst>
          </a:prstGeom>
          <a:solidFill>
            <a:srgbClr val="13232B"/>
          </a:solidFill>
          <a:ln/>
        </p:spPr>
      </p:sp>
      <p:sp>
        <p:nvSpPr>
          <p:cNvPr id="96" name="Text 93"/>
          <p:cNvSpPr/>
          <p:nvPr/>
        </p:nvSpPr>
        <p:spPr>
          <a:xfrm>
            <a:off x="4006399" y="3823768"/>
            <a:ext cx="480758" cy="166416"/>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PR #2</a:t>
            </a:r>
            <a:endParaRPr lang="en-US" sz="800" dirty="0"/>
          </a:p>
        </p:txBody>
      </p:sp>
      <p:sp>
        <p:nvSpPr>
          <p:cNvPr id="97" name="Text 94"/>
          <p:cNvSpPr/>
          <p:nvPr/>
        </p:nvSpPr>
        <p:spPr>
          <a:xfrm>
            <a:off x="3876965" y="4407339"/>
            <a:ext cx="739628" cy="182880"/>
          </a:xfrm>
          <a:prstGeom prst="rect">
            <a:avLst/>
          </a:prstGeom>
          <a:noFill/>
          <a:ln/>
        </p:spPr>
        <p:txBody>
          <a:bodyPr wrap="square" lIns="0" tIns="0" rIns="0" bIns="0" rtlCol="0" anchor="t"/>
          <a:lstStyle/>
          <a:p>
            <a:pPr algn="ctr" indent="0" marL="0">
              <a:buNone/>
            </a:pPr>
            <a:r>
              <a:rPr lang="en-US" sz="850" b="1" dirty="0">
                <a:solidFill>
                  <a:srgbClr val="13232B"/>
                </a:solidFill>
                <a:latin typeface="Consolas" pitchFamily="34" charset="0"/>
                <a:ea typeface="Consolas" pitchFamily="34" charset="-122"/>
                <a:cs typeface="Consolas" pitchFamily="34" charset="-120"/>
              </a:rPr>
              <a:t>e2cc73f</a:t>
            </a:r>
            <a:endParaRPr lang="en-US" sz="850" dirty="0"/>
          </a:p>
        </p:txBody>
      </p:sp>
      <p:sp>
        <p:nvSpPr>
          <p:cNvPr id="98" name="Shape 95"/>
          <p:cNvSpPr/>
          <p:nvPr/>
        </p:nvSpPr>
        <p:spPr>
          <a:xfrm>
            <a:off x="5457919" y="4147355"/>
            <a:ext cx="166416" cy="166416"/>
          </a:xfrm>
          <a:prstGeom prst="ellipse">
            <a:avLst/>
          </a:prstGeom>
          <a:solidFill>
            <a:srgbClr val="13232B"/>
          </a:solidFill>
          <a:ln/>
        </p:spPr>
      </p:sp>
      <p:sp>
        <p:nvSpPr>
          <p:cNvPr id="99" name="Shape 96"/>
          <p:cNvSpPr/>
          <p:nvPr/>
        </p:nvSpPr>
        <p:spPr>
          <a:xfrm>
            <a:off x="5300748" y="3823768"/>
            <a:ext cx="480758" cy="166416"/>
          </a:xfrm>
          <a:prstGeom prst="roundRect">
            <a:avLst>
              <a:gd name="adj" fmla="val 49452"/>
            </a:avLst>
          </a:prstGeom>
          <a:solidFill>
            <a:srgbClr val="13232B"/>
          </a:solidFill>
          <a:ln/>
        </p:spPr>
      </p:sp>
      <p:sp>
        <p:nvSpPr>
          <p:cNvPr id="100" name="Text 97"/>
          <p:cNvSpPr/>
          <p:nvPr/>
        </p:nvSpPr>
        <p:spPr>
          <a:xfrm>
            <a:off x="5300748" y="3823768"/>
            <a:ext cx="480758" cy="166416"/>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PR #3</a:t>
            </a:r>
            <a:endParaRPr lang="en-US" sz="800" dirty="0"/>
          </a:p>
        </p:txBody>
      </p:sp>
      <p:sp>
        <p:nvSpPr>
          <p:cNvPr id="101" name="Text 98"/>
          <p:cNvSpPr/>
          <p:nvPr/>
        </p:nvSpPr>
        <p:spPr>
          <a:xfrm>
            <a:off x="5171313" y="4407339"/>
            <a:ext cx="739628" cy="182880"/>
          </a:xfrm>
          <a:prstGeom prst="rect">
            <a:avLst/>
          </a:prstGeom>
          <a:noFill/>
          <a:ln/>
        </p:spPr>
        <p:txBody>
          <a:bodyPr wrap="square" lIns="0" tIns="0" rIns="0" bIns="0" rtlCol="0" anchor="t"/>
          <a:lstStyle/>
          <a:p>
            <a:pPr algn="ctr" indent="0" marL="0">
              <a:buNone/>
            </a:pPr>
            <a:r>
              <a:rPr lang="en-US" sz="850" b="1" dirty="0">
                <a:solidFill>
                  <a:srgbClr val="13232B"/>
                </a:solidFill>
                <a:latin typeface="Consolas" pitchFamily="34" charset="0"/>
                <a:ea typeface="Consolas" pitchFamily="34" charset="-122"/>
                <a:cs typeface="Consolas" pitchFamily="34" charset="-120"/>
              </a:rPr>
              <a:t>1326d82</a:t>
            </a:r>
            <a:endParaRPr lang="en-US" sz="850" dirty="0"/>
          </a:p>
        </p:txBody>
      </p:sp>
      <p:sp>
        <p:nvSpPr>
          <p:cNvPr id="102" name="Shape 99"/>
          <p:cNvSpPr/>
          <p:nvPr/>
        </p:nvSpPr>
        <p:spPr>
          <a:xfrm>
            <a:off x="6798494" y="4147355"/>
            <a:ext cx="166416" cy="166416"/>
          </a:xfrm>
          <a:prstGeom prst="ellipse">
            <a:avLst/>
          </a:prstGeom>
          <a:solidFill>
            <a:srgbClr val="13232B"/>
          </a:solidFill>
          <a:ln/>
        </p:spPr>
      </p:sp>
      <p:sp>
        <p:nvSpPr>
          <p:cNvPr id="103" name="Shape 100"/>
          <p:cNvSpPr/>
          <p:nvPr/>
        </p:nvSpPr>
        <p:spPr>
          <a:xfrm>
            <a:off x="6641323" y="3823768"/>
            <a:ext cx="480758" cy="166416"/>
          </a:xfrm>
          <a:prstGeom prst="roundRect">
            <a:avLst>
              <a:gd name="adj" fmla="val 49452"/>
            </a:avLst>
          </a:prstGeom>
          <a:solidFill>
            <a:srgbClr val="13232B"/>
          </a:solidFill>
          <a:ln/>
        </p:spPr>
      </p:sp>
      <p:sp>
        <p:nvSpPr>
          <p:cNvPr id="104" name="Text 101"/>
          <p:cNvSpPr/>
          <p:nvPr/>
        </p:nvSpPr>
        <p:spPr>
          <a:xfrm>
            <a:off x="6641323" y="3823768"/>
            <a:ext cx="480758" cy="166416"/>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PR #4</a:t>
            </a:r>
            <a:endParaRPr lang="en-US" sz="800" dirty="0"/>
          </a:p>
        </p:txBody>
      </p:sp>
      <p:sp>
        <p:nvSpPr>
          <p:cNvPr id="105" name="Text 102"/>
          <p:cNvSpPr/>
          <p:nvPr/>
        </p:nvSpPr>
        <p:spPr>
          <a:xfrm>
            <a:off x="6511888" y="4407339"/>
            <a:ext cx="739628" cy="182880"/>
          </a:xfrm>
          <a:prstGeom prst="rect">
            <a:avLst/>
          </a:prstGeom>
          <a:noFill/>
          <a:ln/>
        </p:spPr>
        <p:txBody>
          <a:bodyPr wrap="square" lIns="0" tIns="0" rIns="0" bIns="0" rtlCol="0" anchor="t"/>
          <a:lstStyle/>
          <a:p>
            <a:pPr algn="ctr" indent="0" marL="0">
              <a:buNone/>
            </a:pPr>
            <a:r>
              <a:rPr lang="en-US" sz="850" b="1" dirty="0">
                <a:solidFill>
                  <a:srgbClr val="13232B"/>
                </a:solidFill>
                <a:latin typeface="Consolas" pitchFamily="34" charset="0"/>
                <a:ea typeface="Consolas" pitchFamily="34" charset="-122"/>
                <a:cs typeface="Consolas" pitchFamily="34" charset="-120"/>
              </a:rPr>
              <a:t>688069f</a:t>
            </a:r>
            <a:endParaRPr lang="en-US" sz="850" dirty="0"/>
          </a:p>
        </p:txBody>
      </p:sp>
      <p:sp>
        <p:nvSpPr>
          <p:cNvPr id="106" name="Shape 103"/>
          <p:cNvSpPr/>
          <p:nvPr/>
        </p:nvSpPr>
        <p:spPr>
          <a:xfrm>
            <a:off x="9063604" y="4147355"/>
            <a:ext cx="166416" cy="166416"/>
          </a:xfrm>
          <a:prstGeom prst="ellipse">
            <a:avLst/>
          </a:prstGeom>
          <a:solidFill>
            <a:srgbClr val="13232B"/>
          </a:solidFill>
          <a:ln/>
        </p:spPr>
      </p:sp>
      <p:sp>
        <p:nvSpPr>
          <p:cNvPr id="107" name="Shape 104"/>
          <p:cNvSpPr/>
          <p:nvPr/>
        </p:nvSpPr>
        <p:spPr>
          <a:xfrm>
            <a:off x="8906433" y="3823768"/>
            <a:ext cx="480758" cy="166416"/>
          </a:xfrm>
          <a:prstGeom prst="roundRect">
            <a:avLst>
              <a:gd name="adj" fmla="val 49452"/>
            </a:avLst>
          </a:prstGeom>
          <a:solidFill>
            <a:srgbClr val="13232B"/>
          </a:solidFill>
          <a:ln/>
        </p:spPr>
      </p:sp>
      <p:sp>
        <p:nvSpPr>
          <p:cNvPr id="108" name="Text 105"/>
          <p:cNvSpPr/>
          <p:nvPr/>
        </p:nvSpPr>
        <p:spPr>
          <a:xfrm>
            <a:off x="8906433" y="3823768"/>
            <a:ext cx="480758" cy="166416"/>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PR #5</a:t>
            </a:r>
            <a:endParaRPr lang="en-US" sz="800" dirty="0"/>
          </a:p>
        </p:txBody>
      </p:sp>
      <p:sp>
        <p:nvSpPr>
          <p:cNvPr id="109" name="Text 106"/>
          <p:cNvSpPr/>
          <p:nvPr/>
        </p:nvSpPr>
        <p:spPr>
          <a:xfrm>
            <a:off x="8776998" y="4407339"/>
            <a:ext cx="739628" cy="182880"/>
          </a:xfrm>
          <a:prstGeom prst="rect">
            <a:avLst/>
          </a:prstGeom>
          <a:noFill/>
          <a:ln/>
        </p:spPr>
        <p:txBody>
          <a:bodyPr wrap="square" lIns="0" tIns="0" rIns="0" bIns="0" rtlCol="0" anchor="t"/>
          <a:lstStyle/>
          <a:p>
            <a:pPr algn="ctr" indent="0" marL="0">
              <a:buNone/>
            </a:pPr>
            <a:r>
              <a:rPr lang="en-US" sz="850" b="1" dirty="0">
                <a:solidFill>
                  <a:srgbClr val="13232B"/>
                </a:solidFill>
                <a:latin typeface="Consolas" pitchFamily="34" charset="0"/>
                <a:ea typeface="Consolas" pitchFamily="34" charset="-122"/>
                <a:cs typeface="Consolas" pitchFamily="34" charset="-120"/>
              </a:rPr>
              <a:t>6a72260</a:t>
            </a:r>
            <a:endParaRPr lang="en-US" sz="850" dirty="0"/>
          </a:p>
        </p:txBody>
      </p:sp>
      <p:sp>
        <p:nvSpPr>
          <p:cNvPr id="110" name="Shape 107"/>
          <p:cNvSpPr/>
          <p:nvPr/>
        </p:nvSpPr>
        <p:spPr>
          <a:xfrm>
            <a:off x="10404179" y="4147355"/>
            <a:ext cx="166416" cy="166416"/>
          </a:xfrm>
          <a:prstGeom prst="ellipse">
            <a:avLst/>
          </a:prstGeom>
          <a:solidFill>
            <a:srgbClr val="13232B"/>
          </a:solidFill>
          <a:ln/>
        </p:spPr>
      </p:sp>
      <p:sp>
        <p:nvSpPr>
          <p:cNvPr id="111" name="Shape 108"/>
          <p:cNvSpPr/>
          <p:nvPr/>
        </p:nvSpPr>
        <p:spPr>
          <a:xfrm>
            <a:off x="10247008" y="3823768"/>
            <a:ext cx="480758" cy="166416"/>
          </a:xfrm>
          <a:prstGeom prst="roundRect">
            <a:avLst>
              <a:gd name="adj" fmla="val 49452"/>
            </a:avLst>
          </a:prstGeom>
          <a:solidFill>
            <a:srgbClr val="13232B"/>
          </a:solidFill>
          <a:ln/>
        </p:spPr>
      </p:sp>
      <p:sp>
        <p:nvSpPr>
          <p:cNvPr id="112" name="Text 109"/>
          <p:cNvSpPr/>
          <p:nvPr/>
        </p:nvSpPr>
        <p:spPr>
          <a:xfrm>
            <a:off x="10247008" y="3823768"/>
            <a:ext cx="480758" cy="166416"/>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PR #6</a:t>
            </a:r>
            <a:endParaRPr lang="en-US" sz="800" dirty="0"/>
          </a:p>
        </p:txBody>
      </p:sp>
      <p:sp>
        <p:nvSpPr>
          <p:cNvPr id="113" name="Text 110"/>
          <p:cNvSpPr/>
          <p:nvPr/>
        </p:nvSpPr>
        <p:spPr>
          <a:xfrm>
            <a:off x="10117573" y="4407339"/>
            <a:ext cx="739628" cy="182880"/>
          </a:xfrm>
          <a:prstGeom prst="rect">
            <a:avLst/>
          </a:prstGeom>
          <a:noFill/>
          <a:ln/>
        </p:spPr>
        <p:txBody>
          <a:bodyPr wrap="square" lIns="0" tIns="0" rIns="0" bIns="0" rtlCol="0" anchor="t"/>
          <a:lstStyle/>
          <a:p>
            <a:pPr algn="ctr" indent="0" marL="0">
              <a:buNone/>
            </a:pPr>
            <a:r>
              <a:rPr lang="en-US" sz="850" b="1" dirty="0">
                <a:solidFill>
                  <a:srgbClr val="13232B"/>
                </a:solidFill>
                <a:latin typeface="Consolas" pitchFamily="34" charset="0"/>
                <a:ea typeface="Consolas" pitchFamily="34" charset="-122"/>
                <a:cs typeface="Consolas" pitchFamily="34" charset="-120"/>
              </a:rPr>
              <a:t>dc1edea</a:t>
            </a:r>
            <a:endParaRPr lang="en-US" sz="850" dirty="0"/>
          </a:p>
        </p:txBody>
      </p:sp>
      <p:sp>
        <p:nvSpPr>
          <p:cNvPr id="114" name="Text 111"/>
          <p:cNvSpPr/>
          <p:nvPr/>
        </p:nvSpPr>
        <p:spPr>
          <a:xfrm>
            <a:off x="8776998" y="4564510"/>
            <a:ext cx="739628" cy="182880"/>
          </a:xfrm>
          <a:prstGeom prst="rect">
            <a:avLst/>
          </a:prstGeom>
          <a:noFill/>
          <a:ln/>
        </p:spPr>
        <p:txBody>
          <a:bodyPr wrap="square" lIns="0" tIns="0" rIns="0" bIns="0" rtlCol="0" anchor="t"/>
          <a:lstStyle/>
          <a:p>
            <a:pPr algn="ctr" indent="0" marL="0">
              <a:buNone/>
            </a:pPr>
            <a:r>
              <a:rPr lang="en-US" sz="850" dirty="0">
                <a:solidFill>
                  <a:srgbClr val="56676F"/>
                </a:solidFill>
                <a:latin typeface="Consolas" pitchFamily="34" charset="0"/>
                <a:ea typeface="Consolas" pitchFamily="34" charset="-122"/>
                <a:cs typeface="Consolas" pitchFamily="34" charset="-120"/>
              </a:rPr>
              <a:t>merge PR #5</a:t>
            </a:r>
            <a:endParaRPr lang="en-US" sz="850" dirty="0"/>
          </a:p>
        </p:txBody>
      </p:sp>
      <p:sp>
        <p:nvSpPr>
          <p:cNvPr id="115" name="Shape 112"/>
          <p:cNvSpPr/>
          <p:nvPr/>
        </p:nvSpPr>
        <p:spPr>
          <a:xfrm>
            <a:off x="10672294" y="4064147"/>
            <a:ext cx="924535" cy="332832"/>
          </a:xfrm>
          <a:prstGeom prst="roundRect">
            <a:avLst>
              <a:gd name="adj" fmla="val 49452"/>
            </a:avLst>
          </a:prstGeom>
          <a:solidFill>
            <a:srgbClr val="2F7D4A"/>
          </a:solidFill>
          <a:ln/>
        </p:spPr>
      </p:sp>
      <p:sp>
        <p:nvSpPr>
          <p:cNvPr id="116" name="Text 113"/>
          <p:cNvSpPr/>
          <p:nvPr/>
        </p:nvSpPr>
        <p:spPr>
          <a:xfrm>
            <a:off x="10672294" y="4064147"/>
            <a:ext cx="924535" cy="332832"/>
          </a:xfrm>
          <a:prstGeom prst="rect">
            <a:avLst/>
          </a:prstGeom>
          <a:noFill/>
          <a:ln/>
        </p:spPr>
        <p:txBody>
          <a:bodyPr wrap="square" lIns="0" tIns="0" rIns="0" bIns="0" rtlCol="0" anchor="ctr"/>
          <a:lstStyle/>
          <a:p>
            <a:pPr algn="ctr" indent="0" marL="0">
              <a:buNone/>
            </a:pPr>
            <a:r>
              <a:rPr lang="en-US" sz="1300" b="1" dirty="0">
                <a:solidFill>
                  <a:srgbClr val="FFFFFF"/>
                </a:solidFill>
                <a:latin typeface="Bahnschrift" pitchFamily="34" charset="0"/>
                <a:ea typeface="Bahnschrift" pitchFamily="34" charset="-122"/>
                <a:cs typeface="Bahnschrift" pitchFamily="34" charset="-120"/>
              </a:rPr>
              <a:t>CERRADO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38912" cy="274320"/>
          </a:xfrm>
          <a:prstGeom prst="rect">
            <a:avLst/>
          </a:prstGeom>
          <a:solidFill>
            <a:srgbClr val="F2B233"/>
          </a:solidFill>
          <a:ln/>
        </p:spPr>
      </p:sp>
      <p:sp>
        <p:nvSpPr>
          <p:cNvPr id="3" name="Text 1"/>
          <p:cNvSpPr/>
          <p:nvPr/>
        </p:nvSpPr>
        <p:spPr>
          <a:xfrm>
            <a:off x="548640" y="329184"/>
            <a:ext cx="438912" cy="274320"/>
          </a:xfrm>
          <a:prstGeom prst="rect">
            <a:avLst/>
          </a:prstGeom>
          <a:noFill/>
          <a:ln/>
        </p:spPr>
        <p:txBody>
          <a:bodyPr wrap="square" lIns="0" tIns="0" rIns="0" bIns="0" rtlCol="0" anchor="ctr"/>
          <a:lstStyle/>
          <a:p>
            <a:pPr algn="ctr" indent="0" marL="0">
              <a:buNone/>
            </a:pPr>
            <a:r>
              <a:rPr lang="en-US" sz="1100" b="1" dirty="0">
                <a:solidFill>
                  <a:srgbClr val="13232B"/>
                </a:solidFill>
                <a:latin typeface="Consolas" pitchFamily="34" charset="0"/>
                <a:ea typeface="Consolas" pitchFamily="34" charset="-122"/>
                <a:cs typeface="Consolas" pitchFamily="34" charset="-120"/>
              </a:rPr>
              <a:t>10</a:t>
            </a:r>
            <a:endParaRPr lang="en-US" sz="1100" dirty="0"/>
          </a:p>
        </p:txBody>
      </p:sp>
      <p:sp>
        <p:nvSpPr>
          <p:cNvPr id="4" name="Text 2"/>
          <p:cNvSpPr/>
          <p:nvPr/>
        </p:nvSpPr>
        <p:spPr>
          <a:xfrm>
            <a:off x="1115568" y="329184"/>
            <a:ext cx="5486400" cy="274320"/>
          </a:xfrm>
          <a:prstGeom prst="rect">
            <a:avLst/>
          </a:prstGeom>
          <a:noFill/>
          <a:ln/>
        </p:spPr>
        <p:txBody>
          <a:bodyPr wrap="square" lIns="0" tIns="0" rIns="0" bIns="0" rtlCol="0" anchor="ctr"/>
          <a:lstStyle/>
          <a:p>
            <a:pPr indent="0" marL="0">
              <a:buNone/>
            </a:pPr>
            <a:r>
              <a:rPr lang="en-US" sz="1050" b="1" spc="150" kern="0" dirty="0">
                <a:solidFill>
                  <a:srgbClr val="13232B"/>
                </a:solidFill>
                <a:latin typeface="Consolas" pitchFamily="34" charset="0"/>
                <a:ea typeface="Consolas" pitchFamily="34" charset="-122"/>
                <a:cs typeface="Consolas" pitchFamily="34" charset="-120"/>
              </a:rPr>
              <a:t>ESTADO FINAL</a:t>
            </a:r>
            <a:endParaRPr lang="en-US" sz="1050" dirty="0"/>
          </a:p>
        </p:txBody>
      </p:sp>
      <p:sp>
        <p:nvSpPr>
          <p:cNvPr id="5" name="Text 3"/>
          <p:cNvSpPr/>
          <p:nvPr/>
        </p:nvSpPr>
        <p:spPr>
          <a:xfrm>
            <a:off x="6156655" y="329184"/>
            <a:ext cx="5486400" cy="274320"/>
          </a:xfrm>
          <a:prstGeom prst="rect">
            <a:avLst/>
          </a:prstGeom>
          <a:noFill/>
          <a:ln/>
        </p:spPr>
        <p:txBody>
          <a:bodyPr wrap="square" lIns="0" tIns="0" rIns="0" bIns="0" rtlCol="0" anchor="ctr"/>
          <a:lstStyle/>
          <a:p>
            <a:pPr algn="r" indent="0" marL="0">
              <a:buNone/>
            </a:pPr>
            <a:r>
              <a:rPr lang="en-US" sz="950" spc="150" kern="0" dirty="0">
                <a:solidFill>
                  <a:srgbClr val="56676F"/>
                </a:solidFill>
                <a:latin typeface="Consolas" pitchFamily="34" charset="0"/>
                <a:ea typeface="Consolas" pitchFamily="34" charset="-122"/>
                <a:cs typeface="Consolas" pitchFamily="34" charset="-120"/>
              </a:rPr>
              <a:t>MAIN · DC1EDEA</a:t>
            </a:r>
            <a:endParaRPr lang="en-US" sz="950" dirty="0"/>
          </a:p>
        </p:txBody>
      </p:sp>
      <p:sp>
        <p:nvSpPr>
          <p:cNvPr id="6" name="Text 4"/>
          <p:cNvSpPr/>
          <p:nvPr/>
        </p:nvSpPr>
        <p:spPr>
          <a:xfrm>
            <a:off x="548640" y="6446520"/>
            <a:ext cx="8229600" cy="22860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README.md · post-baseline-validation.md §23</a:t>
            </a:r>
            <a:endParaRPr lang="en-US" sz="850" dirty="0"/>
          </a:p>
        </p:txBody>
      </p:sp>
      <p:sp>
        <p:nvSpPr>
          <p:cNvPr id="7" name="Text 5"/>
          <p:cNvSpPr/>
          <p:nvPr/>
        </p:nvSpPr>
        <p:spPr>
          <a:xfrm>
            <a:off x="9814255" y="6446520"/>
            <a:ext cx="1828800" cy="228600"/>
          </a:xfrm>
          <a:prstGeom prst="rect">
            <a:avLst/>
          </a:prstGeom>
          <a:noFill/>
          <a:ln/>
        </p:spPr>
        <p:txBody>
          <a:bodyPr wrap="square" lIns="0" tIns="0" rIns="0" bIns="0" rtlCol="0" anchor="t"/>
          <a:lstStyle/>
          <a:p>
            <a:pPr algn="r" indent="0" marL="0">
              <a:buNone/>
            </a:pPr>
            <a:r>
              <a:rPr lang="en-US" sz="850" dirty="0">
                <a:solidFill>
                  <a:srgbClr val="56676F"/>
                </a:solidFill>
                <a:latin typeface="Consolas" pitchFamily="34" charset="0"/>
                <a:ea typeface="Consolas" pitchFamily="34" charset="-122"/>
                <a:cs typeface="Consolas" pitchFamily="34" charset="-120"/>
              </a:rPr>
              <a:t>10 / 11</a:t>
            </a:r>
            <a:endParaRPr lang="en-US" sz="850" dirty="0"/>
          </a:p>
        </p:txBody>
      </p:sp>
      <p:sp>
        <p:nvSpPr>
          <p:cNvPr id="9" name="Text 6"/>
          <p:cNvSpPr/>
          <p:nvPr/>
        </p:nvSpPr>
        <p:spPr>
          <a:xfrm>
            <a:off x="548640" y="777240"/>
            <a:ext cx="11094415" cy="658368"/>
          </a:xfrm>
          <a:prstGeom prst="rect">
            <a:avLst/>
          </a:prstGeom>
          <a:noFill/>
          <a:ln/>
        </p:spPr>
        <p:txBody>
          <a:bodyPr wrap="square" lIns="0" tIns="0" rIns="0" bIns="0" rtlCol="0" anchor="ctr"/>
          <a:lstStyle/>
          <a:p>
            <a:pPr indent="0" marL="0">
              <a:buNone/>
            </a:pPr>
            <a:r>
              <a:rPr lang="en-US" sz="3200" b="1" dirty="0">
                <a:solidFill>
                  <a:srgbClr val="13232B"/>
                </a:solidFill>
                <a:latin typeface="Bahnschrift" pitchFamily="34" charset="0"/>
                <a:ea typeface="Bahnschrift" pitchFamily="34" charset="-122"/>
                <a:cs typeface="Bahnschrift" pitchFamily="34" charset="-120"/>
              </a:rPr>
              <a:t>Cierre del proyecto</a:t>
            </a:r>
            <a:endParaRPr lang="en-US" sz="3200" dirty="0"/>
          </a:p>
        </p:txBody>
      </p:sp>
      <p:sp>
        <p:nvSpPr>
          <p:cNvPr id="10" name="Text 7"/>
          <p:cNvSpPr/>
          <p:nvPr/>
        </p:nvSpPr>
        <p:spPr>
          <a:xfrm>
            <a:off x="548640" y="1572768"/>
            <a:ext cx="457200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ESTADO FINAL</a:t>
            </a:r>
            <a:endParaRPr lang="en-US" sz="900" dirty="0"/>
          </a:p>
        </p:txBody>
      </p:sp>
      <p:sp>
        <p:nvSpPr>
          <p:cNvPr id="11" name="Shape 8"/>
          <p:cNvSpPr/>
          <p:nvPr/>
        </p:nvSpPr>
        <p:spPr>
          <a:xfrm>
            <a:off x="548640" y="1847088"/>
            <a:ext cx="5029200" cy="640080"/>
          </a:xfrm>
          <a:prstGeom prst="roundRect">
            <a:avLst>
              <a:gd name="adj" fmla="val 8571"/>
            </a:avLst>
          </a:prstGeom>
          <a:solidFill>
            <a:srgbClr val="F4F7F8"/>
          </a:solidFill>
          <a:ln w="9525">
            <a:solidFill>
              <a:srgbClr val="C8D3D8"/>
            </a:solidFill>
            <a:prstDash val="solid"/>
          </a:ln>
        </p:spPr>
      </p:sp>
      <p:sp>
        <p:nvSpPr>
          <p:cNvPr id="12" name="Text 9"/>
          <p:cNvSpPr/>
          <p:nvPr/>
        </p:nvSpPr>
        <p:spPr>
          <a:xfrm>
            <a:off x="685800" y="1911096"/>
            <a:ext cx="3383280" cy="274320"/>
          </a:xfrm>
          <a:prstGeom prst="rect">
            <a:avLst/>
          </a:prstGeom>
          <a:noFill/>
          <a:ln/>
        </p:spPr>
        <p:txBody>
          <a:bodyPr wrap="square" lIns="0" tIns="0" rIns="0" bIns="0" rtlCol="0" anchor="t"/>
          <a:lstStyle/>
          <a:p>
            <a:pPr indent="0" marL="0">
              <a:buNone/>
            </a:pPr>
            <a:r>
              <a:rPr lang="en-US" sz="1200" b="1" dirty="0">
                <a:solidFill>
                  <a:srgbClr val="13232B"/>
                </a:solidFill>
                <a:latin typeface="Segoe UI" pitchFamily="34" charset="0"/>
                <a:ea typeface="Segoe UI" pitchFamily="34" charset="-122"/>
                <a:cs typeface="Segoe UI" pitchFamily="34" charset="-120"/>
              </a:rPr>
              <a:t>Baseline Etapa 1</a:t>
            </a:r>
            <a:endParaRPr lang="en-US" sz="1200" dirty="0"/>
          </a:p>
        </p:txBody>
      </p:sp>
      <p:sp>
        <p:nvSpPr>
          <p:cNvPr id="13" name="Text 10"/>
          <p:cNvSpPr/>
          <p:nvPr/>
        </p:nvSpPr>
        <p:spPr>
          <a:xfrm>
            <a:off x="685800" y="2185416"/>
            <a:ext cx="3383280" cy="256032"/>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T001–T242 · decisiones de negocio y gate cerrados</a:t>
            </a:r>
            <a:endParaRPr lang="en-US" sz="1000" dirty="0"/>
          </a:p>
        </p:txBody>
      </p:sp>
      <p:sp>
        <p:nvSpPr>
          <p:cNvPr id="14" name="Shape 11"/>
          <p:cNvSpPr/>
          <p:nvPr/>
        </p:nvSpPr>
        <p:spPr>
          <a:xfrm>
            <a:off x="4096512" y="2029968"/>
            <a:ext cx="1344168" cy="274320"/>
          </a:xfrm>
          <a:prstGeom prst="roundRect">
            <a:avLst>
              <a:gd name="adj" fmla="val 50000"/>
            </a:avLst>
          </a:prstGeom>
          <a:solidFill>
            <a:srgbClr val="DFF0E4"/>
          </a:solidFill>
          <a:ln/>
        </p:spPr>
      </p:sp>
      <p:sp>
        <p:nvSpPr>
          <p:cNvPr id="15" name="Text 12"/>
          <p:cNvSpPr/>
          <p:nvPr/>
        </p:nvSpPr>
        <p:spPr>
          <a:xfrm>
            <a:off x="4096512" y="2029968"/>
            <a:ext cx="1344168" cy="274320"/>
          </a:xfrm>
          <a:prstGeom prst="rect">
            <a:avLst/>
          </a:prstGeom>
          <a:noFill/>
          <a:ln/>
        </p:spPr>
        <p:txBody>
          <a:bodyPr wrap="square" lIns="0" tIns="0" rIns="0" bIns="0" rtlCol="0" anchor="ctr"/>
          <a:lstStyle/>
          <a:p>
            <a:pPr algn="ctr" indent="0" marL="0">
              <a:buNone/>
            </a:pPr>
            <a:r>
              <a:rPr lang="en-US" sz="850" b="1" dirty="0">
                <a:solidFill>
                  <a:srgbClr val="2F7D4A"/>
                </a:solidFill>
                <a:latin typeface="Consolas" pitchFamily="34" charset="0"/>
                <a:ea typeface="Consolas" pitchFamily="34" charset="-122"/>
                <a:cs typeface="Consolas" pitchFamily="34" charset="-120"/>
              </a:rPr>
              <a:t>CERRADO</a:t>
            </a:r>
            <a:endParaRPr lang="en-US" sz="850" dirty="0"/>
          </a:p>
        </p:txBody>
      </p:sp>
      <p:sp>
        <p:nvSpPr>
          <p:cNvPr id="16" name="Shape 13"/>
          <p:cNvSpPr/>
          <p:nvPr/>
        </p:nvSpPr>
        <p:spPr>
          <a:xfrm>
            <a:off x="548640" y="2578608"/>
            <a:ext cx="5029200" cy="640080"/>
          </a:xfrm>
          <a:prstGeom prst="roundRect">
            <a:avLst>
              <a:gd name="adj" fmla="val 8571"/>
            </a:avLst>
          </a:prstGeom>
          <a:solidFill>
            <a:srgbClr val="F4F7F8"/>
          </a:solidFill>
          <a:ln w="9525">
            <a:solidFill>
              <a:srgbClr val="C8D3D8"/>
            </a:solidFill>
            <a:prstDash val="solid"/>
          </a:ln>
        </p:spPr>
      </p:sp>
      <p:sp>
        <p:nvSpPr>
          <p:cNvPr id="17" name="Text 14"/>
          <p:cNvSpPr/>
          <p:nvPr/>
        </p:nvSpPr>
        <p:spPr>
          <a:xfrm>
            <a:off x="685800" y="2642616"/>
            <a:ext cx="3383280" cy="274320"/>
          </a:xfrm>
          <a:prstGeom prst="rect">
            <a:avLst/>
          </a:prstGeom>
          <a:noFill/>
          <a:ln/>
        </p:spPr>
        <p:txBody>
          <a:bodyPr wrap="square" lIns="0" tIns="0" rIns="0" bIns="0" rtlCol="0" anchor="t"/>
          <a:lstStyle/>
          <a:p>
            <a:pPr indent="0" marL="0">
              <a:buNone/>
            </a:pPr>
            <a:r>
              <a:rPr lang="en-US" sz="1200" b="1" dirty="0">
                <a:solidFill>
                  <a:srgbClr val="13232B"/>
                </a:solidFill>
                <a:latin typeface="Segoe UI" pitchFamily="34" charset="0"/>
                <a:ea typeface="Segoe UI" pitchFamily="34" charset="-122"/>
                <a:cs typeface="Segoe UI" pitchFamily="34" charset="-120"/>
              </a:rPr>
              <a:t>Validación post-Baseline</a:t>
            </a:r>
            <a:endParaRPr lang="en-US" sz="1200" dirty="0"/>
          </a:p>
        </p:txBody>
      </p:sp>
      <p:sp>
        <p:nvSpPr>
          <p:cNvPr id="18" name="Text 15"/>
          <p:cNvSpPr/>
          <p:nvPr/>
        </p:nvSpPr>
        <p:spPr>
          <a:xfrm>
            <a:off x="685800" y="2916936"/>
            <a:ext cx="3383280" cy="256032"/>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VF-001 a VF-011 · T243–T312</a:t>
            </a:r>
            <a:endParaRPr lang="en-US" sz="1000" dirty="0"/>
          </a:p>
        </p:txBody>
      </p:sp>
      <p:sp>
        <p:nvSpPr>
          <p:cNvPr id="19" name="Shape 16"/>
          <p:cNvSpPr/>
          <p:nvPr/>
        </p:nvSpPr>
        <p:spPr>
          <a:xfrm>
            <a:off x="4096512" y="2761488"/>
            <a:ext cx="1344168" cy="274320"/>
          </a:xfrm>
          <a:prstGeom prst="roundRect">
            <a:avLst>
              <a:gd name="adj" fmla="val 50000"/>
            </a:avLst>
          </a:prstGeom>
          <a:solidFill>
            <a:srgbClr val="DFF0E4"/>
          </a:solidFill>
          <a:ln/>
        </p:spPr>
      </p:sp>
      <p:sp>
        <p:nvSpPr>
          <p:cNvPr id="20" name="Text 17"/>
          <p:cNvSpPr/>
          <p:nvPr/>
        </p:nvSpPr>
        <p:spPr>
          <a:xfrm>
            <a:off x="4096512" y="2761488"/>
            <a:ext cx="1344168" cy="274320"/>
          </a:xfrm>
          <a:prstGeom prst="rect">
            <a:avLst/>
          </a:prstGeom>
          <a:noFill/>
          <a:ln/>
        </p:spPr>
        <p:txBody>
          <a:bodyPr wrap="square" lIns="0" tIns="0" rIns="0" bIns="0" rtlCol="0" anchor="ctr"/>
          <a:lstStyle/>
          <a:p>
            <a:pPr algn="ctr" indent="0" marL="0">
              <a:buNone/>
            </a:pPr>
            <a:r>
              <a:rPr lang="en-US" sz="850" b="1" dirty="0">
                <a:solidFill>
                  <a:srgbClr val="2F7D4A"/>
                </a:solidFill>
                <a:latin typeface="Consolas" pitchFamily="34" charset="0"/>
                <a:ea typeface="Consolas" pitchFamily="34" charset="-122"/>
                <a:cs typeface="Consolas" pitchFamily="34" charset="-120"/>
              </a:rPr>
              <a:t>11/11 CLOSED</a:t>
            </a:r>
            <a:endParaRPr lang="en-US" sz="850" dirty="0"/>
          </a:p>
        </p:txBody>
      </p:sp>
      <p:sp>
        <p:nvSpPr>
          <p:cNvPr id="21" name="Shape 18"/>
          <p:cNvSpPr/>
          <p:nvPr/>
        </p:nvSpPr>
        <p:spPr>
          <a:xfrm>
            <a:off x="548640" y="3310128"/>
            <a:ext cx="5029200" cy="640080"/>
          </a:xfrm>
          <a:prstGeom prst="roundRect">
            <a:avLst>
              <a:gd name="adj" fmla="val 8571"/>
            </a:avLst>
          </a:prstGeom>
          <a:solidFill>
            <a:srgbClr val="F4F7F8"/>
          </a:solidFill>
          <a:ln w="9525">
            <a:solidFill>
              <a:srgbClr val="C8D3D8"/>
            </a:solidFill>
            <a:prstDash val="solid"/>
          </a:ln>
        </p:spPr>
      </p:sp>
      <p:sp>
        <p:nvSpPr>
          <p:cNvPr id="22" name="Text 19"/>
          <p:cNvSpPr/>
          <p:nvPr/>
        </p:nvSpPr>
        <p:spPr>
          <a:xfrm>
            <a:off x="685800" y="3374136"/>
            <a:ext cx="3383280" cy="274320"/>
          </a:xfrm>
          <a:prstGeom prst="rect">
            <a:avLst/>
          </a:prstGeom>
          <a:noFill/>
          <a:ln/>
        </p:spPr>
        <p:txBody>
          <a:bodyPr wrap="square" lIns="0" tIns="0" rIns="0" bIns="0" rtlCol="0" anchor="t"/>
          <a:lstStyle/>
          <a:p>
            <a:pPr indent="0" marL="0">
              <a:buNone/>
            </a:pPr>
            <a:r>
              <a:rPr lang="en-US" sz="1200" b="1" dirty="0">
                <a:solidFill>
                  <a:srgbClr val="13232B"/>
                </a:solidFill>
                <a:latin typeface="Segoe UI" pitchFamily="34" charset="0"/>
                <a:ea typeface="Segoe UI" pitchFamily="34" charset="-122"/>
                <a:cs typeface="Segoe UI" pitchFamily="34" charset="-120"/>
              </a:rPr>
              <a:t>Validación manual de la interfaz</a:t>
            </a:r>
            <a:endParaRPr lang="en-US" sz="1200" dirty="0"/>
          </a:p>
        </p:txBody>
      </p:sp>
      <p:sp>
        <p:nvSpPr>
          <p:cNvPr id="23" name="Text 20"/>
          <p:cNvSpPr/>
          <p:nvPr/>
        </p:nvSpPr>
        <p:spPr>
          <a:xfrm>
            <a:off x="685800" y="3648456"/>
            <a:ext cx="3383280" cy="256032"/>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cambios funcionales y de UX verificados</a:t>
            </a:r>
            <a:endParaRPr lang="en-US" sz="1000" dirty="0"/>
          </a:p>
        </p:txBody>
      </p:sp>
      <p:sp>
        <p:nvSpPr>
          <p:cNvPr id="24" name="Shape 21"/>
          <p:cNvSpPr/>
          <p:nvPr/>
        </p:nvSpPr>
        <p:spPr>
          <a:xfrm>
            <a:off x="4096512" y="3493008"/>
            <a:ext cx="1344168" cy="274320"/>
          </a:xfrm>
          <a:prstGeom prst="roundRect">
            <a:avLst>
              <a:gd name="adj" fmla="val 50000"/>
            </a:avLst>
          </a:prstGeom>
          <a:solidFill>
            <a:srgbClr val="DFF0E4"/>
          </a:solidFill>
          <a:ln/>
        </p:spPr>
      </p:sp>
      <p:sp>
        <p:nvSpPr>
          <p:cNvPr id="25" name="Text 22"/>
          <p:cNvSpPr/>
          <p:nvPr/>
        </p:nvSpPr>
        <p:spPr>
          <a:xfrm>
            <a:off x="4096512" y="3493008"/>
            <a:ext cx="1344168" cy="274320"/>
          </a:xfrm>
          <a:prstGeom prst="rect">
            <a:avLst/>
          </a:prstGeom>
          <a:noFill/>
          <a:ln/>
        </p:spPr>
        <p:txBody>
          <a:bodyPr wrap="square" lIns="0" tIns="0" rIns="0" bIns="0" rtlCol="0" anchor="ctr"/>
          <a:lstStyle/>
          <a:p>
            <a:pPr algn="ctr" indent="0" marL="0">
              <a:buNone/>
            </a:pPr>
            <a:r>
              <a:rPr lang="en-US" sz="850" b="1" dirty="0">
                <a:solidFill>
                  <a:srgbClr val="2F7D4A"/>
                </a:solidFill>
                <a:latin typeface="Consolas" pitchFamily="34" charset="0"/>
                <a:ea typeface="Consolas" pitchFamily="34" charset="-122"/>
                <a:cs typeface="Consolas" pitchFamily="34" charset="-120"/>
              </a:rPr>
              <a:t>COMPLETADA</a:t>
            </a:r>
            <a:endParaRPr lang="en-US" sz="850" dirty="0"/>
          </a:p>
        </p:txBody>
      </p:sp>
      <p:sp>
        <p:nvSpPr>
          <p:cNvPr id="26" name="Shape 23"/>
          <p:cNvSpPr/>
          <p:nvPr/>
        </p:nvSpPr>
        <p:spPr>
          <a:xfrm>
            <a:off x="548640" y="4041648"/>
            <a:ext cx="5029200" cy="640080"/>
          </a:xfrm>
          <a:prstGeom prst="roundRect">
            <a:avLst>
              <a:gd name="adj" fmla="val 8571"/>
            </a:avLst>
          </a:prstGeom>
          <a:solidFill>
            <a:srgbClr val="F4F7F8"/>
          </a:solidFill>
          <a:ln w="9525">
            <a:solidFill>
              <a:srgbClr val="C8D3D8"/>
            </a:solidFill>
            <a:prstDash val="solid"/>
          </a:ln>
        </p:spPr>
      </p:sp>
      <p:sp>
        <p:nvSpPr>
          <p:cNvPr id="27" name="Text 24"/>
          <p:cNvSpPr/>
          <p:nvPr/>
        </p:nvSpPr>
        <p:spPr>
          <a:xfrm>
            <a:off x="685800" y="4105656"/>
            <a:ext cx="3383280" cy="274320"/>
          </a:xfrm>
          <a:prstGeom prst="rect">
            <a:avLst/>
          </a:prstGeom>
          <a:noFill/>
          <a:ln/>
        </p:spPr>
        <p:txBody>
          <a:bodyPr wrap="square" lIns="0" tIns="0" rIns="0" bIns="0" rtlCol="0" anchor="t"/>
          <a:lstStyle/>
          <a:p>
            <a:pPr indent="0" marL="0">
              <a:buNone/>
            </a:pPr>
            <a:r>
              <a:rPr lang="en-US" sz="1200" b="1" dirty="0">
                <a:solidFill>
                  <a:srgbClr val="13232B"/>
                </a:solidFill>
                <a:latin typeface="Segoe UI" pitchFamily="34" charset="0"/>
                <a:ea typeface="Segoe UI" pitchFamily="34" charset="-122"/>
                <a:cs typeface="Segoe UI" pitchFamily="34" charset="-120"/>
              </a:rPr>
              <a:t>Pruebas automatizadas</a:t>
            </a:r>
            <a:endParaRPr lang="en-US" sz="1200" dirty="0"/>
          </a:p>
        </p:txBody>
      </p:sp>
      <p:sp>
        <p:nvSpPr>
          <p:cNvPr id="28" name="Text 25"/>
          <p:cNvSpPr/>
          <p:nvPr/>
        </p:nvSpPr>
        <p:spPr>
          <a:xfrm>
            <a:off x="685800" y="4379976"/>
            <a:ext cx="3383280" cy="256032"/>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unitarias, integración, contrato, Vitest y E2E</a:t>
            </a:r>
            <a:endParaRPr lang="en-US" sz="1000" dirty="0"/>
          </a:p>
        </p:txBody>
      </p:sp>
      <p:sp>
        <p:nvSpPr>
          <p:cNvPr id="29" name="Shape 26"/>
          <p:cNvSpPr/>
          <p:nvPr/>
        </p:nvSpPr>
        <p:spPr>
          <a:xfrm>
            <a:off x="4096512" y="4224528"/>
            <a:ext cx="1344168" cy="274320"/>
          </a:xfrm>
          <a:prstGeom prst="roundRect">
            <a:avLst>
              <a:gd name="adj" fmla="val 50000"/>
            </a:avLst>
          </a:prstGeom>
          <a:solidFill>
            <a:srgbClr val="DFF0E4"/>
          </a:solidFill>
          <a:ln/>
        </p:spPr>
      </p:sp>
      <p:sp>
        <p:nvSpPr>
          <p:cNvPr id="30" name="Text 27"/>
          <p:cNvSpPr/>
          <p:nvPr/>
        </p:nvSpPr>
        <p:spPr>
          <a:xfrm>
            <a:off x="4096512" y="4224528"/>
            <a:ext cx="1344168" cy="274320"/>
          </a:xfrm>
          <a:prstGeom prst="rect">
            <a:avLst/>
          </a:prstGeom>
          <a:noFill/>
          <a:ln/>
        </p:spPr>
        <p:txBody>
          <a:bodyPr wrap="square" lIns="0" tIns="0" rIns="0" bIns="0" rtlCol="0" anchor="ctr"/>
          <a:lstStyle/>
          <a:p>
            <a:pPr algn="ctr" indent="0" marL="0">
              <a:buNone/>
            </a:pPr>
            <a:r>
              <a:rPr lang="en-US" sz="850" b="1" dirty="0">
                <a:solidFill>
                  <a:srgbClr val="2F7D4A"/>
                </a:solidFill>
                <a:latin typeface="Consolas" pitchFamily="34" charset="0"/>
                <a:ea typeface="Consolas" pitchFamily="34" charset="-122"/>
                <a:cs typeface="Consolas" pitchFamily="34" charset="-120"/>
              </a:rPr>
              <a:t>1 212 EN VERDE</a:t>
            </a:r>
            <a:endParaRPr lang="en-US" sz="850" dirty="0"/>
          </a:p>
        </p:txBody>
      </p:sp>
      <p:sp>
        <p:nvSpPr>
          <p:cNvPr id="31" name="Shape 28"/>
          <p:cNvSpPr/>
          <p:nvPr/>
        </p:nvSpPr>
        <p:spPr>
          <a:xfrm>
            <a:off x="548640" y="4773168"/>
            <a:ext cx="5029200" cy="640080"/>
          </a:xfrm>
          <a:prstGeom prst="roundRect">
            <a:avLst>
              <a:gd name="adj" fmla="val 8571"/>
            </a:avLst>
          </a:prstGeom>
          <a:solidFill>
            <a:srgbClr val="F4F7F8"/>
          </a:solidFill>
          <a:ln w="9525">
            <a:solidFill>
              <a:srgbClr val="C8D3D8"/>
            </a:solidFill>
            <a:prstDash val="solid"/>
          </a:ln>
        </p:spPr>
      </p:sp>
      <p:sp>
        <p:nvSpPr>
          <p:cNvPr id="32" name="Text 29"/>
          <p:cNvSpPr/>
          <p:nvPr/>
        </p:nvSpPr>
        <p:spPr>
          <a:xfrm>
            <a:off x="685800" y="4837176"/>
            <a:ext cx="3383280" cy="274320"/>
          </a:xfrm>
          <a:prstGeom prst="rect">
            <a:avLst/>
          </a:prstGeom>
          <a:noFill/>
          <a:ln/>
        </p:spPr>
        <p:txBody>
          <a:bodyPr wrap="square" lIns="0" tIns="0" rIns="0" bIns="0" rtlCol="0" anchor="t"/>
          <a:lstStyle/>
          <a:p>
            <a:pPr indent="0" marL="0">
              <a:buNone/>
            </a:pPr>
            <a:r>
              <a:rPr lang="en-US" sz="1200" b="1" dirty="0">
                <a:solidFill>
                  <a:srgbClr val="13232B"/>
                </a:solidFill>
                <a:latin typeface="Segoe UI" pitchFamily="34" charset="0"/>
                <a:ea typeface="Segoe UI" pitchFamily="34" charset="-122"/>
                <a:cs typeface="Segoe UI" pitchFamily="34" charset="-120"/>
              </a:rPr>
              <a:t>Integración en main</a:t>
            </a:r>
            <a:endParaRPr lang="en-US" sz="1200" dirty="0"/>
          </a:p>
        </p:txBody>
      </p:sp>
      <p:sp>
        <p:nvSpPr>
          <p:cNvPr id="33" name="Text 30"/>
          <p:cNvSpPr/>
          <p:nvPr/>
        </p:nvSpPr>
        <p:spPr>
          <a:xfrm>
            <a:off x="685800" y="5111496"/>
            <a:ext cx="3383280" cy="256032"/>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244fa09 → PR #5 → merge 6a72260</a:t>
            </a:r>
            <a:endParaRPr lang="en-US" sz="1000" dirty="0"/>
          </a:p>
        </p:txBody>
      </p:sp>
      <p:sp>
        <p:nvSpPr>
          <p:cNvPr id="34" name="Shape 31"/>
          <p:cNvSpPr/>
          <p:nvPr/>
        </p:nvSpPr>
        <p:spPr>
          <a:xfrm>
            <a:off x="4096512" y="4956048"/>
            <a:ext cx="1344168" cy="274320"/>
          </a:xfrm>
          <a:prstGeom prst="roundRect">
            <a:avLst>
              <a:gd name="adj" fmla="val 50000"/>
            </a:avLst>
          </a:prstGeom>
          <a:solidFill>
            <a:srgbClr val="DFF0E4"/>
          </a:solidFill>
          <a:ln/>
        </p:spPr>
      </p:sp>
      <p:sp>
        <p:nvSpPr>
          <p:cNvPr id="35" name="Text 32"/>
          <p:cNvSpPr/>
          <p:nvPr/>
        </p:nvSpPr>
        <p:spPr>
          <a:xfrm>
            <a:off x="4096512" y="4956048"/>
            <a:ext cx="1344168" cy="274320"/>
          </a:xfrm>
          <a:prstGeom prst="rect">
            <a:avLst/>
          </a:prstGeom>
          <a:noFill/>
          <a:ln/>
        </p:spPr>
        <p:txBody>
          <a:bodyPr wrap="square" lIns="0" tIns="0" rIns="0" bIns="0" rtlCol="0" anchor="ctr"/>
          <a:lstStyle/>
          <a:p>
            <a:pPr algn="ctr" indent="0" marL="0">
              <a:buNone/>
            </a:pPr>
            <a:r>
              <a:rPr lang="en-US" sz="850" b="1" dirty="0">
                <a:solidFill>
                  <a:srgbClr val="2F7D4A"/>
                </a:solidFill>
                <a:latin typeface="Consolas" pitchFamily="34" charset="0"/>
                <a:ea typeface="Consolas" pitchFamily="34" charset="-122"/>
                <a:cs typeface="Consolas" pitchFamily="34" charset="-120"/>
              </a:rPr>
              <a:t>MERGED</a:t>
            </a:r>
            <a:endParaRPr lang="en-US" sz="850" dirty="0"/>
          </a:p>
        </p:txBody>
      </p:sp>
      <p:sp>
        <p:nvSpPr>
          <p:cNvPr id="36" name="Text 33"/>
          <p:cNvSpPr/>
          <p:nvPr/>
        </p:nvSpPr>
        <p:spPr>
          <a:xfrm>
            <a:off x="6035040" y="1572768"/>
            <a:ext cx="4572000" cy="228600"/>
          </a:xfrm>
          <a:prstGeom prst="rect">
            <a:avLst/>
          </a:prstGeom>
          <a:noFill/>
          <a:ln/>
        </p:spPr>
        <p:txBody>
          <a:bodyPr wrap="square" lIns="0" tIns="0" rIns="0" bIns="0" rtlCol="0" anchor="t"/>
          <a:lstStyle/>
          <a:p>
            <a:pPr indent="0" marL="0">
              <a:buNone/>
            </a:pPr>
            <a:r>
              <a:rPr lang="en-US" sz="900" spc="100" kern="0" dirty="0">
                <a:solidFill>
                  <a:srgbClr val="56676F"/>
                </a:solidFill>
                <a:latin typeface="Consolas" pitchFamily="34" charset="0"/>
                <a:ea typeface="Consolas" pitchFamily="34" charset="-122"/>
                <a:cs typeface="Consolas" pitchFamily="34" charset="-120"/>
              </a:rPr>
              <a:t>CIERRE ALCANZADO</a:t>
            </a:r>
            <a:endParaRPr lang="en-US" sz="900" dirty="0"/>
          </a:p>
        </p:txBody>
      </p:sp>
      <p:sp>
        <p:nvSpPr>
          <p:cNvPr id="37" name="Shape 34"/>
          <p:cNvSpPr/>
          <p:nvPr/>
        </p:nvSpPr>
        <p:spPr>
          <a:xfrm>
            <a:off x="6035040" y="1847088"/>
            <a:ext cx="365760" cy="365760"/>
          </a:xfrm>
          <a:prstGeom prst="ellipse">
            <a:avLst/>
          </a:prstGeom>
          <a:solidFill>
            <a:srgbClr val="13232B"/>
          </a:solidFill>
          <a:ln/>
        </p:spPr>
      </p:sp>
      <p:sp>
        <p:nvSpPr>
          <p:cNvPr id="38" name="Text 35"/>
          <p:cNvSpPr/>
          <p:nvPr/>
        </p:nvSpPr>
        <p:spPr>
          <a:xfrm>
            <a:off x="6035040" y="18470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1</a:t>
            </a:r>
            <a:endParaRPr lang="en-US" sz="1200" dirty="0"/>
          </a:p>
        </p:txBody>
      </p:sp>
      <p:sp>
        <p:nvSpPr>
          <p:cNvPr id="39" name="Text 36"/>
          <p:cNvSpPr/>
          <p:nvPr/>
        </p:nvSpPr>
        <p:spPr>
          <a:xfrm>
            <a:off x="6565392" y="1819656"/>
            <a:ext cx="5077663" cy="329184"/>
          </a:xfrm>
          <a:prstGeom prst="rect">
            <a:avLst/>
          </a:prstGeom>
          <a:noFill/>
          <a:ln/>
        </p:spPr>
        <p:txBody>
          <a:bodyPr wrap="square" lIns="0" tIns="0" rIns="0" bIns="0" rtlCol="0" anchor="ctr"/>
          <a:lstStyle/>
          <a:p>
            <a:pPr indent="0" marL="0">
              <a:buNone/>
            </a:pPr>
            <a:r>
              <a:rPr lang="en-US" sz="1600" b="1" dirty="0">
                <a:solidFill>
                  <a:srgbClr val="13232B"/>
                </a:solidFill>
                <a:latin typeface="Bahnschrift" pitchFamily="34" charset="0"/>
                <a:ea typeface="Bahnschrift" pitchFamily="34" charset="-122"/>
                <a:cs typeface="Bahnschrift" pitchFamily="34" charset="-120"/>
              </a:rPr>
              <a:t>Baseline cerrado</a:t>
            </a:r>
            <a:endParaRPr lang="en-US" sz="1600" dirty="0"/>
          </a:p>
        </p:txBody>
      </p:sp>
      <p:sp>
        <p:nvSpPr>
          <p:cNvPr id="40" name="Text 37"/>
          <p:cNvSpPr/>
          <p:nvPr/>
        </p:nvSpPr>
        <p:spPr>
          <a:xfrm>
            <a:off x="6565392" y="2148840"/>
            <a:ext cx="5077663" cy="329184"/>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T001–T242, sin reescribirse después.</a:t>
            </a:r>
            <a:endParaRPr lang="en-US" sz="1050" dirty="0"/>
          </a:p>
        </p:txBody>
      </p:sp>
      <p:sp>
        <p:nvSpPr>
          <p:cNvPr id="41" name="Shape 38"/>
          <p:cNvSpPr/>
          <p:nvPr/>
        </p:nvSpPr>
        <p:spPr>
          <a:xfrm>
            <a:off x="6035040" y="2578608"/>
            <a:ext cx="365760" cy="365760"/>
          </a:xfrm>
          <a:prstGeom prst="ellipse">
            <a:avLst/>
          </a:prstGeom>
          <a:solidFill>
            <a:srgbClr val="13232B"/>
          </a:solidFill>
          <a:ln/>
        </p:spPr>
      </p:sp>
      <p:sp>
        <p:nvSpPr>
          <p:cNvPr id="42" name="Text 39"/>
          <p:cNvSpPr/>
          <p:nvPr/>
        </p:nvSpPr>
        <p:spPr>
          <a:xfrm>
            <a:off x="6035040" y="25786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2</a:t>
            </a:r>
            <a:endParaRPr lang="en-US" sz="1200" dirty="0"/>
          </a:p>
        </p:txBody>
      </p:sp>
      <p:sp>
        <p:nvSpPr>
          <p:cNvPr id="43" name="Text 40"/>
          <p:cNvSpPr/>
          <p:nvPr/>
        </p:nvSpPr>
        <p:spPr>
          <a:xfrm>
            <a:off x="6565392" y="2551176"/>
            <a:ext cx="5077663" cy="329184"/>
          </a:xfrm>
          <a:prstGeom prst="rect">
            <a:avLst/>
          </a:prstGeom>
          <a:noFill/>
          <a:ln/>
        </p:spPr>
        <p:txBody>
          <a:bodyPr wrap="square" lIns="0" tIns="0" rIns="0" bIns="0" rtlCol="0" anchor="ctr"/>
          <a:lstStyle/>
          <a:p>
            <a:pPr indent="0" marL="0">
              <a:buNone/>
            </a:pPr>
            <a:r>
              <a:rPr lang="en-US" sz="1600" b="1" dirty="0">
                <a:solidFill>
                  <a:srgbClr val="13232B"/>
                </a:solidFill>
                <a:latin typeface="Bahnschrift" pitchFamily="34" charset="0"/>
                <a:ea typeface="Bahnschrift" pitchFamily="34" charset="-122"/>
                <a:cs typeface="Bahnschrift" pitchFamily="34" charset="-120"/>
              </a:rPr>
              <a:t>Validación post-Baseline cerrada</a:t>
            </a:r>
            <a:endParaRPr lang="en-US" sz="1600" dirty="0"/>
          </a:p>
        </p:txBody>
      </p:sp>
      <p:sp>
        <p:nvSpPr>
          <p:cNvPr id="44" name="Text 41"/>
          <p:cNvSpPr/>
          <p:nvPr/>
        </p:nvSpPr>
        <p:spPr>
          <a:xfrm>
            <a:off x="6565392" y="2880360"/>
            <a:ext cx="5077663" cy="329184"/>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VF-001 a VF-011, cada uno hasta CLOSED.</a:t>
            </a:r>
            <a:endParaRPr lang="en-US" sz="1050" dirty="0"/>
          </a:p>
        </p:txBody>
      </p:sp>
      <p:sp>
        <p:nvSpPr>
          <p:cNvPr id="45" name="Shape 42"/>
          <p:cNvSpPr/>
          <p:nvPr/>
        </p:nvSpPr>
        <p:spPr>
          <a:xfrm>
            <a:off x="6035040" y="3310128"/>
            <a:ext cx="365760" cy="365760"/>
          </a:xfrm>
          <a:prstGeom prst="ellipse">
            <a:avLst/>
          </a:prstGeom>
          <a:solidFill>
            <a:srgbClr val="13232B"/>
          </a:solidFill>
          <a:ln/>
        </p:spPr>
      </p:sp>
      <p:sp>
        <p:nvSpPr>
          <p:cNvPr id="46" name="Text 43"/>
          <p:cNvSpPr/>
          <p:nvPr/>
        </p:nvSpPr>
        <p:spPr>
          <a:xfrm>
            <a:off x="6035040" y="33101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3</a:t>
            </a:r>
            <a:endParaRPr lang="en-US" sz="1200" dirty="0"/>
          </a:p>
        </p:txBody>
      </p:sp>
      <p:sp>
        <p:nvSpPr>
          <p:cNvPr id="47" name="Text 44"/>
          <p:cNvSpPr/>
          <p:nvPr/>
        </p:nvSpPr>
        <p:spPr>
          <a:xfrm>
            <a:off x="6565392" y="3282696"/>
            <a:ext cx="5077663" cy="329184"/>
          </a:xfrm>
          <a:prstGeom prst="rect">
            <a:avLst/>
          </a:prstGeom>
          <a:noFill/>
          <a:ln/>
        </p:spPr>
        <p:txBody>
          <a:bodyPr wrap="square" lIns="0" tIns="0" rIns="0" bIns="0" rtlCol="0" anchor="ctr"/>
          <a:lstStyle/>
          <a:p>
            <a:pPr indent="0" marL="0">
              <a:buNone/>
            </a:pPr>
            <a:r>
              <a:rPr lang="en-US" sz="1600" b="1" dirty="0">
                <a:solidFill>
                  <a:srgbClr val="13232B"/>
                </a:solidFill>
                <a:latin typeface="Bahnschrift" pitchFamily="34" charset="0"/>
                <a:ea typeface="Bahnschrift" pitchFamily="34" charset="-122"/>
                <a:cs typeface="Bahnschrift" pitchFamily="34" charset="-120"/>
              </a:rPr>
              <a:t>Validación manual completada</a:t>
            </a:r>
            <a:endParaRPr lang="en-US" sz="1600" dirty="0"/>
          </a:p>
        </p:txBody>
      </p:sp>
      <p:sp>
        <p:nvSpPr>
          <p:cNvPr id="48" name="Text 45"/>
          <p:cNvSpPr/>
          <p:nvPr/>
        </p:nvSpPr>
        <p:spPr>
          <a:xfrm>
            <a:off x="6565392" y="3611880"/>
            <a:ext cx="5077663" cy="329184"/>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Interfaz verificada, además de las pruebas automatizadas.</a:t>
            </a:r>
            <a:endParaRPr lang="en-US" sz="1050" dirty="0"/>
          </a:p>
        </p:txBody>
      </p:sp>
      <p:sp>
        <p:nvSpPr>
          <p:cNvPr id="49" name="Shape 46"/>
          <p:cNvSpPr/>
          <p:nvPr/>
        </p:nvSpPr>
        <p:spPr>
          <a:xfrm>
            <a:off x="6035040" y="4041648"/>
            <a:ext cx="365760" cy="365760"/>
          </a:xfrm>
          <a:prstGeom prst="ellipse">
            <a:avLst/>
          </a:prstGeom>
          <a:solidFill>
            <a:srgbClr val="13232B"/>
          </a:solidFill>
          <a:ln/>
        </p:spPr>
      </p:sp>
      <p:sp>
        <p:nvSpPr>
          <p:cNvPr id="50" name="Text 47"/>
          <p:cNvSpPr/>
          <p:nvPr/>
        </p:nvSpPr>
        <p:spPr>
          <a:xfrm>
            <a:off x="6035040" y="404164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4</a:t>
            </a:r>
            <a:endParaRPr lang="en-US" sz="1200" dirty="0"/>
          </a:p>
        </p:txBody>
      </p:sp>
      <p:sp>
        <p:nvSpPr>
          <p:cNvPr id="51" name="Text 48"/>
          <p:cNvSpPr/>
          <p:nvPr/>
        </p:nvSpPr>
        <p:spPr>
          <a:xfrm>
            <a:off x="6565392" y="4014216"/>
            <a:ext cx="5077663" cy="329184"/>
          </a:xfrm>
          <a:prstGeom prst="rect">
            <a:avLst/>
          </a:prstGeom>
          <a:noFill/>
          <a:ln/>
        </p:spPr>
        <p:txBody>
          <a:bodyPr wrap="square" lIns="0" tIns="0" rIns="0" bIns="0" rtlCol="0" anchor="ctr"/>
          <a:lstStyle/>
          <a:p>
            <a:pPr indent="0" marL="0">
              <a:buNone/>
            </a:pPr>
            <a:r>
              <a:rPr lang="en-US" sz="1600" b="1" dirty="0">
                <a:solidFill>
                  <a:srgbClr val="13232B"/>
                </a:solidFill>
                <a:latin typeface="Bahnschrift" pitchFamily="34" charset="0"/>
                <a:ea typeface="Bahnschrift" pitchFamily="34" charset="-122"/>
                <a:cs typeface="Bahnschrift" pitchFamily="34" charset="-120"/>
              </a:rPr>
              <a:t>Integración en main</a:t>
            </a:r>
            <a:endParaRPr lang="en-US" sz="1600" dirty="0"/>
          </a:p>
        </p:txBody>
      </p:sp>
      <p:sp>
        <p:nvSpPr>
          <p:cNvPr id="52" name="Text 49"/>
          <p:cNvSpPr/>
          <p:nvPr/>
        </p:nvSpPr>
        <p:spPr>
          <a:xfrm>
            <a:off x="6565392" y="4343400"/>
            <a:ext cx="5077663" cy="329184"/>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PR #5 → merge 6a72260; registro de cierre en el PR #6.</a:t>
            </a:r>
            <a:endParaRPr lang="en-US" sz="1050" dirty="0"/>
          </a:p>
        </p:txBody>
      </p:sp>
      <p:sp>
        <p:nvSpPr>
          <p:cNvPr id="53" name="Shape 50"/>
          <p:cNvSpPr/>
          <p:nvPr/>
        </p:nvSpPr>
        <p:spPr>
          <a:xfrm>
            <a:off x="6035040" y="4773168"/>
            <a:ext cx="365760" cy="365760"/>
          </a:xfrm>
          <a:prstGeom prst="ellipse">
            <a:avLst/>
          </a:prstGeom>
          <a:solidFill>
            <a:srgbClr val="2F7D4A"/>
          </a:solidFill>
          <a:ln/>
        </p:spPr>
      </p:sp>
      <p:sp>
        <p:nvSpPr>
          <p:cNvPr id="54" name="Text 51"/>
          <p:cNvSpPr/>
          <p:nvPr/>
        </p:nvSpPr>
        <p:spPr>
          <a:xfrm>
            <a:off x="6035040" y="47731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5</a:t>
            </a:r>
            <a:endParaRPr lang="en-US" sz="1200" dirty="0"/>
          </a:p>
        </p:txBody>
      </p:sp>
      <p:sp>
        <p:nvSpPr>
          <p:cNvPr id="55" name="Text 52"/>
          <p:cNvSpPr/>
          <p:nvPr/>
        </p:nvSpPr>
        <p:spPr>
          <a:xfrm>
            <a:off x="6565392" y="4745736"/>
            <a:ext cx="5077663" cy="329184"/>
          </a:xfrm>
          <a:prstGeom prst="rect">
            <a:avLst/>
          </a:prstGeom>
          <a:noFill/>
          <a:ln/>
        </p:spPr>
        <p:txBody>
          <a:bodyPr wrap="square" lIns="0" tIns="0" rIns="0" bIns="0" rtlCol="0" anchor="ctr"/>
          <a:lstStyle/>
          <a:p>
            <a:pPr indent="0" marL="0">
              <a:buNone/>
            </a:pPr>
            <a:r>
              <a:rPr lang="en-US" sz="1600" b="1" dirty="0">
                <a:solidFill>
                  <a:srgbClr val="2F7D4A"/>
                </a:solidFill>
                <a:latin typeface="Bahnschrift" pitchFamily="34" charset="0"/>
                <a:ea typeface="Bahnschrift" pitchFamily="34" charset="-122"/>
                <a:cs typeface="Bahnschrift" pitchFamily="34" charset="-120"/>
              </a:rPr>
              <a:t>PROYECTO CERRADO</a:t>
            </a:r>
            <a:endParaRPr lang="en-US" sz="1600" dirty="0"/>
          </a:p>
        </p:txBody>
      </p:sp>
      <p:sp>
        <p:nvSpPr>
          <p:cNvPr id="56" name="Text 53"/>
          <p:cNvSpPr/>
          <p:nvPr/>
        </p:nvSpPr>
        <p:spPr>
          <a:xfrm>
            <a:off x="6565392" y="5074920"/>
            <a:ext cx="5077663" cy="329184"/>
          </a:xfrm>
          <a:prstGeom prst="rect">
            <a:avLst/>
          </a:prstGeom>
          <a:noFill/>
          <a:ln/>
        </p:spPr>
        <p:txBody>
          <a:bodyPr wrap="square" lIns="0" tIns="0" rIns="0" bIns="0" rtlCol="0" anchor="t"/>
          <a:lstStyle/>
          <a:p>
            <a:pPr indent="0" marL="0">
              <a:buNone/>
            </a:pPr>
            <a:r>
              <a:rPr lang="en-US" sz="1050" dirty="0">
                <a:solidFill>
                  <a:srgbClr val="56676F"/>
                </a:solidFill>
                <a:latin typeface="Segoe UI" pitchFamily="34" charset="0"/>
                <a:ea typeface="Segoe UI" pitchFamily="34" charset="-122"/>
                <a:cs typeface="Segoe UI" pitchFamily="34" charset="-120"/>
              </a:rPr>
              <a:t>Con trazabilidad técnica y documental completa.</a:t>
            </a:r>
            <a:endParaRPr lang="en-US" sz="1050" dirty="0"/>
          </a:p>
        </p:txBody>
      </p:sp>
      <p:sp>
        <p:nvSpPr>
          <p:cNvPr id="57" name="Shape 54"/>
          <p:cNvSpPr/>
          <p:nvPr/>
        </p:nvSpPr>
        <p:spPr>
          <a:xfrm>
            <a:off x="548640" y="5669280"/>
            <a:ext cx="11094415" cy="0"/>
          </a:xfrm>
          <a:prstGeom prst="line">
            <a:avLst/>
          </a:prstGeom>
          <a:noFill/>
          <a:ln w="9525">
            <a:solidFill>
              <a:srgbClr val="C8D3D8"/>
            </a:solidFill>
            <a:prstDash val="solid"/>
          </a:ln>
        </p:spPr>
      </p:sp>
      <p:sp>
        <p:nvSpPr>
          <p:cNvPr id="58" name="Text 55"/>
          <p:cNvSpPr/>
          <p:nvPr/>
        </p:nvSpPr>
        <p:spPr>
          <a:xfrm>
            <a:off x="548640" y="5742432"/>
            <a:ext cx="11094415" cy="320040"/>
          </a:xfrm>
          <a:prstGeom prst="rect">
            <a:avLst/>
          </a:prstGeom>
          <a:noFill/>
          <a:ln/>
        </p:spPr>
        <p:txBody>
          <a:bodyPr wrap="square" lIns="0" tIns="0" rIns="0" bIns="0" rtlCol="0" anchor="ctr"/>
          <a:lstStyle/>
          <a:p>
            <a:pPr indent="0" marL="0">
              <a:buNone/>
            </a:pPr>
            <a:r>
              <a:rPr lang="en-US" sz="1050" b="1" dirty="0">
                <a:solidFill>
                  <a:srgbClr val="56676F"/>
                </a:solidFill>
                <a:latin typeface="Segoe UI" pitchFamily="34" charset="0"/>
                <a:ea typeface="Segoe UI" pitchFamily="34" charset="-122"/>
                <a:cs typeface="Segoe UI" pitchFamily="34" charset="-120"/>
              </a:rPr>
              <a:t>Fuera del alcance del proyecto cerrado: </a:t>
            </a:r>
            <a:pPr indent="0" marL="0">
              <a:buNone/>
            </a:pPr>
            <a:r>
              <a:rPr lang="en-US" sz="1050" dirty="0">
                <a:solidFill>
                  <a:srgbClr val="56676F"/>
                </a:solidFill>
                <a:latin typeface="Segoe UI" pitchFamily="34" charset="0"/>
                <a:ea typeface="Segoe UI" pitchFamily="34" charset="-122"/>
                <a:cs typeface="Segoe UI" pitchFamily="34" charset="-120"/>
              </a:rPr>
              <a:t>consultas transversales de auditoría e históricos y dashboard (RF-067 a RF-069, decisión D8) y eliminación de perfiles.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38912" cy="274320"/>
          </a:xfrm>
          <a:prstGeom prst="rect">
            <a:avLst/>
          </a:prstGeom>
          <a:solidFill>
            <a:srgbClr val="F2B233"/>
          </a:solidFill>
          <a:ln/>
        </p:spPr>
      </p:sp>
      <p:sp>
        <p:nvSpPr>
          <p:cNvPr id="3" name="Text 1"/>
          <p:cNvSpPr/>
          <p:nvPr/>
        </p:nvSpPr>
        <p:spPr>
          <a:xfrm>
            <a:off x="548640" y="329184"/>
            <a:ext cx="438912" cy="274320"/>
          </a:xfrm>
          <a:prstGeom prst="rect">
            <a:avLst/>
          </a:prstGeom>
          <a:noFill/>
          <a:ln/>
        </p:spPr>
        <p:txBody>
          <a:bodyPr wrap="square" lIns="0" tIns="0" rIns="0" bIns="0" rtlCol="0" anchor="ctr"/>
          <a:lstStyle/>
          <a:p>
            <a:pPr algn="ctr" indent="0" marL="0">
              <a:buNone/>
            </a:pPr>
            <a:r>
              <a:rPr lang="en-US" sz="1100" b="1" dirty="0">
                <a:solidFill>
                  <a:srgbClr val="13232B"/>
                </a:solidFill>
                <a:latin typeface="Consolas" pitchFamily="34" charset="0"/>
                <a:ea typeface="Consolas" pitchFamily="34" charset="-122"/>
                <a:cs typeface="Consolas" pitchFamily="34" charset="-120"/>
              </a:rPr>
              <a:t>11</a:t>
            </a:r>
            <a:endParaRPr lang="en-US" sz="1100" dirty="0"/>
          </a:p>
        </p:txBody>
      </p:sp>
      <p:sp>
        <p:nvSpPr>
          <p:cNvPr id="4" name="Text 2"/>
          <p:cNvSpPr/>
          <p:nvPr/>
        </p:nvSpPr>
        <p:spPr>
          <a:xfrm>
            <a:off x="1115568" y="329184"/>
            <a:ext cx="5486400" cy="274320"/>
          </a:xfrm>
          <a:prstGeom prst="rect">
            <a:avLst/>
          </a:prstGeom>
          <a:noFill/>
          <a:ln/>
        </p:spPr>
        <p:txBody>
          <a:bodyPr wrap="square" lIns="0" tIns="0" rIns="0" bIns="0" rtlCol="0" anchor="ctr"/>
          <a:lstStyle/>
          <a:p>
            <a:pPr indent="0" marL="0">
              <a:buNone/>
            </a:pPr>
            <a:r>
              <a:rPr lang="en-US" sz="1050" b="1" spc="150" kern="0" dirty="0">
                <a:solidFill>
                  <a:srgbClr val="13232B"/>
                </a:solidFill>
                <a:latin typeface="Consolas" pitchFamily="34" charset="0"/>
                <a:ea typeface="Consolas" pitchFamily="34" charset="-122"/>
                <a:cs typeface="Consolas" pitchFamily="34" charset="-120"/>
              </a:rPr>
              <a:t>CONCLUSIÓN</a:t>
            </a:r>
            <a:endParaRPr lang="en-US" sz="1050" dirty="0"/>
          </a:p>
        </p:txBody>
      </p:sp>
      <p:sp>
        <p:nvSpPr>
          <p:cNvPr id="5" name="Text 3"/>
          <p:cNvSpPr/>
          <p:nvPr/>
        </p:nvSpPr>
        <p:spPr>
          <a:xfrm>
            <a:off x="6156655" y="329184"/>
            <a:ext cx="5486400" cy="274320"/>
          </a:xfrm>
          <a:prstGeom prst="rect">
            <a:avLst/>
          </a:prstGeom>
          <a:noFill/>
          <a:ln/>
        </p:spPr>
        <p:txBody>
          <a:bodyPr wrap="square" lIns="0" tIns="0" rIns="0" bIns="0" rtlCol="0" anchor="ctr"/>
          <a:lstStyle/>
          <a:p>
            <a:pPr algn="r" indent="0" marL="0">
              <a:buNone/>
            </a:pPr>
            <a:r>
              <a:rPr lang="en-US" sz="950" spc="150" kern="0" dirty="0">
                <a:solidFill>
                  <a:srgbClr val="56676F"/>
                </a:solidFill>
                <a:latin typeface="Consolas" pitchFamily="34" charset="0"/>
                <a:ea typeface="Consolas" pitchFamily="34" charset="-122"/>
                <a:cs typeface="Consolas" pitchFamily="34" charset="-120"/>
              </a:rPr>
              <a:t>LO APRENDIDO</a:t>
            </a:r>
            <a:endParaRPr lang="en-US" sz="950" dirty="0"/>
          </a:p>
        </p:txBody>
      </p:sp>
      <p:sp>
        <p:nvSpPr>
          <p:cNvPr id="6" name="Text 4"/>
          <p:cNvSpPr/>
          <p:nvPr/>
        </p:nvSpPr>
        <p:spPr>
          <a:xfrm>
            <a:off x="548640" y="6446520"/>
            <a:ext cx="8229600" cy="228600"/>
          </a:xfrm>
          <a:prstGeom prst="rect">
            <a:avLst/>
          </a:prstGeom>
          <a:noFill/>
          <a:ln/>
        </p:spPr>
        <p:txBody>
          <a:bodyPr wrap="square" lIns="0" tIns="0" rIns="0" bIns="0" rtlCol="0" anchor="t"/>
          <a:lstStyle/>
          <a:p>
            <a:pPr indent="0" marL="0">
              <a:buNone/>
            </a:pPr>
            <a:r>
              <a:rPr lang="en-US" sz="850" dirty="0">
                <a:solidFill>
                  <a:srgbClr val="56676F"/>
                </a:solidFill>
                <a:latin typeface="Consolas" pitchFamily="34" charset="0"/>
                <a:ea typeface="Consolas" pitchFamily="34" charset="-122"/>
                <a:cs typeface="Consolas" pitchFamily="34" charset="-120"/>
              </a:rPr>
              <a:t>David Sánchez Rafael · AI Spec Driven Net10</a:t>
            </a:r>
            <a:endParaRPr lang="en-US" sz="850" dirty="0"/>
          </a:p>
        </p:txBody>
      </p:sp>
      <p:sp>
        <p:nvSpPr>
          <p:cNvPr id="7" name="Text 5"/>
          <p:cNvSpPr/>
          <p:nvPr/>
        </p:nvSpPr>
        <p:spPr>
          <a:xfrm>
            <a:off x="9814255" y="6446520"/>
            <a:ext cx="1828800" cy="228600"/>
          </a:xfrm>
          <a:prstGeom prst="rect">
            <a:avLst/>
          </a:prstGeom>
          <a:noFill/>
          <a:ln/>
        </p:spPr>
        <p:txBody>
          <a:bodyPr wrap="square" lIns="0" tIns="0" rIns="0" bIns="0" rtlCol="0" anchor="t"/>
          <a:lstStyle/>
          <a:p>
            <a:pPr algn="r" indent="0" marL="0">
              <a:buNone/>
            </a:pPr>
            <a:r>
              <a:rPr lang="en-US" sz="850" dirty="0">
                <a:solidFill>
                  <a:srgbClr val="56676F"/>
                </a:solidFill>
                <a:latin typeface="Consolas" pitchFamily="34" charset="0"/>
                <a:ea typeface="Consolas" pitchFamily="34" charset="-122"/>
                <a:cs typeface="Consolas" pitchFamily="34" charset="-120"/>
              </a:rPr>
              <a:t>11 / 11</a:t>
            </a:r>
            <a:endParaRPr lang="en-US" sz="850" dirty="0"/>
          </a:p>
        </p:txBody>
      </p:sp>
      <p:sp>
        <p:nvSpPr>
          <p:cNvPr id="9" name="Text 6"/>
          <p:cNvSpPr/>
          <p:nvPr/>
        </p:nvSpPr>
        <p:spPr>
          <a:xfrm>
            <a:off x="548640" y="777240"/>
            <a:ext cx="11094415" cy="658368"/>
          </a:xfrm>
          <a:prstGeom prst="rect">
            <a:avLst/>
          </a:prstGeom>
          <a:noFill/>
          <a:ln/>
        </p:spPr>
        <p:txBody>
          <a:bodyPr wrap="square" lIns="0" tIns="0" rIns="0" bIns="0" rtlCol="0" anchor="ctr"/>
          <a:lstStyle/>
          <a:p>
            <a:pPr indent="0" marL="0">
              <a:buNone/>
            </a:pPr>
            <a:r>
              <a:rPr lang="en-US" sz="3200" b="1" dirty="0">
                <a:solidFill>
                  <a:srgbClr val="13232B"/>
                </a:solidFill>
                <a:latin typeface="Bahnschrift" pitchFamily="34" charset="0"/>
                <a:ea typeface="Bahnschrift" pitchFamily="34" charset="-122"/>
                <a:cs typeface="Bahnschrift" pitchFamily="34" charset="-120"/>
              </a:rPr>
              <a:t>Especificar primero hizo que la IA construyera lo correcto</a:t>
            </a:r>
            <a:endParaRPr lang="en-US" sz="3200" dirty="0"/>
          </a:p>
        </p:txBody>
      </p:sp>
      <p:sp>
        <p:nvSpPr>
          <p:cNvPr id="10" name="Shape 7"/>
          <p:cNvSpPr/>
          <p:nvPr/>
        </p:nvSpPr>
        <p:spPr>
          <a:xfrm>
            <a:off x="548640" y="1554480"/>
            <a:ext cx="3246120" cy="27432"/>
          </a:xfrm>
          <a:prstGeom prst="rect">
            <a:avLst/>
          </a:prstGeom>
          <a:solidFill>
            <a:srgbClr val="C8D3D8"/>
          </a:solidFill>
          <a:ln/>
        </p:spPr>
      </p:sp>
      <p:sp>
        <p:nvSpPr>
          <p:cNvPr id="11" name="Text 8"/>
          <p:cNvSpPr/>
          <p:nvPr/>
        </p:nvSpPr>
        <p:spPr>
          <a:xfrm>
            <a:off x="548640" y="1645920"/>
            <a:ext cx="3246120" cy="310896"/>
          </a:xfrm>
          <a:prstGeom prst="rect">
            <a:avLst/>
          </a:prstGeom>
          <a:noFill/>
          <a:ln/>
        </p:spPr>
        <p:txBody>
          <a:bodyPr wrap="square" lIns="0" tIns="0" rIns="0" bIns="0" rtlCol="0" anchor="ctr"/>
          <a:lstStyle/>
          <a:p>
            <a:pPr indent="0" marL="0">
              <a:buNone/>
            </a:pPr>
            <a:r>
              <a:rPr lang="en-US" sz="1500" b="1" dirty="0">
                <a:solidFill>
                  <a:srgbClr val="13232B"/>
                </a:solidFill>
                <a:latin typeface="Bahnschrift" pitchFamily="34" charset="0"/>
                <a:ea typeface="Bahnschrift" pitchFamily="34" charset="-122"/>
                <a:cs typeface="Bahnschrift" pitchFamily="34" charset="-120"/>
              </a:rPr>
              <a:t>La spec es el contrato</a:t>
            </a:r>
            <a:endParaRPr lang="en-US" sz="1500" dirty="0"/>
          </a:p>
        </p:txBody>
      </p:sp>
      <p:sp>
        <p:nvSpPr>
          <p:cNvPr id="12" name="Text 9"/>
          <p:cNvSpPr/>
          <p:nvPr/>
        </p:nvSpPr>
        <p:spPr>
          <a:xfrm>
            <a:off x="548640" y="1956816"/>
            <a:ext cx="3246120" cy="603504"/>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Con requisitos y criterios numerados, la IA implementa contra algo verificable y no contra una suposición.</a:t>
            </a:r>
            <a:endParaRPr lang="en-US" sz="1000" dirty="0"/>
          </a:p>
        </p:txBody>
      </p:sp>
      <p:sp>
        <p:nvSpPr>
          <p:cNvPr id="13" name="Shape 10"/>
          <p:cNvSpPr/>
          <p:nvPr/>
        </p:nvSpPr>
        <p:spPr>
          <a:xfrm>
            <a:off x="4023360" y="1554480"/>
            <a:ext cx="3246120" cy="27432"/>
          </a:xfrm>
          <a:prstGeom prst="rect">
            <a:avLst/>
          </a:prstGeom>
          <a:solidFill>
            <a:srgbClr val="C8D3D8"/>
          </a:solidFill>
          <a:ln/>
        </p:spPr>
      </p:sp>
      <p:sp>
        <p:nvSpPr>
          <p:cNvPr id="14" name="Text 11"/>
          <p:cNvSpPr/>
          <p:nvPr/>
        </p:nvSpPr>
        <p:spPr>
          <a:xfrm>
            <a:off x="4023360" y="1645920"/>
            <a:ext cx="3246120" cy="310896"/>
          </a:xfrm>
          <a:prstGeom prst="rect">
            <a:avLst/>
          </a:prstGeom>
          <a:noFill/>
          <a:ln/>
        </p:spPr>
        <p:txBody>
          <a:bodyPr wrap="square" lIns="0" tIns="0" rIns="0" bIns="0" rtlCol="0" anchor="ctr"/>
          <a:lstStyle/>
          <a:p>
            <a:pPr indent="0" marL="0">
              <a:buNone/>
            </a:pPr>
            <a:r>
              <a:rPr lang="en-US" sz="1500" b="1" dirty="0">
                <a:solidFill>
                  <a:srgbClr val="13232B"/>
                </a:solidFill>
                <a:latin typeface="Bahnschrift" pitchFamily="34" charset="0"/>
                <a:ea typeface="Bahnschrift" pitchFamily="34" charset="-122"/>
                <a:cs typeface="Bahnschrift" pitchFamily="34" charset="-120"/>
              </a:rPr>
              <a:t>Clarificar ahorra código</a:t>
            </a:r>
            <a:endParaRPr lang="en-US" sz="1500" dirty="0"/>
          </a:p>
        </p:txBody>
      </p:sp>
      <p:sp>
        <p:nvSpPr>
          <p:cNvPr id="15" name="Text 12"/>
          <p:cNvSpPr/>
          <p:nvPr/>
        </p:nvSpPr>
        <p:spPr>
          <a:xfrm>
            <a:off x="4023360" y="1956816"/>
            <a:ext cx="3246120" cy="603504"/>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Las 17 sesiones cambiaron el modelo antes de programarlo, que es cuando corregir es barato.</a:t>
            </a:r>
            <a:endParaRPr lang="en-US" sz="1000" dirty="0"/>
          </a:p>
        </p:txBody>
      </p:sp>
      <p:sp>
        <p:nvSpPr>
          <p:cNvPr id="16" name="Shape 13"/>
          <p:cNvSpPr/>
          <p:nvPr/>
        </p:nvSpPr>
        <p:spPr>
          <a:xfrm>
            <a:off x="548640" y="2606040"/>
            <a:ext cx="3246120" cy="27432"/>
          </a:xfrm>
          <a:prstGeom prst="rect">
            <a:avLst/>
          </a:prstGeom>
          <a:solidFill>
            <a:srgbClr val="C8D3D8"/>
          </a:solidFill>
          <a:ln/>
        </p:spPr>
      </p:sp>
      <p:sp>
        <p:nvSpPr>
          <p:cNvPr id="17" name="Text 14"/>
          <p:cNvSpPr/>
          <p:nvPr/>
        </p:nvSpPr>
        <p:spPr>
          <a:xfrm>
            <a:off x="548640" y="2697480"/>
            <a:ext cx="3246120" cy="310896"/>
          </a:xfrm>
          <a:prstGeom prst="rect">
            <a:avLst/>
          </a:prstGeom>
          <a:noFill/>
          <a:ln/>
        </p:spPr>
        <p:txBody>
          <a:bodyPr wrap="square" lIns="0" tIns="0" rIns="0" bIns="0" rtlCol="0" anchor="ctr"/>
          <a:lstStyle/>
          <a:p>
            <a:pPr indent="0" marL="0">
              <a:buNone/>
            </a:pPr>
            <a:r>
              <a:rPr lang="en-US" sz="1500" b="1" dirty="0">
                <a:solidFill>
                  <a:srgbClr val="13232B"/>
                </a:solidFill>
                <a:latin typeface="Bahnschrift" pitchFamily="34" charset="0"/>
                <a:ea typeface="Bahnschrift" pitchFamily="34" charset="-122"/>
                <a:cs typeface="Bahnschrift" pitchFamily="34" charset="-120"/>
              </a:rPr>
              <a:t>La constitución protege</a:t>
            </a:r>
            <a:endParaRPr lang="en-US" sz="1500" dirty="0"/>
          </a:p>
        </p:txBody>
      </p:sp>
      <p:sp>
        <p:nvSpPr>
          <p:cNvPr id="18" name="Text 15"/>
          <p:cNvSpPr/>
          <p:nvPr/>
        </p:nvSpPr>
        <p:spPr>
          <a:xfrm>
            <a:off x="548640" y="3008376"/>
            <a:ext cx="3246120" cy="603504"/>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Seguridad en el servidor, UTC y pruebas obligatorias se respetaron en cada fase sin renegociarse.</a:t>
            </a:r>
            <a:endParaRPr lang="en-US" sz="1000" dirty="0"/>
          </a:p>
        </p:txBody>
      </p:sp>
      <p:sp>
        <p:nvSpPr>
          <p:cNvPr id="19" name="Shape 16"/>
          <p:cNvSpPr/>
          <p:nvPr/>
        </p:nvSpPr>
        <p:spPr>
          <a:xfrm>
            <a:off x="4023360" y="2606040"/>
            <a:ext cx="3246120" cy="27432"/>
          </a:xfrm>
          <a:prstGeom prst="rect">
            <a:avLst/>
          </a:prstGeom>
          <a:solidFill>
            <a:srgbClr val="C8D3D8"/>
          </a:solidFill>
          <a:ln/>
        </p:spPr>
      </p:sp>
      <p:sp>
        <p:nvSpPr>
          <p:cNvPr id="20" name="Text 17"/>
          <p:cNvSpPr/>
          <p:nvPr/>
        </p:nvSpPr>
        <p:spPr>
          <a:xfrm>
            <a:off x="4023360" y="2697480"/>
            <a:ext cx="3246120" cy="310896"/>
          </a:xfrm>
          <a:prstGeom prst="rect">
            <a:avLst/>
          </a:prstGeom>
          <a:noFill/>
          <a:ln/>
        </p:spPr>
        <p:txBody>
          <a:bodyPr wrap="square" lIns="0" tIns="0" rIns="0" bIns="0" rtlCol="0" anchor="ctr"/>
          <a:lstStyle/>
          <a:p>
            <a:pPr indent="0" marL="0">
              <a:buNone/>
            </a:pPr>
            <a:r>
              <a:rPr lang="en-US" sz="1500" b="1" dirty="0">
                <a:solidFill>
                  <a:srgbClr val="13232B"/>
                </a:solidFill>
                <a:latin typeface="Bahnschrift" pitchFamily="34" charset="0"/>
                <a:ea typeface="Bahnschrift" pitchFamily="34" charset="-122"/>
                <a:cs typeface="Bahnschrift" pitchFamily="34" charset="-120"/>
              </a:rPr>
              <a:t>Analizar antes de implementar</a:t>
            </a:r>
            <a:endParaRPr lang="en-US" sz="1500" dirty="0"/>
          </a:p>
        </p:txBody>
      </p:sp>
      <p:sp>
        <p:nvSpPr>
          <p:cNvPr id="21" name="Text 18"/>
          <p:cNvSpPr/>
          <p:nvPr/>
        </p:nvSpPr>
        <p:spPr>
          <a:xfrm>
            <a:off x="4023360" y="3008376"/>
            <a:ext cx="3246120" cy="603504"/>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/speckit-analyze encontró contradicciones entre spec, plan y tareas cuando aún eran solo texto.</a:t>
            </a:r>
            <a:endParaRPr lang="en-US" sz="1000" dirty="0"/>
          </a:p>
        </p:txBody>
      </p:sp>
      <p:sp>
        <p:nvSpPr>
          <p:cNvPr id="22" name="Shape 19"/>
          <p:cNvSpPr/>
          <p:nvPr/>
        </p:nvSpPr>
        <p:spPr>
          <a:xfrm>
            <a:off x="548640" y="3657600"/>
            <a:ext cx="3246120" cy="27432"/>
          </a:xfrm>
          <a:prstGeom prst="rect">
            <a:avLst/>
          </a:prstGeom>
          <a:solidFill>
            <a:srgbClr val="C8D3D8"/>
          </a:solidFill>
          <a:ln/>
        </p:spPr>
      </p:sp>
      <p:sp>
        <p:nvSpPr>
          <p:cNvPr id="23" name="Text 20"/>
          <p:cNvSpPr/>
          <p:nvPr/>
        </p:nvSpPr>
        <p:spPr>
          <a:xfrm>
            <a:off x="548640" y="3749040"/>
            <a:ext cx="3246120" cy="310896"/>
          </a:xfrm>
          <a:prstGeom prst="rect">
            <a:avLst/>
          </a:prstGeom>
          <a:noFill/>
          <a:ln/>
        </p:spPr>
        <p:txBody>
          <a:bodyPr wrap="square" lIns="0" tIns="0" rIns="0" bIns="0" rtlCol="0" anchor="ctr"/>
          <a:lstStyle/>
          <a:p>
            <a:pPr indent="0" marL="0">
              <a:buNone/>
            </a:pPr>
            <a:r>
              <a:rPr lang="en-US" sz="1500" b="1" dirty="0">
                <a:solidFill>
                  <a:srgbClr val="13232B"/>
                </a:solidFill>
                <a:latin typeface="Bahnschrift" pitchFamily="34" charset="0"/>
                <a:ea typeface="Bahnschrift" pitchFamily="34" charset="-122"/>
                <a:cs typeface="Bahnschrift" pitchFamily="34" charset="-120"/>
              </a:rPr>
              <a:t>Trazabilidad completa</a:t>
            </a:r>
            <a:endParaRPr lang="en-US" sz="1500" dirty="0"/>
          </a:p>
        </p:txBody>
      </p:sp>
      <p:sp>
        <p:nvSpPr>
          <p:cNvPr id="24" name="Text 21"/>
          <p:cNvSpPr/>
          <p:nvPr/>
        </p:nvSpPr>
        <p:spPr>
          <a:xfrm>
            <a:off x="548640" y="4059936"/>
            <a:ext cx="3246120" cy="603504"/>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Cada requisito lleva a sus tareas, a sus pruebas y a su commit, y los cambios se añaden sin reescribir la historia.</a:t>
            </a:r>
            <a:endParaRPr lang="en-US" sz="1000" dirty="0"/>
          </a:p>
        </p:txBody>
      </p:sp>
      <p:sp>
        <p:nvSpPr>
          <p:cNvPr id="25" name="Shape 22"/>
          <p:cNvSpPr/>
          <p:nvPr/>
        </p:nvSpPr>
        <p:spPr>
          <a:xfrm>
            <a:off x="4023360" y="3657600"/>
            <a:ext cx="3246120" cy="27432"/>
          </a:xfrm>
          <a:prstGeom prst="rect">
            <a:avLst/>
          </a:prstGeom>
          <a:solidFill>
            <a:srgbClr val="C8D3D8"/>
          </a:solidFill>
          <a:ln/>
        </p:spPr>
      </p:sp>
      <p:sp>
        <p:nvSpPr>
          <p:cNvPr id="26" name="Text 23"/>
          <p:cNvSpPr/>
          <p:nvPr/>
        </p:nvSpPr>
        <p:spPr>
          <a:xfrm>
            <a:off x="4023360" y="3749040"/>
            <a:ext cx="3246120" cy="310896"/>
          </a:xfrm>
          <a:prstGeom prst="rect">
            <a:avLst/>
          </a:prstGeom>
          <a:noFill/>
          <a:ln/>
        </p:spPr>
        <p:txBody>
          <a:bodyPr wrap="square" lIns="0" tIns="0" rIns="0" bIns="0" rtlCol="0" anchor="ctr"/>
          <a:lstStyle/>
          <a:p>
            <a:pPr indent="0" marL="0">
              <a:buNone/>
            </a:pPr>
            <a:r>
              <a:rPr lang="en-US" sz="1500" b="1" dirty="0">
                <a:solidFill>
                  <a:srgbClr val="13232B"/>
                </a:solidFill>
                <a:latin typeface="Bahnschrift" pitchFamily="34" charset="0"/>
                <a:ea typeface="Bahnschrift" pitchFamily="34" charset="-122"/>
                <a:cs typeface="Bahnschrift" pitchFamily="34" charset="-120"/>
              </a:rPr>
              <a:t>Probar que las pruebas prueban</a:t>
            </a:r>
            <a:endParaRPr lang="en-US" sz="1500" dirty="0"/>
          </a:p>
        </p:txBody>
      </p:sp>
      <p:sp>
        <p:nvSpPr>
          <p:cNvPr id="27" name="Text 24"/>
          <p:cNvSpPr/>
          <p:nvPr/>
        </p:nvSpPr>
        <p:spPr>
          <a:xfrm>
            <a:off x="4023360" y="4059936"/>
            <a:ext cx="3246120" cy="603504"/>
          </a:xfrm>
          <a:prstGeom prst="rect">
            <a:avLst/>
          </a:prstGeom>
          <a:noFill/>
          <a:ln/>
        </p:spPr>
        <p:txBody>
          <a:bodyPr wrap="square" lIns="0" tIns="0" rIns="0" bIns="0" rtlCol="0" anchor="t"/>
          <a:lstStyle/>
          <a:p>
            <a:pPr indent="0" marL="0">
              <a:buNone/>
            </a:pPr>
            <a:r>
              <a:rPr lang="en-US" sz="1000" dirty="0">
                <a:solidFill>
                  <a:srgbClr val="56676F"/>
                </a:solidFill>
                <a:latin typeface="Segoe UI" pitchFamily="34" charset="0"/>
                <a:ea typeface="Segoe UI" pitchFamily="34" charset="-122"/>
                <a:cs typeface="Segoe UI" pitchFamily="34" charset="-120"/>
              </a:rPr>
              <a:t>Las regresiones dirigidas demostraron que cada prueba nueva detecta el fallo que dice cubrir.</a:t>
            </a:r>
            <a:endParaRPr lang="en-US" sz="1000" dirty="0"/>
          </a:p>
        </p:txBody>
      </p:sp>
      <p:sp>
        <p:nvSpPr>
          <p:cNvPr id="28" name="Shape 25"/>
          <p:cNvSpPr/>
          <p:nvPr/>
        </p:nvSpPr>
        <p:spPr>
          <a:xfrm>
            <a:off x="7543800" y="1554480"/>
            <a:ext cx="4099255" cy="3429000"/>
          </a:xfrm>
          <a:prstGeom prst="roundRect">
            <a:avLst>
              <a:gd name="adj" fmla="val 2667"/>
            </a:avLst>
          </a:prstGeom>
          <a:solidFill>
            <a:srgbClr val="13232B"/>
          </a:solidFill>
          <a:ln/>
        </p:spPr>
      </p:sp>
      <p:sp>
        <p:nvSpPr>
          <p:cNvPr id="29" name="Text 26"/>
          <p:cNvSpPr/>
          <p:nvPr/>
        </p:nvSpPr>
        <p:spPr>
          <a:xfrm>
            <a:off x="7744968" y="1691640"/>
            <a:ext cx="3696919" cy="228600"/>
          </a:xfrm>
          <a:prstGeom prst="rect">
            <a:avLst/>
          </a:prstGeom>
          <a:noFill/>
          <a:ln/>
        </p:spPr>
        <p:txBody>
          <a:bodyPr wrap="square" lIns="0" tIns="0" rIns="0" bIns="0" rtlCol="0" anchor="t"/>
          <a:lstStyle/>
          <a:p>
            <a:pPr indent="0" marL="0">
              <a:buNone/>
            </a:pPr>
            <a:r>
              <a:rPr lang="en-US" sz="900" spc="100" kern="0" dirty="0">
                <a:solidFill>
                  <a:srgbClr val="F2B233"/>
                </a:solidFill>
                <a:latin typeface="Consolas" pitchFamily="34" charset="0"/>
                <a:ea typeface="Consolas" pitchFamily="34" charset="-122"/>
                <a:cs typeface="Consolas" pitchFamily="34" charset="-120"/>
              </a:rPr>
              <a:t>UN CAMBIO REAL DE PRINCIPIO A FIN</a:t>
            </a:r>
            <a:endParaRPr lang="en-US" sz="900" dirty="0"/>
          </a:p>
        </p:txBody>
      </p:sp>
      <p:sp>
        <p:nvSpPr>
          <p:cNvPr id="30" name="Text 27"/>
          <p:cNvSpPr/>
          <p:nvPr/>
        </p:nvSpPr>
        <p:spPr>
          <a:xfrm>
            <a:off x="7744968" y="1920240"/>
            <a:ext cx="3696919" cy="594360"/>
          </a:xfrm>
          <a:prstGeom prst="rect">
            <a:avLst/>
          </a:prstGeom>
          <a:noFill/>
          <a:ln/>
        </p:spPr>
        <p:txBody>
          <a:bodyPr wrap="square" lIns="0" tIns="0" rIns="0" bIns="0" rtlCol="0" anchor="t"/>
          <a:lstStyle/>
          <a:p>
            <a:pPr indent="0" marL="0">
              <a:buNone/>
            </a:pPr>
            <a:r>
              <a:rPr lang="en-US" sz="1700" b="1" dirty="0">
                <a:solidFill>
                  <a:srgbClr val="FFFFFF"/>
                </a:solidFill>
                <a:latin typeface="Bahnschrift" pitchFamily="34" charset="0"/>
                <a:ea typeface="Bahnschrift" pitchFamily="34" charset="-122"/>
                <a:cs typeface="Bahnschrift" pitchFamily="34" charset="-120"/>
              </a:rPr>
              <a:t>VF-004 · la vigencia del permiso pasa a días completos</a:t>
            </a:r>
            <a:endParaRPr lang="en-US" sz="1700" dirty="0"/>
          </a:p>
        </p:txBody>
      </p:sp>
      <p:sp>
        <p:nvSpPr>
          <p:cNvPr id="31" name="Text 28"/>
          <p:cNvSpPr/>
          <p:nvPr/>
        </p:nvSpPr>
        <p:spPr>
          <a:xfrm>
            <a:off x="7744968" y="2514600"/>
            <a:ext cx="1005840" cy="329184"/>
          </a:xfrm>
          <a:prstGeom prst="rect">
            <a:avLst/>
          </a:prstGeom>
          <a:noFill/>
          <a:ln/>
        </p:spPr>
        <p:txBody>
          <a:bodyPr wrap="square" lIns="0" tIns="0" rIns="0" bIns="0" rtlCol="0" anchor="ctr"/>
          <a:lstStyle/>
          <a:p>
            <a:pPr indent="0" marL="0">
              <a:buNone/>
            </a:pPr>
            <a:r>
              <a:rPr lang="en-US" sz="950" dirty="0">
                <a:solidFill>
                  <a:srgbClr val="F2B233"/>
                </a:solidFill>
                <a:latin typeface="Consolas" pitchFamily="34" charset="0"/>
                <a:ea typeface="Consolas" pitchFamily="34" charset="-122"/>
                <a:cs typeface="Consolas" pitchFamily="34" charset="-120"/>
              </a:rPr>
              <a:t>Análisis</a:t>
            </a:r>
            <a:endParaRPr lang="en-US" sz="950" dirty="0"/>
          </a:p>
        </p:txBody>
      </p:sp>
      <p:sp>
        <p:nvSpPr>
          <p:cNvPr id="32" name="Text 29"/>
          <p:cNvSpPr/>
          <p:nvPr/>
        </p:nvSpPr>
        <p:spPr>
          <a:xfrm>
            <a:off x="8778240" y="2514600"/>
            <a:ext cx="2663647" cy="329184"/>
          </a:xfrm>
          <a:prstGeom prst="rect">
            <a:avLst/>
          </a:prstGeom>
          <a:noFill/>
          <a:ln/>
        </p:spPr>
        <p:txBody>
          <a:bodyPr wrap="square" lIns="0" tIns="0" rIns="0" bIns="0" rtlCol="0" anchor="ctr"/>
          <a:lstStyle/>
          <a:p>
            <a:pPr indent="0" marL="0">
              <a:buNone/>
            </a:pPr>
            <a:r>
              <a:rPr lang="en-US" sz="950" dirty="0">
                <a:solidFill>
                  <a:srgbClr val="E4EBEE"/>
                </a:solidFill>
                <a:latin typeface="Segoe UI" pitchFamily="34" charset="0"/>
                <a:ea typeface="Segoe UI" pitchFamily="34" charset="-122"/>
                <a:cs typeface="Segoe UI" pitchFamily="34" charset="-120"/>
              </a:rPr>
              <a:t>la spec pedía fecha y hora; se trató como cambio de requisito</a:t>
            </a:r>
            <a:endParaRPr lang="en-US" sz="950" dirty="0"/>
          </a:p>
        </p:txBody>
      </p:sp>
      <p:sp>
        <p:nvSpPr>
          <p:cNvPr id="33" name="Shape 30"/>
          <p:cNvSpPr/>
          <p:nvPr/>
        </p:nvSpPr>
        <p:spPr>
          <a:xfrm>
            <a:off x="7744968" y="2852928"/>
            <a:ext cx="3696919" cy="0"/>
          </a:xfrm>
          <a:prstGeom prst="line">
            <a:avLst/>
          </a:prstGeom>
          <a:noFill/>
          <a:ln w="6350">
            <a:solidFill>
              <a:srgbClr val="3A4B53"/>
            </a:solidFill>
            <a:prstDash val="solid"/>
          </a:ln>
        </p:spPr>
      </p:sp>
      <p:sp>
        <p:nvSpPr>
          <p:cNvPr id="34" name="Text 31"/>
          <p:cNvSpPr/>
          <p:nvPr/>
        </p:nvSpPr>
        <p:spPr>
          <a:xfrm>
            <a:off x="7744968" y="2862072"/>
            <a:ext cx="1005840" cy="329184"/>
          </a:xfrm>
          <a:prstGeom prst="rect">
            <a:avLst/>
          </a:prstGeom>
          <a:noFill/>
          <a:ln/>
        </p:spPr>
        <p:txBody>
          <a:bodyPr wrap="square" lIns="0" tIns="0" rIns="0" bIns="0" rtlCol="0" anchor="ctr"/>
          <a:lstStyle/>
          <a:p>
            <a:pPr indent="0" marL="0">
              <a:buNone/>
            </a:pPr>
            <a:r>
              <a:rPr lang="en-US" sz="950" dirty="0">
                <a:solidFill>
                  <a:srgbClr val="F2B233"/>
                </a:solidFill>
                <a:latin typeface="Consolas" pitchFamily="34" charset="0"/>
                <a:ea typeface="Consolas" pitchFamily="34" charset="-122"/>
                <a:cs typeface="Consolas" pitchFamily="34" charset="-120"/>
              </a:rPr>
              <a:t>Clarify</a:t>
            </a:r>
            <a:endParaRPr lang="en-US" sz="950" dirty="0"/>
          </a:p>
        </p:txBody>
      </p:sp>
      <p:sp>
        <p:nvSpPr>
          <p:cNvPr id="35" name="Text 32"/>
          <p:cNvSpPr/>
          <p:nvPr/>
        </p:nvSpPr>
        <p:spPr>
          <a:xfrm>
            <a:off x="8778240" y="2862072"/>
            <a:ext cx="2663647" cy="329184"/>
          </a:xfrm>
          <a:prstGeom prst="rect">
            <a:avLst/>
          </a:prstGeom>
          <a:noFill/>
          <a:ln/>
        </p:spPr>
        <p:txBody>
          <a:bodyPr wrap="square" lIns="0" tIns="0" rIns="0" bIns="0" rtlCol="0" anchor="ctr"/>
          <a:lstStyle/>
          <a:p>
            <a:pPr indent="0" marL="0">
              <a:buNone/>
            </a:pPr>
            <a:r>
              <a:rPr lang="en-US" sz="950" dirty="0">
                <a:solidFill>
                  <a:srgbClr val="E4EBEE"/>
                </a:solidFill>
                <a:latin typeface="Segoe UI" pitchFamily="34" charset="0"/>
                <a:ea typeface="Segoe UI" pitchFamily="34" charset="-122"/>
                <a:cs typeface="Segoe UI" pitchFamily="34" charset="-120"/>
              </a:rPr>
              <a:t>7 decisiones (F-1 a F-7) y la nueva RF-083</a:t>
            </a:r>
            <a:endParaRPr lang="en-US" sz="950" dirty="0"/>
          </a:p>
        </p:txBody>
      </p:sp>
      <p:sp>
        <p:nvSpPr>
          <p:cNvPr id="36" name="Shape 33"/>
          <p:cNvSpPr/>
          <p:nvPr/>
        </p:nvSpPr>
        <p:spPr>
          <a:xfrm>
            <a:off x="7744968" y="3200400"/>
            <a:ext cx="3696919" cy="0"/>
          </a:xfrm>
          <a:prstGeom prst="line">
            <a:avLst/>
          </a:prstGeom>
          <a:noFill/>
          <a:ln w="6350">
            <a:solidFill>
              <a:srgbClr val="3A4B53"/>
            </a:solidFill>
            <a:prstDash val="solid"/>
          </a:ln>
        </p:spPr>
      </p:sp>
      <p:sp>
        <p:nvSpPr>
          <p:cNvPr id="37" name="Text 34"/>
          <p:cNvSpPr/>
          <p:nvPr/>
        </p:nvSpPr>
        <p:spPr>
          <a:xfrm>
            <a:off x="7744968" y="3209544"/>
            <a:ext cx="1005840" cy="329184"/>
          </a:xfrm>
          <a:prstGeom prst="rect">
            <a:avLst/>
          </a:prstGeom>
          <a:noFill/>
          <a:ln/>
        </p:spPr>
        <p:txBody>
          <a:bodyPr wrap="square" lIns="0" tIns="0" rIns="0" bIns="0" rtlCol="0" anchor="ctr"/>
          <a:lstStyle/>
          <a:p>
            <a:pPr indent="0" marL="0">
              <a:buNone/>
            </a:pPr>
            <a:r>
              <a:rPr lang="en-US" sz="950" dirty="0">
                <a:solidFill>
                  <a:srgbClr val="F2B233"/>
                </a:solidFill>
                <a:latin typeface="Consolas" pitchFamily="34" charset="0"/>
                <a:ea typeface="Consolas" pitchFamily="34" charset="-122"/>
                <a:cs typeface="Consolas" pitchFamily="34" charset="-120"/>
              </a:rPr>
              <a:t>Plan</a:t>
            </a:r>
            <a:endParaRPr lang="en-US" sz="950" dirty="0"/>
          </a:p>
        </p:txBody>
      </p:sp>
      <p:sp>
        <p:nvSpPr>
          <p:cNvPr id="38" name="Text 35"/>
          <p:cNvSpPr/>
          <p:nvPr/>
        </p:nvSpPr>
        <p:spPr>
          <a:xfrm>
            <a:off x="8778240" y="3209544"/>
            <a:ext cx="2663647" cy="329184"/>
          </a:xfrm>
          <a:prstGeom prst="rect">
            <a:avLst/>
          </a:prstGeom>
          <a:noFill/>
          <a:ln/>
        </p:spPr>
        <p:txBody>
          <a:bodyPr wrap="square" lIns="0" tIns="0" rIns="0" bIns="0" rtlCol="0" anchor="ctr"/>
          <a:lstStyle/>
          <a:p>
            <a:pPr indent="0" marL="0">
              <a:buNone/>
            </a:pPr>
            <a:r>
              <a:rPr lang="en-US" sz="950" dirty="0">
                <a:solidFill>
                  <a:srgbClr val="E4EBEE"/>
                </a:solidFill>
                <a:latin typeface="Segoe UI" pitchFamily="34" charset="0"/>
                <a:ea typeface="Segoe UI" pitchFamily="34" charset="-122"/>
                <a:cs typeface="Segoe UI" pitchFamily="34" charset="-120"/>
              </a:rPr>
              <a:t>contrato v2.0.0, zona IANA y cambios de horario</a:t>
            </a:r>
            <a:endParaRPr lang="en-US" sz="950" dirty="0"/>
          </a:p>
        </p:txBody>
      </p:sp>
      <p:sp>
        <p:nvSpPr>
          <p:cNvPr id="39" name="Shape 36"/>
          <p:cNvSpPr/>
          <p:nvPr/>
        </p:nvSpPr>
        <p:spPr>
          <a:xfrm>
            <a:off x="7744968" y="3547872"/>
            <a:ext cx="3696919" cy="0"/>
          </a:xfrm>
          <a:prstGeom prst="line">
            <a:avLst/>
          </a:prstGeom>
          <a:noFill/>
          <a:ln w="6350">
            <a:solidFill>
              <a:srgbClr val="3A4B53"/>
            </a:solidFill>
            <a:prstDash val="solid"/>
          </a:ln>
        </p:spPr>
      </p:sp>
      <p:sp>
        <p:nvSpPr>
          <p:cNvPr id="40" name="Text 37"/>
          <p:cNvSpPr/>
          <p:nvPr/>
        </p:nvSpPr>
        <p:spPr>
          <a:xfrm>
            <a:off x="7744968" y="3557016"/>
            <a:ext cx="1005840" cy="329184"/>
          </a:xfrm>
          <a:prstGeom prst="rect">
            <a:avLst/>
          </a:prstGeom>
          <a:noFill/>
          <a:ln/>
        </p:spPr>
        <p:txBody>
          <a:bodyPr wrap="square" lIns="0" tIns="0" rIns="0" bIns="0" rtlCol="0" anchor="ctr"/>
          <a:lstStyle/>
          <a:p>
            <a:pPr indent="0" marL="0">
              <a:buNone/>
            </a:pPr>
            <a:r>
              <a:rPr lang="en-US" sz="950" dirty="0">
                <a:solidFill>
                  <a:srgbClr val="F2B233"/>
                </a:solidFill>
                <a:latin typeface="Consolas" pitchFamily="34" charset="0"/>
                <a:ea typeface="Consolas" pitchFamily="34" charset="-122"/>
                <a:cs typeface="Consolas" pitchFamily="34" charset="-120"/>
              </a:rPr>
              <a:t>Tasks</a:t>
            </a:r>
            <a:endParaRPr lang="en-US" sz="950" dirty="0"/>
          </a:p>
        </p:txBody>
      </p:sp>
      <p:sp>
        <p:nvSpPr>
          <p:cNvPr id="41" name="Text 38"/>
          <p:cNvSpPr/>
          <p:nvPr/>
        </p:nvSpPr>
        <p:spPr>
          <a:xfrm>
            <a:off x="8778240" y="3557016"/>
            <a:ext cx="2663647" cy="329184"/>
          </a:xfrm>
          <a:prstGeom prst="rect">
            <a:avLst/>
          </a:prstGeom>
          <a:noFill/>
          <a:ln/>
        </p:spPr>
        <p:txBody>
          <a:bodyPr wrap="square" lIns="0" tIns="0" rIns="0" bIns="0" rtlCol="0" anchor="ctr"/>
          <a:lstStyle/>
          <a:p>
            <a:pPr indent="0" marL="0">
              <a:buNone/>
            </a:pPr>
            <a:r>
              <a:rPr lang="en-US" sz="950" dirty="0">
                <a:solidFill>
                  <a:srgbClr val="E4EBEE"/>
                </a:solidFill>
                <a:latin typeface="Segoe UI" pitchFamily="34" charset="0"/>
                <a:ea typeface="Segoe UI" pitchFamily="34" charset="-122"/>
                <a:cs typeface="Segoe UI" pitchFamily="34" charset="-120"/>
              </a:rPr>
              <a:t>26 tareas, T287–T312</a:t>
            </a:r>
            <a:endParaRPr lang="en-US" sz="950" dirty="0"/>
          </a:p>
        </p:txBody>
      </p:sp>
      <p:sp>
        <p:nvSpPr>
          <p:cNvPr id="42" name="Shape 39"/>
          <p:cNvSpPr/>
          <p:nvPr/>
        </p:nvSpPr>
        <p:spPr>
          <a:xfrm>
            <a:off x="7744968" y="3895344"/>
            <a:ext cx="3696919" cy="0"/>
          </a:xfrm>
          <a:prstGeom prst="line">
            <a:avLst/>
          </a:prstGeom>
          <a:noFill/>
          <a:ln w="6350">
            <a:solidFill>
              <a:srgbClr val="3A4B53"/>
            </a:solidFill>
            <a:prstDash val="solid"/>
          </a:ln>
        </p:spPr>
      </p:sp>
      <p:sp>
        <p:nvSpPr>
          <p:cNvPr id="43" name="Text 40"/>
          <p:cNvSpPr/>
          <p:nvPr/>
        </p:nvSpPr>
        <p:spPr>
          <a:xfrm>
            <a:off x="7744968" y="3904488"/>
            <a:ext cx="1005840" cy="329184"/>
          </a:xfrm>
          <a:prstGeom prst="rect">
            <a:avLst/>
          </a:prstGeom>
          <a:noFill/>
          <a:ln/>
        </p:spPr>
        <p:txBody>
          <a:bodyPr wrap="square" lIns="0" tIns="0" rIns="0" bIns="0" rtlCol="0" anchor="ctr"/>
          <a:lstStyle/>
          <a:p>
            <a:pPr indent="0" marL="0">
              <a:buNone/>
            </a:pPr>
            <a:r>
              <a:rPr lang="en-US" sz="950" dirty="0">
                <a:solidFill>
                  <a:srgbClr val="F2B233"/>
                </a:solidFill>
                <a:latin typeface="Consolas" pitchFamily="34" charset="0"/>
                <a:ea typeface="Consolas" pitchFamily="34" charset="-122"/>
                <a:cs typeface="Consolas" pitchFamily="34" charset="-120"/>
              </a:rPr>
              <a:t>Analyze</a:t>
            </a:r>
            <a:endParaRPr lang="en-US" sz="950" dirty="0"/>
          </a:p>
        </p:txBody>
      </p:sp>
      <p:sp>
        <p:nvSpPr>
          <p:cNvPr id="44" name="Text 41"/>
          <p:cNvSpPr/>
          <p:nvPr/>
        </p:nvSpPr>
        <p:spPr>
          <a:xfrm>
            <a:off x="8778240" y="3904488"/>
            <a:ext cx="2663647" cy="329184"/>
          </a:xfrm>
          <a:prstGeom prst="rect">
            <a:avLst/>
          </a:prstGeom>
          <a:noFill/>
          <a:ln/>
        </p:spPr>
        <p:txBody>
          <a:bodyPr wrap="square" lIns="0" tIns="0" rIns="0" bIns="0" rtlCol="0" anchor="ctr"/>
          <a:lstStyle/>
          <a:p>
            <a:pPr indent="0" marL="0">
              <a:buNone/>
            </a:pPr>
            <a:r>
              <a:rPr lang="en-US" sz="950" dirty="0">
                <a:solidFill>
                  <a:srgbClr val="E4EBEE"/>
                </a:solidFill>
                <a:latin typeface="Segoe UI" pitchFamily="34" charset="0"/>
                <a:ea typeface="Segoe UI" pitchFamily="34" charset="-122"/>
                <a:cs typeface="Segoe UI" pitchFamily="34" charset="-120"/>
              </a:rPr>
              <a:t>3 pasadas hasta cero hallazgos</a:t>
            </a:r>
            <a:endParaRPr lang="en-US" sz="950" dirty="0"/>
          </a:p>
        </p:txBody>
      </p:sp>
      <p:sp>
        <p:nvSpPr>
          <p:cNvPr id="45" name="Shape 42"/>
          <p:cNvSpPr/>
          <p:nvPr/>
        </p:nvSpPr>
        <p:spPr>
          <a:xfrm>
            <a:off x="7744968" y="4242816"/>
            <a:ext cx="3696919" cy="0"/>
          </a:xfrm>
          <a:prstGeom prst="line">
            <a:avLst/>
          </a:prstGeom>
          <a:noFill/>
          <a:ln w="6350">
            <a:solidFill>
              <a:srgbClr val="3A4B53"/>
            </a:solidFill>
            <a:prstDash val="solid"/>
          </a:ln>
        </p:spPr>
      </p:sp>
      <p:sp>
        <p:nvSpPr>
          <p:cNvPr id="46" name="Text 43"/>
          <p:cNvSpPr/>
          <p:nvPr/>
        </p:nvSpPr>
        <p:spPr>
          <a:xfrm>
            <a:off x="7744968" y="4251960"/>
            <a:ext cx="1005840" cy="329184"/>
          </a:xfrm>
          <a:prstGeom prst="rect">
            <a:avLst/>
          </a:prstGeom>
          <a:noFill/>
          <a:ln/>
        </p:spPr>
        <p:txBody>
          <a:bodyPr wrap="square" lIns="0" tIns="0" rIns="0" bIns="0" rtlCol="0" anchor="ctr"/>
          <a:lstStyle/>
          <a:p>
            <a:pPr indent="0" marL="0">
              <a:buNone/>
            </a:pPr>
            <a:r>
              <a:rPr lang="en-US" sz="950" dirty="0">
                <a:solidFill>
                  <a:srgbClr val="F2B233"/>
                </a:solidFill>
                <a:latin typeface="Consolas" pitchFamily="34" charset="0"/>
                <a:ea typeface="Consolas" pitchFamily="34" charset="-122"/>
                <a:cs typeface="Consolas" pitchFamily="34" charset="-120"/>
              </a:rPr>
              <a:t>Implement</a:t>
            </a:r>
            <a:endParaRPr lang="en-US" sz="950" dirty="0"/>
          </a:p>
        </p:txBody>
      </p:sp>
      <p:sp>
        <p:nvSpPr>
          <p:cNvPr id="47" name="Text 44"/>
          <p:cNvSpPr/>
          <p:nvPr/>
        </p:nvSpPr>
        <p:spPr>
          <a:xfrm>
            <a:off x="8778240" y="4251960"/>
            <a:ext cx="2663647" cy="329184"/>
          </a:xfrm>
          <a:prstGeom prst="rect">
            <a:avLst/>
          </a:prstGeom>
          <a:noFill/>
          <a:ln/>
        </p:spPr>
        <p:txBody>
          <a:bodyPr wrap="square" lIns="0" tIns="0" rIns="0" bIns="0" rtlCol="0" anchor="ctr"/>
          <a:lstStyle/>
          <a:p>
            <a:pPr indent="0" marL="0">
              <a:buNone/>
            </a:pPr>
            <a:r>
              <a:rPr lang="en-US" sz="950" dirty="0">
                <a:solidFill>
                  <a:srgbClr val="E4EBEE"/>
                </a:solidFill>
                <a:latin typeface="Segoe UI" pitchFamily="34" charset="0"/>
                <a:ea typeface="Segoe UI" pitchFamily="34" charset="-122"/>
                <a:cs typeface="Segoe UI" pitchFamily="34" charset="-120"/>
              </a:rPr>
              <a:t>todas las suites en verde y regresión dirigida</a:t>
            </a:r>
            <a:endParaRPr lang="en-US" sz="950" dirty="0"/>
          </a:p>
        </p:txBody>
      </p:sp>
      <p:sp>
        <p:nvSpPr>
          <p:cNvPr id="48" name="Shape 45"/>
          <p:cNvSpPr/>
          <p:nvPr/>
        </p:nvSpPr>
        <p:spPr>
          <a:xfrm>
            <a:off x="7744968" y="4590288"/>
            <a:ext cx="3696919" cy="0"/>
          </a:xfrm>
          <a:prstGeom prst="line">
            <a:avLst/>
          </a:prstGeom>
          <a:noFill/>
          <a:ln w="6350">
            <a:solidFill>
              <a:srgbClr val="3A4B53"/>
            </a:solidFill>
            <a:prstDash val="solid"/>
          </a:ln>
        </p:spPr>
      </p:sp>
      <p:sp>
        <p:nvSpPr>
          <p:cNvPr id="49" name="Text 46"/>
          <p:cNvSpPr/>
          <p:nvPr/>
        </p:nvSpPr>
        <p:spPr>
          <a:xfrm>
            <a:off x="7744968" y="4599432"/>
            <a:ext cx="1005840" cy="329184"/>
          </a:xfrm>
          <a:prstGeom prst="rect">
            <a:avLst/>
          </a:prstGeom>
          <a:noFill/>
          <a:ln/>
        </p:spPr>
        <p:txBody>
          <a:bodyPr wrap="square" lIns="0" tIns="0" rIns="0" bIns="0" rtlCol="0" anchor="ctr"/>
          <a:lstStyle/>
          <a:p>
            <a:pPr indent="0" marL="0">
              <a:buNone/>
            </a:pPr>
            <a:r>
              <a:rPr lang="en-US" sz="950" dirty="0">
                <a:solidFill>
                  <a:srgbClr val="F2B233"/>
                </a:solidFill>
                <a:latin typeface="Consolas" pitchFamily="34" charset="0"/>
                <a:ea typeface="Consolas" pitchFamily="34" charset="-122"/>
                <a:cs typeface="Consolas" pitchFamily="34" charset="-120"/>
              </a:rPr>
              <a:t>Cierre</a:t>
            </a:r>
            <a:endParaRPr lang="en-US" sz="950" dirty="0"/>
          </a:p>
        </p:txBody>
      </p:sp>
      <p:sp>
        <p:nvSpPr>
          <p:cNvPr id="50" name="Text 47"/>
          <p:cNvSpPr/>
          <p:nvPr/>
        </p:nvSpPr>
        <p:spPr>
          <a:xfrm>
            <a:off x="8778240" y="4599432"/>
            <a:ext cx="2663647" cy="329184"/>
          </a:xfrm>
          <a:prstGeom prst="rect">
            <a:avLst/>
          </a:prstGeom>
          <a:noFill/>
          <a:ln/>
        </p:spPr>
        <p:txBody>
          <a:bodyPr wrap="square" lIns="0" tIns="0" rIns="0" bIns="0" rtlCol="0" anchor="ctr"/>
          <a:lstStyle/>
          <a:p>
            <a:pPr indent="0" marL="0">
              <a:buNone/>
            </a:pPr>
            <a:r>
              <a:rPr lang="en-US" sz="950" dirty="0">
                <a:solidFill>
                  <a:srgbClr val="E4EBEE"/>
                </a:solidFill>
                <a:latin typeface="Segoe UI" pitchFamily="34" charset="0"/>
                <a:ea typeface="Segoe UI" pitchFamily="34" charset="-122"/>
                <a:cs typeface="Segoe UI" pitchFamily="34" charset="-120"/>
              </a:rPr>
              <a:t>validación manual, PR #5 y CLOSED</a:t>
            </a:r>
            <a:endParaRPr lang="en-US" sz="950" dirty="0"/>
          </a:p>
        </p:txBody>
      </p:sp>
      <p:sp>
        <p:nvSpPr>
          <p:cNvPr id="51" name="Shape 48"/>
          <p:cNvSpPr/>
          <p:nvPr/>
        </p:nvSpPr>
        <p:spPr>
          <a:xfrm>
            <a:off x="7744968" y="4937760"/>
            <a:ext cx="3696919" cy="0"/>
          </a:xfrm>
          <a:prstGeom prst="line">
            <a:avLst/>
          </a:prstGeom>
          <a:noFill/>
          <a:ln w="6350">
            <a:solidFill>
              <a:srgbClr val="3A4B53"/>
            </a:solidFill>
            <a:prstDash val="solid"/>
          </a:ln>
        </p:spPr>
      </p:sp>
      <p:sp>
        <p:nvSpPr>
          <p:cNvPr id="52" name="Shape 49"/>
          <p:cNvSpPr/>
          <p:nvPr/>
        </p:nvSpPr>
        <p:spPr>
          <a:xfrm>
            <a:off x="548640" y="5138928"/>
            <a:ext cx="667750" cy="274320"/>
          </a:xfrm>
          <a:prstGeom prst="roundRect">
            <a:avLst>
              <a:gd name="adj" fmla="val 13333"/>
            </a:avLst>
          </a:prstGeom>
          <a:solidFill>
            <a:srgbClr val="F4F7F8"/>
          </a:solidFill>
          <a:ln w="6350">
            <a:solidFill>
              <a:srgbClr val="C8D3D8"/>
            </a:solidFill>
            <a:prstDash val="solid"/>
          </a:ln>
        </p:spPr>
      </p:sp>
      <p:sp>
        <p:nvSpPr>
          <p:cNvPr id="53" name="Text 50"/>
          <p:cNvSpPr/>
          <p:nvPr/>
        </p:nvSpPr>
        <p:spPr>
          <a:xfrm>
            <a:off x="548640" y="5138928"/>
            <a:ext cx="667750" cy="274320"/>
          </a:xfrm>
          <a:prstGeom prst="rect">
            <a:avLst/>
          </a:prstGeom>
          <a:noFill/>
          <a:ln/>
        </p:spPr>
        <p:txBody>
          <a:bodyPr wrap="square" lIns="0" tIns="0" rIns="0" bIns="0" rtlCol="0" anchor="ctr"/>
          <a:lstStyle/>
          <a:p>
            <a:pPr algn="ctr" indent="0" marL="0">
              <a:buNone/>
            </a:pPr>
            <a:r>
              <a:rPr lang="en-US" sz="750" b="1" dirty="0">
                <a:solidFill>
                  <a:srgbClr val="13232B"/>
                </a:solidFill>
                <a:latin typeface="Consolas" pitchFamily="34" charset="0"/>
                <a:ea typeface="Consolas" pitchFamily="34" charset="-122"/>
                <a:cs typeface="Consolas" pitchFamily="34" charset="-120"/>
              </a:rPr>
              <a:t>Requisitos</a:t>
            </a:r>
            <a:endParaRPr lang="en-US" sz="750" dirty="0"/>
          </a:p>
        </p:txBody>
      </p:sp>
      <p:sp>
        <p:nvSpPr>
          <p:cNvPr id="54" name="Text 51"/>
          <p:cNvSpPr/>
          <p:nvPr/>
        </p:nvSpPr>
        <p:spPr>
          <a:xfrm>
            <a:off x="1216390" y="5138928"/>
            <a:ext cx="162866" cy="274320"/>
          </a:xfrm>
          <a:prstGeom prst="rect">
            <a:avLst/>
          </a:prstGeom>
          <a:noFill/>
          <a:ln/>
        </p:spPr>
        <p:txBody>
          <a:bodyPr wrap="square" lIns="0" tIns="0" rIns="0" bIns="0" rtlCol="0" anchor="ctr"/>
          <a:lstStyle/>
          <a:p>
            <a:pPr algn="ctr" indent="0" marL="0">
              <a:buNone/>
            </a:pPr>
            <a:r>
              <a:rPr lang="en-US" sz="800" dirty="0">
                <a:solidFill>
                  <a:srgbClr val="56676F"/>
                </a:solidFill>
                <a:latin typeface="Segoe UI" pitchFamily="34" charset="0"/>
                <a:ea typeface="Segoe UI" pitchFamily="34" charset="-122"/>
                <a:cs typeface="Segoe UI" pitchFamily="34" charset="-120"/>
              </a:rPr>
              <a:t>→</a:t>
            </a:r>
            <a:endParaRPr lang="en-US" sz="800" dirty="0"/>
          </a:p>
        </p:txBody>
      </p:sp>
      <p:sp>
        <p:nvSpPr>
          <p:cNvPr id="55" name="Shape 52"/>
          <p:cNvSpPr/>
          <p:nvPr/>
        </p:nvSpPr>
        <p:spPr>
          <a:xfrm>
            <a:off x="1379255" y="5138928"/>
            <a:ext cx="882732" cy="274320"/>
          </a:xfrm>
          <a:prstGeom prst="roundRect">
            <a:avLst>
              <a:gd name="adj" fmla="val 13333"/>
            </a:avLst>
          </a:prstGeom>
          <a:solidFill>
            <a:srgbClr val="F4F7F8"/>
          </a:solidFill>
          <a:ln w="6350">
            <a:solidFill>
              <a:srgbClr val="C8D3D8"/>
            </a:solidFill>
            <a:prstDash val="solid"/>
          </a:ln>
        </p:spPr>
      </p:sp>
      <p:sp>
        <p:nvSpPr>
          <p:cNvPr id="56" name="Text 53"/>
          <p:cNvSpPr/>
          <p:nvPr/>
        </p:nvSpPr>
        <p:spPr>
          <a:xfrm>
            <a:off x="1379255" y="5138928"/>
            <a:ext cx="882732" cy="274320"/>
          </a:xfrm>
          <a:prstGeom prst="rect">
            <a:avLst/>
          </a:prstGeom>
          <a:noFill/>
          <a:ln/>
        </p:spPr>
        <p:txBody>
          <a:bodyPr wrap="square" lIns="0" tIns="0" rIns="0" bIns="0" rtlCol="0" anchor="ctr"/>
          <a:lstStyle/>
          <a:p>
            <a:pPr algn="ctr" indent="0" marL="0">
              <a:buNone/>
            </a:pPr>
            <a:r>
              <a:rPr lang="en-US" sz="750" b="1" dirty="0">
                <a:solidFill>
                  <a:srgbClr val="13232B"/>
                </a:solidFill>
                <a:latin typeface="Consolas" pitchFamily="34" charset="0"/>
                <a:ea typeface="Consolas" pitchFamily="34" charset="-122"/>
                <a:cs typeface="Consolas" pitchFamily="34" charset="-120"/>
              </a:rPr>
              <a:t>Especificación</a:t>
            </a:r>
            <a:endParaRPr lang="en-US" sz="750" dirty="0"/>
          </a:p>
        </p:txBody>
      </p:sp>
      <p:sp>
        <p:nvSpPr>
          <p:cNvPr id="57" name="Text 54"/>
          <p:cNvSpPr/>
          <p:nvPr/>
        </p:nvSpPr>
        <p:spPr>
          <a:xfrm>
            <a:off x="2261988" y="5138928"/>
            <a:ext cx="162866" cy="274320"/>
          </a:xfrm>
          <a:prstGeom prst="rect">
            <a:avLst/>
          </a:prstGeom>
          <a:noFill/>
          <a:ln/>
        </p:spPr>
        <p:txBody>
          <a:bodyPr wrap="square" lIns="0" tIns="0" rIns="0" bIns="0" rtlCol="0" anchor="ctr"/>
          <a:lstStyle/>
          <a:p>
            <a:pPr algn="ctr" indent="0" marL="0">
              <a:buNone/>
            </a:pPr>
            <a:r>
              <a:rPr lang="en-US" sz="800" dirty="0">
                <a:solidFill>
                  <a:srgbClr val="56676F"/>
                </a:solidFill>
                <a:latin typeface="Segoe UI" pitchFamily="34" charset="0"/>
                <a:ea typeface="Segoe UI" pitchFamily="34" charset="-122"/>
                <a:cs typeface="Segoe UI" pitchFamily="34" charset="-120"/>
              </a:rPr>
              <a:t>→</a:t>
            </a:r>
            <a:endParaRPr lang="en-US" sz="800" dirty="0"/>
          </a:p>
        </p:txBody>
      </p:sp>
      <p:sp>
        <p:nvSpPr>
          <p:cNvPr id="58" name="Shape 55"/>
          <p:cNvSpPr/>
          <p:nvPr/>
        </p:nvSpPr>
        <p:spPr>
          <a:xfrm>
            <a:off x="2424853" y="5138928"/>
            <a:ext cx="667750" cy="274320"/>
          </a:xfrm>
          <a:prstGeom prst="roundRect">
            <a:avLst>
              <a:gd name="adj" fmla="val 13333"/>
            </a:avLst>
          </a:prstGeom>
          <a:solidFill>
            <a:srgbClr val="F4F7F8"/>
          </a:solidFill>
          <a:ln w="6350">
            <a:solidFill>
              <a:srgbClr val="C8D3D8"/>
            </a:solidFill>
            <a:prstDash val="solid"/>
          </a:ln>
        </p:spPr>
      </p:sp>
      <p:sp>
        <p:nvSpPr>
          <p:cNvPr id="59" name="Text 56"/>
          <p:cNvSpPr/>
          <p:nvPr/>
        </p:nvSpPr>
        <p:spPr>
          <a:xfrm>
            <a:off x="2424853" y="5138928"/>
            <a:ext cx="667750" cy="274320"/>
          </a:xfrm>
          <a:prstGeom prst="rect">
            <a:avLst/>
          </a:prstGeom>
          <a:noFill/>
          <a:ln/>
        </p:spPr>
        <p:txBody>
          <a:bodyPr wrap="square" lIns="0" tIns="0" rIns="0" bIns="0" rtlCol="0" anchor="ctr"/>
          <a:lstStyle/>
          <a:p>
            <a:pPr algn="ctr" indent="0" marL="0">
              <a:buNone/>
            </a:pPr>
            <a:r>
              <a:rPr lang="en-US" sz="750" b="1" dirty="0">
                <a:solidFill>
                  <a:srgbClr val="13232B"/>
                </a:solidFill>
                <a:latin typeface="Consolas" pitchFamily="34" charset="0"/>
                <a:ea typeface="Consolas" pitchFamily="34" charset="-122"/>
                <a:cs typeface="Consolas" pitchFamily="34" charset="-120"/>
              </a:rPr>
              <a:t>Decisiones</a:t>
            </a:r>
            <a:endParaRPr lang="en-US" sz="750" dirty="0"/>
          </a:p>
        </p:txBody>
      </p:sp>
      <p:sp>
        <p:nvSpPr>
          <p:cNvPr id="60" name="Text 57"/>
          <p:cNvSpPr/>
          <p:nvPr/>
        </p:nvSpPr>
        <p:spPr>
          <a:xfrm>
            <a:off x="3092603" y="5138928"/>
            <a:ext cx="162866" cy="274320"/>
          </a:xfrm>
          <a:prstGeom prst="rect">
            <a:avLst/>
          </a:prstGeom>
          <a:noFill/>
          <a:ln/>
        </p:spPr>
        <p:txBody>
          <a:bodyPr wrap="square" lIns="0" tIns="0" rIns="0" bIns="0" rtlCol="0" anchor="ctr"/>
          <a:lstStyle/>
          <a:p>
            <a:pPr algn="ctr" indent="0" marL="0">
              <a:buNone/>
            </a:pPr>
            <a:r>
              <a:rPr lang="en-US" sz="800" dirty="0">
                <a:solidFill>
                  <a:srgbClr val="56676F"/>
                </a:solidFill>
                <a:latin typeface="Segoe UI" pitchFamily="34" charset="0"/>
                <a:ea typeface="Segoe UI" pitchFamily="34" charset="-122"/>
                <a:cs typeface="Segoe UI" pitchFamily="34" charset="-120"/>
              </a:rPr>
              <a:t>→</a:t>
            </a:r>
            <a:endParaRPr lang="en-US" sz="800" dirty="0"/>
          </a:p>
        </p:txBody>
      </p:sp>
      <p:sp>
        <p:nvSpPr>
          <p:cNvPr id="61" name="Shape 58"/>
          <p:cNvSpPr/>
          <p:nvPr/>
        </p:nvSpPr>
        <p:spPr>
          <a:xfrm>
            <a:off x="3255469" y="5138928"/>
            <a:ext cx="452767" cy="274320"/>
          </a:xfrm>
          <a:prstGeom prst="roundRect">
            <a:avLst>
              <a:gd name="adj" fmla="val 13333"/>
            </a:avLst>
          </a:prstGeom>
          <a:solidFill>
            <a:srgbClr val="F4F7F8"/>
          </a:solidFill>
          <a:ln w="6350">
            <a:solidFill>
              <a:srgbClr val="C8D3D8"/>
            </a:solidFill>
            <a:prstDash val="solid"/>
          </a:ln>
        </p:spPr>
      </p:sp>
      <p:sp>
        <p:nvSpPr>
          <p:cNvPr id="62" name="Text 59"/>
          <p:cNvSpPr/>
          <p:nvPr/>
        </p:nvSpPr>
        <p:spPr>
          <a:xfrm>
            <a:off x="3255469" y="5138928"/>
            <a:ext cx="452767" cy="274320"/>
          </a:xfrm>
          <a:prstGeom prst="rect">
            <a:avLst/>
          </a:prstGeom>
          <a:noFill/>
          <a:ln/>
        </p:spPr>
        <p:txBody>
          <a:bodyPr wrap="square" lIns="0" tIns="0" rIns="0" bIns="0" rtlCol="0" anchor="ctr"/>
          <a:lstStyle/>
          <a:p>
            <a:pPr algn="ctr" indent="0" marL="0">
              <a:buNone/>
            </a:pPr>
            <a:r>
              <a:rPr lang="en-US" sz="750" b="1" dirty="0">
                <a:solidFill>
                  <a:srgbClr val="13232B"/>
                </a:solidFill>
                <a:latin typeface="Consolas" pitchFamily="34" charset="0"/>
                <a:ea typeface="Consolas" pitchFamily="34" charset="-122"/>
                <a:cs typeface="Consolas" pitchFamily="34" charset="-120"/>
              </a:rPr>
              <a:t>Tareas</a:t>
            </a:r>
            <a:endParaRPr lang="en-US" sz="750" dirty="0"/>
          </a:p>
        </p:txBody>
      </p:sp>
      <p:sp>
        <p:nvSpPr>
          <p:cNvPr id="63" name="Text 60"/>
          <p:cNvSpPr/>
          <p:nvPr/>
        </p:nvSpPr>
        <p:spPr>
          <a:xfrm>
            <a:off x="3708236" y="5138928"/>
            <a:ext cx="162866" cy="274320"/>
          </a:xfrm>
          <a:prstGeom prst="rect">
            <a:avLst/>
          </a:prstGeom>
          <a:noFill/>
          <a:ln/>
        </p:spPr>
        <p:txBody>
          <a:bodyPr wrap="square" lIns="0" tIns="0" rIns="0" bIns="0" rtlCol="0" anchor="ctr"/>
          <a:lstStyle/>
          <a:p>
            <a:pPr algn="ctr" indent="0" marL="0">
              <a:buNone/>
            </a:pPr>
            <a:r>
              <a:rPr lang="en-US" sz="800" dirty="0">
                <a:solidFill>
                  <a:srgbClr val="56676F"/>
                </a:solidFill>
                <a:latin typeface="Segoe UI" pitchFamily="34" charset="0"/>
                <a:ea typeface="Segoe UI" pitchFamily="34" charset="-122"/>
                <a:cs typeface="Segoe UI" pitchFamily="34" charset="-120"/>
              </a:rPr>
              <a:t>→</a:t>
            </a:r>
            <a:endParaRPr lang="en-US" sz="800" dirty="0"/>
          </a:p>
        </p:txBody>
      </p:sp>
      <p:sp>
        <p:nvSpPr>
          <p:cNvPr id="64" name="Shape 61"/>
          <p:cNvSpPr/>
          <p:nvPr/>
        </p:nvSpPr>
        <p:spPr>
          <a:xfrm>
            <a:off x="3871101" y="5138928"/>
            <a:ext cx="882732" cy="274320"/>
          </a:xfrm>
          <a:prstGeom prst="roundRect">
            <a:avLst>
              <a:gd name="adj" fmla="val 13333"/>
            </a:avLst>
          </a:prstGeom>
          <a:solidFill>
            <a:srgbClr val="F4F7F8"/>
          </a:solidFill>
          <a:ln w="6350">
            <a:solidFill>
              <a:srgbClr val="C8D3D8"/>
            </a:solidFill>
            <a:prstDash val="solid"/>
          </a:ln>
        </p:spPr>
      </p:sp>
      <p:sp>
        <p:nvSpPr>
          <p:cNvPr id="65" name="Text 62"/>
          <p:cNvSpPr/>
          <p:nvPr/>
        </p:nvSpPr>
        <p:spPr>
          <a:xfrm>
            <a:off x="3871101" y="5138928"/>
            <a:ext cx="882732" cy="274320"/>
          </a:xfrm>
          <a:prstGeom prst="rect">
            <a:avLst/>
          </a:prstGeom>
          <a:noFill/>
          <a:ln/>
        </p:spPr>
        <p:txBody>
          <a:bodyPr wrap="square" lIns="0" tIns="0" rIns="0" bIns="0" rtlCol="0" anchor="ctr"/>
          <a:lstStyle/>
          <a:p>
            <a:pPr algn="ctr" indent="0" marL="0">
              <a:buNone/>
            </a:pPr>
            <a:r>
              <a:rPr lang="en-US" sz="750" b="1" dirty="0">
                <a:solidFill>
                  <a:srgbClr val="13232B"/>
                </a:solidFill>
                <a:latin typeface="Consolas" pitchFamily="34" charset="0"/>
                <a:ea typeface="Consolas" pitchFamily="34" charset="-122"/>
                <a:cs typeface="Consolas" pitchFamily="34" charset="-120"/>
              </a:rPr>
              <a:t>Implementación</a:t>
            </a:r>
            <a:endParaRPr lang="en-US" sz="750" dirty="0"/>
          </a:p>
        </p:txBody>
      </p:sp>
      <p:sp>
        <p:nvSpPr>
          <p:cNvPr id="66" name="Text 63"/>
          <p:cNvSpPr/>
          <p:nvPr/>
        </p:nvSpPr>
        <p:spPr>
          <a:xfrm>
            <a:off x="4753834" y="5138928"/>
            <a:ext cx="162866" cy="274320"/>
          </a:xfrm>
          <a:prstGeom prst="rect">
            <a:avLst/>
          </a:prstGeom>
          <a:noFill/>
          <a:ln/>
        </p:spPr>
        <p:txBody>
          <a:bodyPr wrap="square" lIns="0" tIns="0" rIns="0" bIns="0" rtlCol="0" anchor="ctr"/>
          <a:lstStyle/>
          <a:p>
            <a:pPr algn="ctr" indent="0" marL="0">
              <a:buNone/>
            </a:pPr>
            <a:r>
              <a:rPr lang="en-US" sz="800" dirty="0">
                <a:solidFill>
                  <a:srgbClr val="56676F"/>
                </a:solidFill>
                <a:latin typeface="Segoe UI" pitchFamily="34" charset="0"/>
                <a:ea typeface="Segoe UI" pitchFamily="34" charset="-122"/>
                <a:cs typeface="Segoe UI" pitchFamily="34" charset="-120"/>
              </a:rPr>
              <a:t>→</a:t>
            </a:r>
            <a:endParaRPr lang="en-US" sz="800" dirty="0"/>
          </a:p>
        </p:txBody>
      </p:sp>
      <p:sp>
        <p:nvSpPr>
          <p:cNvPr id="67" name="Shape 64"/>
          <p:cNvSpPr/>
          <p:nvPr/>
        </p:nvSpPr>
        <p:spPr>
          <a:xfrm>
            <a:off x="4916700" y="5138928"/>
            <a:ext cx="506512" cy="274320"/>
          </a:xfrm>
          <a:prstGeom prst="roundRect">
            <a:avLst>
              <a:gd name="adj" fmla="val 13333"/>
            </a:avLst>
          </a:prstGeom>
          <a:solidFill>
            <a:srgbClr val="F4F7F8"/>
          </a:solidFill>
          <a:ln w="6350">
            <a:solidFill>
              <a:srgbClr val="C8D3D8"/>
            </a:solidFill>
            <a:prstDash val="solid"/>
          </a:ln>
        </p:spPr>
      </p:sp>
      <p:sp>
        <p:nvSpPr>
          <p:cNvPr id="68" name="Text 65"/>
          <p:cNvSpPr/>
          <p:nvPr/>
        </p:nvSpPr>
        <p:spPr>
          <a:xfrm>
            <a:off x="4916700" y="5138928"/>
            <a:ext cx="506512" cy="274320"/>
          </a:xfrm>
          <a:prstGeom prst="rect">
            <a:avLst/>
          </a:prstGeom>
          <a:noFill/>
          <a:ln/>
        </p:spPr>
        <p:txBody>
          <a:bodyPr wrap="square" lIns="0" tIns="0" rIns="0" bIns="0" rtlCol="0" anchor="ctr"/>
          <a:lstStyle/>
          <a:p>
            <a:pPr algn="ctr" indent="0" marL="0">
              <a:buNone/>
            </a:pPr>
            <a:r>
              <a:rPr lang="en-US" sz="750" b="1" dirty="0">
                <a:solidFill>
                  <a:srgbClr val="13232B"/>
                </a:solidFill>
                <a:latin typeface="Consolas" pitchFamily="34" charset="0"/>
                <a:ea typeface="Consolas" pitchFamily="34" charset="-122"/>
                <a:cs typeface="Consolas" pitchFamily="34" charset="-120"/>
              </a:rPr>
              <a:t>Pruebas</a:t>
            </a:r>
            <a:endParaRPr lang="en-US" sz="750" dirty="0"/>
          </a:p>
        </p:txBody>
      </p:sp>
      <p:sp>
        <p:nvSpPr>
          <p:cNvPr id="69" name="Text 66"/>
          <p:cNvSpPr/>
          <p:nvPr/>
        </p:nvSpPr>
        <p:spPr>
          <a:xfrm>
            <a:off x="5423212" y="5138928"/>
            <a:ext cx="162866" cy="274320"/>
          </a:xfrm>
          <a:prstGeom prst="rect">
            <a:avLst/>
          </a:prstGeom>
          <a:noFill/>
          <a:ln/>
        </p:spPr>
        <p:txBody>
          <a:bodyPr wrap="square" lIns="0" tIns="0" rIns="0" bIns="0" rtlCol="0" anchor="ctr"/>
          <a:lstStyle/>
          <a:p>
            <a:pPr algn="ctr" indent="0" marL="0">
              <a:buNone/>
            </a:pPr>
            <a:r>
              <a:rPr lang="en-US" sz="800" dirty="0">
                <a:solidFill>
                  <a:srgbClr val="56676F"/>
                </a:solidFill>
                <a:latin typeface="Segoe UI" pitchFamily="34" charset="0"/>
                <a:ea typeface="Segoe UI" pitchFamily="34" charset="-122"/>
                <a:cs typeface="Segoe UI" pitchFamily="34" charset="-120"/>
              </a:rPr>
              <a:t>→</a:t>
            </a:r>
            <a:endParaRPr lang="en-US" sz="800" dirty="0"/>
          </a:p>
        </p:txBody>
      </p:sp>
      <p:sp>
        <p:nvSpPr>
          <p:cNvPr id="70" name="Shape 67"/>
          <p:cNvSpPr/>
          <p:nvPr/>
        </p:nvSpPr>
        <p:spPr>
          <a:xfrm>
            <a:off x="5586078" y="5138928"/>
            <a:ext cx="1205207" cy="274320"/>
          </a:xfrm>
          <a:prstGeom prst="roundRect">
            <a:avLst>
              <a:gd name="adj" fmla="val 13333"/>
            </a:avLst>
          </a:prstGeom>
          <a:solidFill>
            <a:srgbClr val="F4F7F8"/>
          </a:solidFill>
          <a:ln w="6350">
            <a:solidFill>
              <a:srgbClr val="C8D3D8"/>
            </a:solidFill>
            <a:prstDash val="solid"/>
          </a:ln>
        </p:spPr>
      </p:sp>
      <p:sp>
        <p:nvSpPr>
          <p:cNvPr id="71" name="Text 68"/>
          <p:cNvSpPr/>
          <p:nvPr/>
        </p:nvSpPr>
        <p:spPr>
          <a:xfrm>
            <a:off x="5586078" y="5138928"/>
            <a:ext cx="1205207" cy="274320"/>
          </a:xfrm>
          <a:prstGeom prst="rect">
            <a:avLst/>
          </a:prstGeom>
          <a:noFill/>
          <a:ln/>
        </p:spPr>
        <p:txBody>
          <a:bodyPr wrap="square" lIns="0" tIns="0" rIns="0" bIns="0" rtlCol="0" anchor="ctr"/>
          <a:lstStyle/>
          <a:p>
            <a:pPr algn="ctr" indent="0" marL="0">
              <a:buNone/>
            </a:pPr>
            <a:r>
              <a:rPr lang="en-US" sz="750" b="1" dirty="0">
                <a:solidFill>
                  <a:srgbClr val="13232B"/>
                </a:solidFill>
                <a:latin typeface="Consolas" pitchFamily="34" charset="0"/>
                <a:ea typeface="Consolas" pitchFamily="34" charset="-122"/>
                <a:cs typeface="Consolas" pitchFamily="34" charset="-120"/>
              </a:rPr>
              <a:t>Validación funcional</a:t>
            </a:r>
            <a:endParaRPr lang="en-US" sz="750" dirty="0"/>
          </a:p>
        </p:txBody>
      </p:sp>
      <p:sp>
        <p:nvSpPr>
          <p:cNvPr id="72" name="Text 69"/>
          <p:cNvSpPr/>
          <p:nvPr/>
        </p:nvSpPr>
        <p:spPr>
          <a:xfrm>
            <a:off x="6791284" y="5138928"/>
            <a:ext cx="162866" cy="274320"/>
          </a:xfrm>
          <a:prstGeom prst="rect">
            <a:avLst/>
          </a:prstGeom>
          <a:noFill/>
          <a:ln/>
        </p:spPr>
        <p:txBody>
          <a:bodyPr wrap="square" lIns="0" tIns="0" rIns="0" bIns="0" rtlCol="0" anchor="ctr"/>
          <a:lstStyle/>
          <a:p>
            <a:pPr algn="ctr" indent="0" marL="0">
              <a:buNone/>
            </a:pPr>
            <a:r>
              <a:rPr lang="en-US" sz="800" dirty="0">
                <a:solidFill>
                  <a:srgbClr val="56676F"/>
                </a:solidFill>
                <a:latin typeface="Segoe UI" pitchFamily="34" charset="0"/>
                <a:ea typeface="Segoe UI" pitchFamily="34" charset="-122"/>
                <a:cs typeface="Segoe UI" pitchFamily="34" charset="-120"/>
              </a:rPr>
              <a:t>→</a:t>
            </a:r>
            <a:endParaRPr lang="en-US" sz="800" dirty="0"/>
          </a:p>
        </p:txBody>
      </p:sp>
      <p:sp>
        <p:nvSpPr>
          <p:cNvPr id="73" name="Shape 70"/>
          <p:cNvSpPr/>
          <p:nvPr/>
        </p:nvSpPr>
        <p:spPr>
          <a:xfrm>
            <a:off x="6954150" y="5138928"/>
            <a:ext cx="1043969" cy="274320"/>
          </a:xfrm>
          <a:prstGeom prst="roundRect">
            <a:avLst>
              <a:gd name="adj" fmla="val 13333"/>
            </a:avLst>
          </a:prstGeom>
          <a:solidFill>
            <a:srgbClr val="F4F7F8"/>
          </a:solidFill>
          <a:ln w="6350">
            <a:solidFill>
              <a:srgbClr val="C8D3D8"/>
            </a:solidFill>
            <a:prstDash val="solid"/>
          </a:ln>
        </p:spPr>
      </p:sp>
      <p:sp>
        <p:nvSpPr>
          <p:cNvPr id="74" name="Text 71"/>
          <p:cNvSpPr/>
          <p:nvPr/>
        </p:nvSpPr>
        <p:spPr>
          <a:xfrm>
            <a:off x="6954150" y="5138928"/>
            <a:ext cx="1043969" cy="274320"/>
          </a:xfrm>
          <a:prstGeom prst="rect">
            <a:avLst/>
          </a:prstGeom>
          <a:noFill/>
          <a:ln/>
        </p:spPr>
        <p:txBody>
          <a:bodyPr wrap="square" lIns="0" tIns="0" rIns="0" bIns="0" rtlCol="0" anchor="ctr"/>
          <a:lstStyle/>
          <a:p>
            <a:pPr algn="ctr" indent="0" marL="0">
              <a:buNone/>
            </a:pPr>
            <a:r>
              <a:rPr lang="en-US" sz="750" b="1" dirty="0">
                <a:solidFill>
                  <a:srgbClr val="13232B"/>
                </a:solidFill>
                <a:latin typeface="Consolas" pitchFamily="34" charset="0"/>
                <a:ea typeface="Consolas" pitchFamily="34" charset="-122"/>
                <a:cs typeface="Consolas" pitchFamily="34" charset="-120"/>
              </a:rPr>
              <a:t>Validación manual</a:t>
            </a:r>
            <a:endParaRPr lang="en-US" sz="750" dirty="0"/>
          </a:p>
        </p:txBody>
      </p:sp>
      <p:sp>
        <p:nvSpPr>
          <p:cNvPr id="75" name="Text 72"/>
          <p:cNvSpPr/>
          <p:nvPr/>
        </p:nvSpPr>
        <p:spPr>
          <a:xfrm>
            <a:off x="7998120" y="5138928"/>
            <a:ext cx="162866" cy="274320"/>
          </a:xfrm>
          <a:prstGeom prst="rect">
            <a:avLst/>
          </a:prstGeom>
          <a:noFill/>
          <a:ln/>
        </p:spPr>
        <p:txBody>
          <a:bodyPr wrap="square" lIns="0" tIns="0" rIns="0" bIns="0" rtlCol="0" anchor="ctr"/>
          <a:lstStyle/>
          <a:p>
            <a:pPr algn="ctr" indent="0" marL="0">
              <a:buNone/>
            </a:pPr>
            <a:r>
              <a:rPr lang="en-US" sz="800" dirty="0">
                <a:solidFill>
                  <a:srgbClr val="56676F"/>
                </a:solidFill>
                <a:latin typeface="Segoe UI" pitchFamily="34" charset="0"/>
                <a:ea typeface="Segoe UI" pitchFamily="34" charset="-122"/>
                <a:cs typeface="Segoe UI" pitchFamily="34" charset="-120"/>
              </a:rPr>
              <a:t>→</a:t>
            </a:r>
            <a:endParaRPr lang="en-US" sz="800" dirty="0"/>
          </a:p>
        </p:txBody>
      </p:sp>
      <p:sp>
        <p:nvSpPr>
          <p:cNvPr id="76" name="Shape 73"/>
          <p:cNvSpPr/>
          <p:nvPr/>
        </p:nvSpPr>
        <p:spPr>
          <a:xfrm>
            <a:off x="8160985" y="5138928"/>
            <a:ext cx="452767" cy="274320"/>
          </a:xfrm>
          <a:prstGeom prst="roundRect">
            <a:avLst>
              <a:gd name="adj" fmla="val 13333"/>
            </a:avLst>
          </a:prstGeom>
          <a:solidFill>
            <a:srgbClr val="F4F7F8"/>
          </a:solidFill>
          <a:ln w="6350">
            <a:solidFill>
              <a:srgbClr val="C8D3D8"/>
            </a:solidFill>
            <a:prstDash val="solid"/>
          </a:ln>
        </p:spPr>
      </p:sp>
      <p:sp>
        <p:nvSpPr>
          <p:cNvPr id="77" name="Text 74"/>
          <p:cNvSpPr/>
          <p:nvPr/>
        </p:nvSpPr>
        <p:spPr>
          <a:xfrm>
            <a:off x="8160985" y="5138928"/>
            <a:ext cx="452767" cy="274320"/>
          </a:xfrm>
          <a:prstGeom prst="rect">
            <a:avLst/>
          </a:prstGeom>
          <a:noFill/>
          <a:ln/>
        </p:spPr>
        <p:txBody>
          <a:bodyPr wrap="square" lIns="0" tIns="0" rIns="0" bIns="0" rtlCol="0" anchor="ctr"/>
          <a:lstStyle/>
          <a:p>
            <a:pPr algn="ctr" indent="0" marL="0">
              <a:buNone/>
            </a:pPr>
            <a:r>
              <a:rPr lang="en-US" sz="750" b="1" dirty="0">
                <a:solidFill>
                  <a:srgbClr val="13232B"/>
                </a:solidFill>
                <a:latin typeface="Consolas" pitchFamily="34" charset="0"/>
                <a:ea typeface="Consolas" pitchFamily="34" charset="-122"/>
                <a:cs typeface="Consolas" pitchFamily="34" charset="-120"/>
              </a:rPr>
              <a:t>Commit</a:t>
            </a:r>
            <a:endParaRPr lang="en-US" sz="750" dirty="0"/>
          </a:p>
        </p:txBody>
      </p:sp>
      <p:sp>
        <p:nvSpPr>
          <p:cNvPr id="78" name="Text 75"/>
          <p:cNvSpPr/>
          <p:nvPr/>
        </p:nvSpPr>
        <p:spPr>
          <a:xfrm>
            <a:off x="8613752" y="5138928"/>
            <a:ext cx="162866" cy="274320"/>
          </a:xfrm>
          <a:prstGeom prst="rect">
            <a:avLst/>
          </a:prstGeom>
          <a:noFill/>
          <a:ln/>
        </p:spPr>
        <p:txBody>
          <a:bodyPr wrap="square" lIns="0" tIns="0" rIns="0" bIns="0" rtlCol="0" anchor="ctr"/>
          <a:lstStyle/>
          <a:p>
            <a:pPr algn="ctr" indent="0" marL="0">
              <a:buNone/>
            </a:pPr>
            <a:r>
              <a:rPr lang="en-US" sz="800" dirty="0">
                <a:solidFill>
                  <a:srgbClr val="56676F"/>
                </a:solidFill>
                <a:latin typeface="Segoe UI" pitchFamily="34" charset="0"/>
                <a:ea typeface="Segoe UI" pitchFamily="34" charset="-122"/>
                <a:cs typeface="Segoe UI" pitchFamily="34" charset="-120"/>
              </a:rPr>
              <a:t>→</a:t>
            </a:r>
            <a:endParaRPr lang="en-US" sz="800" dirty="0"/>
          </a:p>
        </p:txBody>
      </p:sp>
      <p:sp>
        <p:nvSpPr>
          <p:cNvPr id="79" name="Shape 76"/>
          <p:cNvSpPr/>
          <p:nvPr/>
        </p:nvSpPr>
        <p:spPr>
          <a:xfrm>
            <a:off x="8776618" y="5138928"/>
            <a:ext cx="775241" cy="274320"/>
          </a:xfrm>
          <a:prstGeom prst="roundRect">
            <a:avLst>
              <a:gd name="adj" fmla="val 13333"/>
            </a:avLst>
          </a:prstGeom>
          <a:solidFill>
            <a:srgbClr val="F4F7F8"/>
          </a:solidFill>
          <a:ln w="6350">
            <a:solidFill>
              <a:srgbClr val="C8D3D8"/>
            </a:solidFill>
            <a:prstDash val="solid"/>
          </a:ln>
        </p:spPr>
      </p:sp>
      <p:sp>
        <p:nvSpPr>
          <p:cNvPr id="80" name="Text 77"/>
          <p:cNvSpPr/>
          <p:nvPr/>
        </p:nvSpPr>
        <p:spPr>
          <a:xfrm>
            <a:off x="8776618" y="5138928"/>
            <a:ext cx="775241" cy="274320"/>
          </a:xfrm>
          <a:prstGeom prst="rect">
            <a:avLst/>
          </a:prstGeom>
          <a:noFill/>
          <a:ln/>
        </p:spPr>
        <p:txBody>
          <a:bodyPr wrap="square" lIns="0" tIns="0" rIns="0" bIns="0" rtlCol="0" anchor="ctr"/>
          <a:lstStyle/>
          <a:p>
            <a:pPr algn="ctr" indent="0" marL="0">
              <a:buNone/>
            </a:pPr>
            <a:r>
              <a:rPr lang="en-US" sz="750" b="1" dirty="0">
                <a:solidFill>
                  <a:srgbClr val="13232B"/>
                </a:solidFill>
                <a:latin typeface="Consolas" pitchFamily="34" charset="0"/>
                <a:ea typeface="Consolas" pitchFamily="34" charset="-122"/>
                <a:cs typeface="Consolas" pitchFamily="34" charset="-120"/>
              </a:rPr>
              <a:t>Pull Request</a:t>
            </a:r>
            <a:endParaRPr lang="en-US" sz="750" dirty="0"/>
          </a:p>
        </p:txBody>
      </p:sp>
      <p:sp>
        <p:nvSpPr>
          <p:cNvPr id="81" name="Text 78"/>
          <p:cNvSpPr/>
          <p:nvPr/>
        </p:nvSpPr>
        <p:spPr>
          <a:xfrm>
            <a:off x="9551859" y="5138928"/>
            <a:ext cx="162866" cy="274320"/>
          </a:xfrm>
          <a:prstGeom prst="rect">
            <a:avLst/>
          </a:prstGeom>
          <a:noFill/>
          <a:ln/>
        </p:spPr>
        <p:txBody>
          <a:bodyPr wrap="square" lIns="0" tIns="0" rIns="0" bIns="0" rtlCol="0" anchor="ctr"/>
          <a:lstStyle/>
          <a:p>
            <a:pPr algn="ctr" indent="0" marL="0">
              <a:buNone/>
            </a:pPr>
            <a:r>
              <a:rPr lang="en-US" sz="800" dirty="0">
                <a:solidFill>
                  <a:srgbClr val="56676F"/>
                </a:solidFill>
                <a:latin typeface="Segoe UI" pitchFamily="34" charset="0"/>
                <a:ea typeface="Segoe UI" pitchFamily="34" charset="-122"/>
                <a:cs typeface="Segoe UI" pitchFamily="34" charset="-120"/>
              </a:rPr>
              <a:t>→</a:t>
            </a:r>
            <a:endParaRPr lang="en-US" sz="800" dirty="0"/>
          </a:p>
        </p:txBody>
      </p:sp>
      <p:sp>
        <p:nvSpPr>
          <p:cNvPr id="82" name="Shape 79"/>
          <p:cNvSpPr/>
          <p:nvPr/>
        </p:nvSpPr>
        <p:spPr>
          <a:xfrm>
            <a:off x="9714725" y="5138928"/>
            <a:ext cx="775241" cy="274320"/>
          </a:xfrm>
          <a:prstGeom prst="roundRect">
            <a:avLst>
              <a:gd name="adj" fmla="val 13333"/>
            </a:avLst>
          </a:prstGeom>
          <a:solidFill>
            <a:srgbClr val="F4F7F8"/>
          </a:solidFill>
          <a:ln w="6350">
            <a:solidFill>
              <a:srgbClr val="C8D3D8"/>
            </a:solidFill>
            <a:prstDash val="solid"/>
          </a:ln>
        </p:spPr>
      </p:sp>
      <p:sp>
        <p:nvSpPr>
          <p:cNvPr id="83" name="Text 80"/>
          <p:cNvSpPr/>
          <p:nvPr/>
        </p:nvSpPr>
        <p:spPr>
          <a:xfrm>
            <a:off x="9714725" y="5138928"/>
            <a:ext cx="775241" cy="274320"/>
          </a:xfrm>
          <a:prstGeom prst="rect">
            <a:avLst/>
          </a:prstGeom>
          <a:noFill/>
          <a:ln/>
        </p:spPr>
        <p:txBody>
          <a:bodyPr wrap="square" lIns="0" tIns="0" rIns="0" bIns="0" rtlCol="0" anchor="ctr"/>
          <a:lstStyle/>
          <a:p>
            <a:pPr algn="ctr" indent="0" marL="0">
              <a:buNone/>
            </a:pPr>
            <a:r>
              <a:rPr lang="en-US" sz="750" b="1" dirty="0">
                <a:solidFill>
                  <a:srgbClr val="13232B"/>
                </a:solidFill>
                <a:latin typeface="Consolas" pitchFamily="34" charset="0"/>
                <a:ea typeface="Consolas" pitchFamily="34" charset="-122"/>
                <a:cs typeface="Consolas" pitchFamily="34" charset="-120"/>
              </a:rPr>
              <a:t>Merge a main</a:t>
            </a:r>
            <a:endParaRPr lang="en-US" sz="750" dirty="0"/>
          </a:p>
        </p:txBody>
      </p:sp>
      <p:sp>
        <p:nvSpPr>
          <p:cNvPr id="84" name="Text 81"/>
          <p:cNvSpPr/>
          <p:nvPr/>
        </p:nvSpPr>
        <p:spPr>
          <a:xfrm>
            <a:off x="10489966" y="5138928"/>
            <a:ext cx="162866" cy="274320"/>
          </a:xfrm>
          <a:prstGeom prst="rect">
            <a:avLst/>
          </a:prstGeom>
          <a:noFill/>
          <a:ln/>
        </p:spPr>
        <p:txBody>
          <a:bodyPr wrap="square" lIns="0" tIns="0" rIns="0" bIns="0" rtlCol="0" anchor="ctr"/>
          <a:lstStyle/>
          <a:p>
            <a:pPr algn="ctr" indent="0" marL="0">
              <a:buNone/>
            </a:pPr>
            <a:r>
              <a:rPr lang="en-US" sz="800" dirty="0">
                <a:solidFill>
                  <a:srgbClr val="56676F"/>
                </a:solidFill>
                <a:latin typeface="Segoe UI" pitchFamily="34" charset="0"/>
                <a:ea typeface="Segoe UI" pitchFamily="34" charset="-122"/>
                <a:cs typeface="Segoe UI" pitchFamily="34" charset="-120"/>
              </a:rPr>
              <a:t>→</a:t>
            </a:r>
            <a:endParaRPr lang="en-US" sz="800" dirty="0"/>
          </a:p>
        </p:txBody>
      </p:sp>
      <p:sp>
        <p:nvSpPr>
          <p:cNvPr id="85" name="Shape 82"/>
          <p:cNvSpPr/>
          <p:nvPr/>
        </p:nvSpPr>
        <p:spPr>
          <a:xfrm>
            <a:off x="10652831" y="5138928"/>
            <a:ext cx="990224" cy="274320"/>
          </a:xfrm>
          <a:prstGeom prst="roundRect">
            <a:avLst>
              <a:gd name="adj" fmla="val 13333"/>
            </a:avLst>
          </a:prstGeom>
          <a:solidFill>
            <a:srgbClr val="2F7D4A"/>
          </a:solidFill>
          <a:ln/>
        </p:spPr>
      </p:sp>
      <p:sp>
        <p:nvSpPr>
          <p:cNvPr id="86" name="Text 83"/>
          <p:cNvSpPr/>
          <p:nvPr/>
        </p:nvSpPr>
        <p:spPr>
          <a:xfrm>
            <a:off x="10652831" y="5138928"/>
            <a:ext cx="990224"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onsolas" pitchFamily="34" charset="0"/>
                <a:ea typeface="Consolas" pitchFamily="34" charset="-122"/>
                <a:cs typeface="Consolas" pitchFamily="34" charset="-120"/>
              </a:rPr>
              <a:t>Proyecto cerrado</a:t>
            </a:r>
            <a:endParaRPr lang="en-US" sz="750" dirty="0"/>
          </a:p>
        </p:txBody>
      </p:sp>
      <p:sp>
        <p:nvSpPr>
          <p:cNvPr id="87" name="Text 84"/>
          <p:cNvSpPr/>
          <p:nvPr/>
        </p:nvSpPr>
        <p:spPr>
          <a:xfrm>
            <a:off x="548640" y="5532120"/>
            <a:ext cx="11094415" cy="566928"/>
          </a:xfrm>
          <a:prstGeom prst="rect">
            <a:avLst/>
          </a:prstGeom>
          <a:noFill/>
          <a:ln/>
        </p:spPr>
        <p:txBody>
          <a:bodyPr wrap="square" lIns="0" tIns="0" rIns="0" bIns="0" rtlCol="0" anchor="ctr"/>
          <a:lstStyle/>
          <a:p>
            <a:pPr indent="0" marL="0">
              <a:buNone/>
            </a:pPr>
            <a:r>
              <a:rPr lang="en-US" sz="1650" b="1" dirty="0">
                <a:solidFill>
                  <a:srgbClr val="13232B"/>
                </a:solidFill>
                <a:latin typeface="Bahnschrift" pitchFamily="34" charset="0"/>
                <a:ea typeface="Bahnschrift" pitchFamily="34" charset="-122"/>
                <a:cs typeface="Bahnschrift" pitchFamily="34" charset="-120"/>
              </a:rPr>
              <a:t>Spec Kit convirtió el trabajo con IA en un proceso de ingeniería trazable: </a:t>
            </a:r>
            <a:pPr indent="0" marL="0">
              <a:buNone/>
            </a:pPr>
            <a:r>
              <a:rPr lang="en-US" sz="1650" b="1" dirty="0">
                <a:solidFill>
                  <a:srgbClr val="1D6B73"/>
                </a:solidFill>
                <a:latin typeface="Bahnschrift" pitchFamily="34" charset="0"/>
                <a:ea typeface="Bahnschrift" pitchFamily="34" charset="-122"/>
                <a:cs typeface="Bahnschrift" pitchFamily="34" charset="-120"/>
              </a:rPr>
              <a:t>primero el acuerdo escrito, después el código, luego la evidencia y finalmente una integración controlada en Git.</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AI Spec Driven Net10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Access Control con Spec Kit</dc:title>
  <dc:subject>Implementación de Enterprise Access Control con Spec Kit de GitHub</dc:subject>
  <dc:creator>David Sánchez Rafael</dc:creator>
  <cp:lastModifiedBy>David Sánchez Rafael</cp:lastModifiedBy>
  <cp:revision>1</cp:revision>
  <dcterms:created xsi:type="dcterms:W3CDTF">2026-09-26T05:41:38Z</dcterms:created>
  <dcterms:modified xsi:type="dcterms:W3CDTF">2026-09-26T05:41:38Z</dcterms:modified>
</cp:coreProperties>
</file>